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000" b="1" i="0">
                <a:solidFill>
                  <a:srgbClr val="1E2A4A"/>
                </a:solidFill>
                <a:latin typeface="Roboto"/>
                <a:cs typeface="Roboto"/>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p:txBody>
          <a:bodyPr lIns="0" tIns="0" rIns="0" bIns="0"/>
          <a:lstStyle>
            <a:lvl1pPr>
              <a:defRPr sz="1000" b="0" i="0">
                <a:solidFill>
                  <a:srgbClr val="9AA4B2"/>
                </a:solidFill>
                <a:latin typeface="Roboto"/>
                <a:cs typeface="Roboto"/>
              </a:defRPr>
            </a:lvl1p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1E2A4A"/>
                </a:solidFill>
                <a:latin typeface="Roboto"/>
                <a:cs typeface="Roboto"/>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idx="5" sz="quarter"/>
          </p:nvPr>
        </p:nvSpPr>
        <p:spPr/>
        <p:txBody>
          <a:bodyPr lIns="0" tIns="0" rIns="0" bIns="0"/>
          <a:lstStyle>
            <a:lvl1pPr>
              <a:defRPr sz="1000" b="0" i="0">
                <a:solidFill>
                  <a:srgbClr val="9AA4B2"/>
                </a:solidFill>
                <a:latin typeface="Roboto"/>
                <a:cs typeface="Roboto"/>
              </a:defRPr>
            </a:lvl1p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1E2A4A"/>
                </a:solidFill>
                <a:latin typeface="Roboto"/>
                <a:cs typeface="Roboto"/>
              </a:defRPr>
            </a:lvl1pPr>
          </a:lstStyle>
          <a:p/>
        </p:txBody>
      </p:sp>
      <p:sp>
        <p:nvSpPr>
          <p:cNvPr id="3" name="Holder 3"/>
          <p:cNvSpPr>
            <a:spLocks noGrp="1"/>
          </p:cNvSpPr>
          <p:nvPr>
            <p:ph idx="2" sz="half"/>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1000" b="0" i="0">
                <a:solidFill>
                  <a:srgbClr val="9AA4B2"/>
                </a:solidFill>
                <a:latin typeface="Roboto"/>
                <a:cs typeface="Roboto"/>
              </a:defRPr>
            </a:lvl1p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1E2A4A"/>
                </a:solidFill>
                <a:latin typeface="Roboto"/>
                <a:cs typeface="Roboto"/>
              </a:defRPr>
            </a:lvl1pPr>
          </a:lstStyle>
          <a:p/>
        </p:txBody>
      </p:sp>
      <p:sp>
        <p:nvSpPr>
          <p:cNvPr id="3" name="Holder 3"/>
          <p:cNvSpPr>
            <a:spLocks noGrp="1"/>
          </p:cNvSpPr>
          <p:nvPr>
            <p:ph type="ftr" idx="5" sz="quarter"/>
          </p:nvPr>
        </p:nvSpPr>
        <p:spPr/>
        <p:txBody>
          <a:bodyPr lIns="0" tIns="0" rIns="0" bIns="0"/>
          <a:lstStyle>
            <a:lvl1pPr>
              <a:defRPr sz="1000" b="0" i="0">
                <a:solidFill>
                  <a:srgbClr val="9AA4B2"/>
                </a:solidFill>
                <a:latin typeface="Roboto"/>
                <a:cs typeface="Roboto"/>
              </a:defRPr>
            </a:lvl1p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1000" b="0" i="0">
                <a:solidFill>
                  <a:srgbClr val="9AA4B2"/>
                </a:solidFill>
                <a:latin typeface="Roboto"/>
                <a:cs typeface="Roboto"/>
              </a:defRPr>
            </a:lvl1p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42925" y="495300"/>
            <a:ext cx="495300" cy="495300"/>
          </a:xfrm>
          <a:custGeom>
            <a:avLst/>
            <a:gdLst/>
            <a:ahLst/>
            <a:cxnLst/>
            <a:rect l="l" t="t" r="r" b="b"/>
            <a:pathLst>
              <a:path w="495300" h="495300">
                <a:moveTo>
                  <a:pt x="247650" y="495300"/>
                </a:moveTo>
                <a:lnTo>
                  <a:pt x="199326" y="490587"/>
                </a:lnTo>
                <a:lnTo>
                  <a:pt x="152878" y="476448"/>
                </a:lnTo>
                <a:lnTo>
                  <a:pt x="110037" y="453602"/>
                </a:lnTo>
                <a:lnTo>
                  <a:pt x="72534" y="422764"/>
                </a:lnTo>
                <a:lnTo>
                  <a:pt x="41697" y="385262"/>
                </a:lnTo>
                <a:lnTo>
                  <a:pt x="18851" y="342421"/>
                </a:lnTo>
                <a:lnTo>
                  <a:pt x="4712" y="295973"/>
                </a:lnTo>
                <a:lnTo>
                  <a:pt x="0" y="247650"/>
                </a:lnTo>
                <a:lnTo>
                  <a:pt x="1178" y="223253"/>
                </a:lnTo>
                <a:lnTo>
                  <a:pt x="10603" y="175868"/>
                </a:lnTo>
                <a:lnTo>
                  <a:pt x="29275" y="130790"/>
                </a:lnTo>
                <a:lnTo>
                  <a:pt x="56117" y="90618"/>
                </a:lnTo>
                <a:lnTo>
                  <a:pt x="90618" y="56117"/>
                </a:lnTo>
                <a:lnTo>
                  <a:pt x="130790" y="29275"/>
                </a:lnTo>
                <a:lnTo>
                  <a:pt x="175868" y="10603"/>
                </a:lnTo>
                <a:lnTo>
                  <a:pt x="223253" y="1178"/>
                </a:lnTo>
                <a:lnTo>
                  <a:pt x="247650" y="0"/>
                </a:lnTo>
                <a:lnTo>
                  <a:pt x="272045" y="1178"/>
                </a:lnTo>
                <a:lnTo>
                  <a:pt x="319431" y="10603"/>
                </a:lnTo>
                <a:lnTo>
                  <a:pt x="364509" y="29275"/>
                </a:lnTo>
                <a:lnTo>
                  <a:pt x="404681" y="56117"/>
                </a:lnTo>
                <a:lnTo>
                  <a:pt x="439182" y="90618"/>
                </a:lnTo>
                <a:lnTo>
                  <a:pt x="466024" y="130790"/>
                </a:lnTo>
                <a:lnTo>
                  <a:pt x="484696" y="175868"/>
                </a:lnTo>
                <a:lnTo>
                  <a:pt x="494121" y="223253"/>
                </a:lnTo>
                <a:lnTo>
                  <a:pt x="495300" y="247650"/>
                </a:lnTo>
                <a:lnTo>
                  <a:pt x="494121" y="272045"/>
                </a:lnTo>
                <a:lnTo>
                  <a:pt x="484696" y="319431"/>
                </a:lnTo>
                <a:lnTo>
                  <a:pt x="466024" y="364509"/>
                </a:lnTo>
                <a:lnTo>
                  <a:pt x="439182" y="404681"/>
                </a:lnTo>
                <a:lnTo>
                  <a:pt x="404681" y="439182"/>
                </a:lnTo>
                <a:lnTo>
                  <a:pt x="364509" y="466024"/>
                </a:lnTo>
                <a:lnTo>
                  <a:pt x="319431" y="484696"/>
                </a:lnTo>
                <a:lnTo>
                  <a:pt x="272045" y="494121"/>
                </a:lnTo>
                <a:lnTo>
                  <a:pt x="247650" y="495300"/>
                </a:lnTo>
                <a:close/>
              </a:path>
            </a:pathLst>
          </a:custGeom>
          <a:solidFill>
            <a:srgbClr val="1E2A4A"/>
          </a:solidFill>
        </p:spPr>
        <p:txBody>
          <a:bodyPr wrap="square" lIns="0" tIns="0" rIns="0" bIns="0" rtlCol="0"/>
          <a:lstStyle/>
          <a:p/>
        </p:txBody>
      </p:sp>
      <p:sp>
        <p:nvSpPr>
          <p:cNvPr id="2" name="Holder 2"/>
          <p:cNvSpPr>
            <a:spLocks noGrp="1"/>
          </p:cNvSpPr>
          <p:nvPr>
            <p:ph type="title"/>
          </p:nvPr>
        </p:nvSpPr>
        <p:spPr>
          <a:xfrm>
            <a:off x="1216025" y="683666"/>
            <a:ext cx="5358130" cy="482600"/>
          </a:xfrm>
          <a:prstGeom prst="rect">
            <a:avLst/>
          </a:prstGeom>
        </p:spPr>
        <p:txBody>
          <a:bodyPr wrap="square" lIns="0" tIns="0" rIns="0" bIns="0">
            <a:spAutoFit/>
          </a:bodyPr>
          <a:lstStyle>
            <a:lvl1pPr>
              <a:defRPr sz="3000" b="1" i="0">
                <a:solidFill>
                  <a:srgbClr val="1E2A4A"/>
                </a:solidFill>
                <a:latin typeface="Roboto"/>
                <a:cs typeface="Roboto"/>
              </a:defRPr>
            </a:lvl1pPr>
          </a:lstStyle>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a:xfrm>
            <a:off x="9197975" y="6530975"/>
            <a:ext cx="2535554" cy="174625"/>
          </a:xfrm>
          <a:prstGeom prst="rect">
            <a:avLst/>
          </a:prstGeom>
        </p:spPr>
        <p:txBody>
          <a:bodyPr wrap="square" lIns="0" tIns="0" rIns="0" bIns="0">
            <a:spAutoFit/>
          </a:bodyPr>
          <a:lstStyle>
            <a:lvl1pPr>
              <a:defRPr sz="1000" b="0" i="0">
                <a:solidFill>
                  <a:srgbClr val="9AA4B2"/>
                </a:solidFill>
                <a:latin typeface="Roboto"/>
                <a:cs typeface="Roboto"/>
              </a:defRPr>
            </a:lvl1p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61950" y="361950"/>
            <a:ext cx="11449050" cy="5667375"/>
          </a:xfrm>
          <a:custGeom>
            <a:avLst/>
            <a:gdLst/>
            <a:ahLst/>
            <a:cxnLst/>
            <a:rect l="l" t="t" r="r" b="b"/>
            <a:pathLst>
              <a:path w="11449050" h="5667375">
                <a:moveTo>
                  <a:pt x="0" y="0"/>
                </a:moveTo>
                <a:lnTo>
                  <a:pt x="11449050" y="0"/>
                </a:lnTo>
                <a:lnTo>
                  <a:pt x="11449050" y="5667375"/>
                </a:lnTo>
                <a:lnTo>
                  <a:pt x="0" y="5667375"/>
                </a:lnTo>
                <a:lnTo>
                  <a:pt x="0" y="0"/>
                </a:lnTo>
                <a:close/>
              </a:path>
            </a:pathLst>
          </a:custGeom>
          <a:ln w="9525">
            <a:solidFill>
              <a:srgbClr val="B8933F"/>
            </a:solidFill>
          </a:ln>
        </p:spPr>
        <p:txBody>
          <a:bodyPr wrap="square" lIns="0" tIns="0" rIns="0" bIns="0" rtlCol="0"/>
          <a:lstStyle/>
          <a:p/>
        </p:txBody>
      </p:sp>
      <p:sp>
        <p:nvSpPr>
          <p:cNvPr id="3" name="object 3"/>
          <p:cNvSpPr txBox="1"/>
          <p:nvPr/>
        </p:nvSpPr>
        <p:spPr>
          <a:xfrm>
            <a:off x="3352800" y="909736"/>
            <a:ext cx="5486400" cy="208279"/>
          </a:xfrm>
          <a:prstGeom prst="rect">
            <a:avLst/>
          </a:prstGeom>
        </p:spPr>
        <p:txBody>
          <a:bodyPr wrap="square" lIns="0" tIns="12700" rIns="0" bIns="0" rtlCol="0" vert="horz">
            <a:spAutoFit/>
          </a:bodyPr>
          <a:lstStyle/>
          <a:p>
            <a:pPr algn="ctr">
              <a:lnSpc>
                <a:spcPct val="100000"/>
              </a:lnSpc>
              <a:spcBef>
                <a:spcPts val="100"/>
              </a:spcBef>
            </a:pPr>
            <a:r>
              <a:rPr dirty="0" sz="1200" b="1">
                <a:solidFill>
                  <a:srgbClr val="9AA4B2"/>
                </a:solidFill>
                <a:latin typeface="Roboto"/>
                <a:cs typeface="Roboto"/>
              </a:rPr>
              <a:t>DEPARTMENT OF DATA SCIENCE AND BUSINESS SYSTEMS</a:t>
            </a:r>
            <a:endParaRPr sz="1200">
              <a:latin typeface="Roboto"/>
              <a:cs typeface="Roboto"/>
            </a:endParaRPr>
          </a:p>
        </p:txBody>
      </p:sp>
      <p:sp>
        <p:nvSpPr>
          <p:cNvPr id="4" name="object 4" descr="$PPTXTitle"/>
          <p:cNvSpPr txBox="1">
            <a:spLocks noGrp="1"/>
          </p:cNvSpPr>
          <p:nvPr>
            <p:ph type="title"/>
          </p:nvPr>
        </p:nvSpPr>
        <p:spPr>
          <a:xfrm>
            <a:off x="1524000" y="1442342"/>
            <a:ext cx="9144000" cy="695960"/>
          </a:xfrm>
          <a:prstGeom prst="rect"/>
        </p:spPr>
        <p:txBody>
          <a:bodyPr wrap="square" lIns="0" tIns="12700" rIns="0" bIns="0" rtlCol="0" vert="horz">
            <a:spAutoFit/>
          </a:bodyPr>
          <a:lstStyle/>
          <a:p>
            <a:pPr algn="ctr">
              <a:lnSpc>
                <a:spcPct val="100000"/>
              </a:lnSpc>
              <a:spcBef>
                <a:spcPts val="100"/>
              </a:spcBef>
            </a:pPr>
            <a:r>
              <a:rPr dirty="0" sz="4400">
                <a:solidFill>
                  <a:srgbClr val="1E2A4A"/>
                </a:solidFill>
              </a:rPr>
              <a:t>CODE MERGE HACKATHON</a:t>
            </a:r>
            <a:endParaRPr sz="4400"/>
          </a:p>
        </p:txBody>
      </p:sp>
      <p:sp>
        <p:nvSpPr>
          <p:cNvPr id="5" name="object 5"/>
          <p:cNvSpPr txBox="1"/>
          <p:nvPr/>
        </p:nvSpPr>
        <p:spPr>
          <a:xfrm>
            <a:off x="4267200" y="2266305"/>
            <a:ext cx="3657600" cy="299720"/>
          </a:xfrm>
          <a:prstGeom prst="rect">
            <a:avLst/>
          </a:prstGeom>
        </p:spPr>
        <p:txBody>
          <a:bodyPr wrap="square" lIns="0" tIns="12700" rIns="0" bIns="0" rtlCol="0" vert="horz">
            <a:spAutoFit/>
          </a:bodyPr>
          <a:lstStyle/>
          <a:p>
            <a:pPr algn="ctr">
              <a:lnSpc>
                <a:spcPct val="100000"/>
              </a:lnSpc>
              <a:spcBef>
                <a:spcPts val="100"/>
              </a:spcBef>
            </a:pPr>
            <a:r>
              <a:rPr dirty="0" sz="1800" b="1">
                <a:solidFill>
                  <a:srgbClr val="B8933F"/>
                </a:solidFill>
                <a:latin typeface="Roboto"/>
                <a:cs typeface="Roboto"/>
              </a:rPr>
              <a:t>V2.0  ·  AI FOR IMPACT</a:t>
            </a:r>
            <a:endParaRPr sz="1800">
              <a:latin typeface="Roboto"/>
              <a:cs typeface="Roboto"/>
            </a:endParaRPr>
          </a:p>
        </p:txBody>
      </p:sp>
      <p:grpSp>
        <p:nvGrpSpPr>
          <p:cNvPr id="6" name="object 6"/>
          <p:cNvGrpSpPr/>
          <p:nvPr/>
        </p:nvGrpSpPr>
        <p:grpSpPr>
          <a:xfrm>
            <a:off x="2881312" y="2871787"/>
            <a:ext cx="6410325" cy="1514475"/>
            <a:chOff x="2881312" y="2871787"/>
            <a:chExt cx="6410325" cy="1514475"/>
          </a:xfrm>
        </p:grpSpPr>
        <p:sp>
          <p:nvSpPr>
            <p:cNvPr id="7" name="object 7"/>
            <p:cNvSpPr/>
            <p:nvPr/>
          </p:nvSpPr>
          <p:spPr>
            <a:xfrm>
              <a:off x="4714875" y="2876550"/>
              <a:ext cx="2743200" cy="0"/>
            </a:xfrm>
            <a:custGeom>
              <a:avLst/>
              <a:gdLst/>
              <a:ahLst/>
              <a:cxnLst/>
              <a:rect l="l" t="t" r="r" b="b"/>
              <a:pathLst>
                <a:path w="2743200" h="0">
                  <a:moveTo>
                    <a:pt x="2743200" y="0"/>
                  </a:moveTo>
                  <a:lnTo>
                    <a:pt x="0" y="0"/>
                  </a:lnTo>
                </a:path>
              </a:pathLst>
            </a:custGeom>
            <a:solidFill>
              <a:srgbClr val="394560"/>
            </a:solidFill>
          </p:spPr>
          <p:txBody>
            <a:bodyPr wrap="square" lIns="0" tIns="0" rIns="0" bIns="0" rtlCol="0"/>
            <a:lstStyle/>
            <a:p/>
          </p:txBody>
        </p:sp>
        <p:sp>
          <p:nvSpPr>
            <p:cNvPr id="8" name="object 8"/>
            <p:cNvSpPr/>
            <p:nvPr/>
          </p:nvSpPr>
          <p:spPr>
            <a:xfrm>
              <a:off x="4714875" y="2876550"/>
              <a:ext cx="2743200" cy="0"/>
            </a:xfrm>
            <a:custGeom>
              <a:avLst/>
              <a:gdLst/>
              <a:ahLst/>
              <a:cxnLst/>
              <a:rect l="l" t="t" r="r" b="b"/>
              <a:pathLst>
                <a:path w="2743200" h="0">
                  <a:moveTo>
                    <a:pt x="0" y="0"/>
                  </a:moveTo>
                  <a:lnTo>
                    <a:pt x="2743200" y="0"/>
                  </a:lnTo>
                </a:path>
              </a:pathLst>
            </a:custGeom>
            <a:ln w="9525">
              <a:solidFill>
                <a:srgbClr val="394560"/>
              </a:solidFill>
            </a:ln>
          </p:spPr>
          <p:txBody>
            <a:bodyPr wrap="square" lIns="0" tIns="0" rIns="0" bIns="0" rtlCol="0"/>
            <a:lstStyle/>
            <a:p/>
          </p:txBody>
        </p:sp>
        <p:sp>
          <p:nvSpPr>
            <p:cNvPr id="9" name="object 9"/>
            <p:cNvSpPr/>
            <p:nvPr/>
          </p:nvSpPr>
          <p:spPr>
            <a:xfrm>
              <a:off x="2886075" y="3562350"/>
              <a:ext cx="6400800" cy="819150"/>
            </a:xfrm>
            <a:custGeom>
              <a:avLst/>
              <a:gdLst/>
              <a:ahLst/>
              <a:cxnLst/>
              <a:rect l="l" t="t" r="r" b="b"/>
              <a:pathLst>
                <a:path w="6400800" h="819150">
                  <a:moveTo>
                    <a:pt x="6346187" y="819150"/>
                  </a:moveTo>
                  <a:lnTo>
                    <a:pt x="54612" y="819150"/>
                  </a:lnTo>
                  <a:lnTo>
                    <a:pt x="43715" y="818150"/>
                  </a:lnTo>
                  <a:lnTo>
                    <a:pt x="8997" y="794742"/>
                  </a:lnTo>
                  <a:lnTo>
                    <a:pt x="0" y="764537"/>
                  </a:lnTo>
                  <a:lnTo>
                    <a:pt x="0" y="54612"/>
                  </a:lnTo>
                  <a:lnTo>
                    <a:pt x="15995" y="15995"/>
                  </a:lnTo>
                  <a:lnTo>
                    <a:pt x="54612" y="0"/>
                  </a:lnTo>
                  <a:lnTo>
                    <a:pt x="6346187" y="0"/>
                  </a:lnTo>
                  <a:lnTo>
                    <a:pt x="6384803" y="15995"/>
                  </a:lnTo>
                  <a:lnTo>
                    <a:pt x="6400800" y="54612"/>
                  </a:lnTo>
                  <a:lnTo>
                    <a:pt x="6400800" y="764537"/>
                  </a:lnTo>
                  <a:lnTo>
                    <a:pt x="6384803" y="803154"/>
                  </a:lnTo>
                  <a:lnTo>
                    <a:pt x="6346187" y="819150"/>
                  </a:lnTo>
                  <a:close/>
                </a:path>
              </a:pathLst>
            </a:custGeom>
            <a:solidFill>
              <a:srgbClr val="162039"/>
            </a:solidFill>
          </p:spPr>
          <p:txBody>
            <a:bodyPr wrap="square" lIns="0" tIns="0" rIns="0" bIns="0" rtlCol="0"/>
            <a:lstStyle/>
            <a:p/>
          </p:txBody>
        </p:sp>
        <p:sp>
          <p:nvSpPr>
            <p:cNvPr id="10" name="object 10"/>
            <p:cNvSpPr/>
            <p:nvPr/>
          </p:nvSpPr>
          <p:spPr>
            <a:xfrm>
              <a:off x="2886075" y="3562350"/>
              <a:ext cx="6400800" cy="819150"/>
            </a:xfrm>
            <a:custGeom>
              <a:avLst/>
              <a:gdLst/>
              <a:ahLst/>
              <a:cxnLst/>
              <a:rect l="l" t="t" r="r" b="b"/>
              <a:pathLst>
                <a:path w="6400800" h="819150">
                  <a:moveTo>
                    <a:pt x="0" y="54612"/>
                  </a:moveTo>
                  <a:lnTo>
                    <a:pt x="15995" y="15995"/>
                  </a:lnTo>
                  <a:lnTo>
                    <a:pt x="54612" y="0"/>
                  </a:lnTo>
                  <a:lnTo>
                    <a:pt x="6346187" y="0"/>
                  </a:lnTo>
                  <a:lnTo>
                    <a:pt x="6384803" y="15995"/>
                  </a:lnTo>
                  <a:lnTo>
                    <a:pt x="6400800" y="54612"/>
                  </a:lnTo>
                  <a:lnTo>
                    <a:pt x="6400800" y="764537"/>
                  </a:lnTo>
                  <a:lnTo>
                    <a:pt x="6384803" y="803154"/>
                  </a:lnTo>
                  <a:lnTo>
                    <a:pt x="6346187" y="819150"/>
                  </a:lnTo>
                  <a:lnTo>
                    <a:pt x="54612" y="819150"/>
                  </a:lnTo>
                  <a:lnTo>
                    <a:pt x="15995" y="803154"/>
                  </a:lnTo>
                  <a:lnTo>
                    <a:pt x="0" y="764537"/>
                  </a:lnTo>
                  <a:lnTo>
                    <a:pt x="0" y="54612"/>
                  </a:lnTo>
                  <a:close/>
                </a:path>
                <a:path w="6400800" h="819150">
                  <a:moveTo>
                    <a:pt x="0" y="54612"/>
                  </a:moveTo>
                  <a:lnTo>
                    <a:pt x="15995" y="15995"/>
                  </a:lnTo>
                  <a:lnTo>
                    <a:pt x="54612" y="0"/>
                  </a:lnTo>
                  <a:lnTo>
                    <a:pt x="6346187" y="0"/>
                  </a:lnTo>
                  <a:lnTo>
                    <a:pt x="6384803" y="15995"/>
                  </a:lnTo>
                  <a:lnTo>
                    <a:pt x="6400800" y="54612"/>
                  </a:lnTo>
                  <a:lnTo>
                    <a:pt x="6400800" y="764537"/>
                  </a:lnTo>
                  <a:lnTo>
                    <a:pt x="6384803" y="803154"/>
                  </a:lnTo>
                  <a:lnTo>
                    <a:pt x="6346187" y="819150"/>
                  </a:lnTo>
                  <a:lnTo>
                    <a:pt x="54612" y="819150"/>
                  </a:lnTo>
                  <a:lnTo>
                    <a:pt x="15995" y="803154"/>
                  </a:lnTo>
                  <a:lnTo>
                    <a:pt x="0" y="764537"/>
                  </a:lnTo>
                  <a:lnTo>
                    <a:pt x="0" y="54612"/>
                  </a:lnTo>
                  <a:close/>
                </a:path>
              </a:pathLst>
            </a:custGeom>
            <a:ln w="9525">
              <a:solidFill>
                <a:srgbClr val="394560"/>
              </a:solidFill>
            </a:ln>
          </p:spPr>
          <p:txBody>
            <a:bodyPr wrap="square" lIns="0" tIns="0" rIns="0" bIns="0" rtlCol="0"/>
            <a:lstStyle/>
            <a:p/>
          </p:txBody>
        </p:sp>
      </p:grpSp>
      <p:sp>
        <p:nvSpPr>
          <p:cNvPr id="11" name="object 11"/>
          <p:cNvSpPr txBox="1"/>
          <p:nvPr/>
        </p:nvSpPr>
        <p:spPr>
          <a:xfrm>
            <a:off x="2164080" y="3109093"/>
            <a:ext cx="7863840" cy="1128395"/>
          </a:xfrm>
          <a:prstGeom prst="rect">
            <a:avLst/>
          </a:prstGeom>
        </p:spPr>
        <p:txBody>
          <a:bodyPr wrap="square" lIns="0" tIns="12700" rIns="0" bIns="0" rtlCol="0" vert="horz">
            <a:spAutoFit/>
          </a:bodyPr>
          <a:lstStyle/>
          <a:p>
            <a:pPr algn="ctr">
              <a:lnSpc>
                <a:spcPct val="100000"/>
              </a:lnSpc>
              <a:spcBef>
                <a:spcPts val="100"/>
              </a:spcBef>
            </a:pPr>
            <a:r>
              <a:rPr dirty="0" sz="1300">
                <a:solidFill>
                  <a:srgbClr val="9AA4B2"/>
                </a:solidFill>
                <a:latin typeface="Roboto"/>
                <a:cs typeface="Roboto"/>
              </a:rPr>
              <a:t>PROJECT PITCH DECK</a:t>
            </a:r>
            <a:endParaRPr sz="1300">
              <a:latin typeface="Roboto"/>
              <a:cs typeface="Roboto"/>
            </a:endParaRPr>
          </a:p>
          <a:p>
            <a:pPr algn="ctr">
              <a:lnSpc>
                <a:spcPct val="100000"/>
              </a:lnSpc>
              <a:spcBef>
                <a:spcPts val="1100"/>
              </a:spcBef>
            </a:pPr>
            <a:endParaRPr sz="1300">
              <a:latin typeface="Roboto"/>
              <a:cs typeface="Roboto"/>
            </a:endParaRPr>
          </a:p>
          <a:p>
            <a:pPr algn="ctr">
              <a:lnSpc>
                <a:spcPct val="100000"/>
              </a:lnSpc>
              <a:spcBef>
                <a:spcPts val="5"/>
              </a:spcBef>
            </a:pPr>
            <a:r>
              <a:rPr dirty="0" sz="2000" b="1">
                <a:solidFill>
                  <a:srgbClr val="FFFFFF"/>
                </a:solidFill>
                <a:latin typeface="Roboto"/>
                <a:cs typeface="Roboto"/>
              </a:rPr>
              <a:t>FIREBREAK</a:t>
            </a:r>
            <a:endParaRPr sz="2000">
              <a:latin typeface="Roboto"/>
              <a:cs typeface="Roboto"/>
            </a:endParaRPr>
          </a:p>
          <a:p>
            <a:pPr algn="ctr">
              <a:lnSpc>
                <a:spcPct val="100000"/>
              </a:lnSpc>
              <a:spcBef>
                <a:spcPts val="500"/>
              </a:spcBef>
            </a:pPr>
            <a:r>
              <a:rPr dirty="0" sz="1300">
                <a:solidFill>
                  <a:srgbClr val="9AA4B2"/>
                </a:solidFill>
                <a:latin typeface="Roboto"/>
                <a:cs typeface="Roboto"/>
              </a:rPr>
              <a:t>Which alarm becomes a catastrophe — and the cheapest action that stops it</a:t>
            </a:r>
            <a:endParaRPr sz="1300">
              <a:latin typeface="Roboto"/>
              <a:cs typeface="Roboto"/>
            </a:endParaRPr>
          </a:p>
        </p:txBody>
      </p:sp>
      <p:sp>
        <p:nvSpPr>
          <p:cNvPr id="12" name="object 12"/>
          <p:cNvSpPr txBox="1"/>
          <p:nvPr/>
        </p:nvSpPr>
        <p:spPr>
          <a:xfrm>
            <a:off x="2438400" y="4682554"/>
            <a:ext cx="7315200" cy="193040"/>
          </a:xfrm>
          <a:prstGeom prst="rect">
            <a:avLst/>
          </a:prstGeom>
        </p:spPr>
        <p:txBody>
          <a:bodyPr wrap="square" lIns="0" tIns="12700" rIns="0" bIns="0" rtlCol="0" vert="horz">
            <a:spAutoFit/>
          </a:bodyPr>
          <a:lstStyle/>
          <a:p>
            <a:pPr algn="ctr">
              <a:lnSpc>
                <a:spcPct val="100000"/>
              </a:lnSpc>
              <a:spcBef>
                <a:spcPts val="100"/>
              </a:spcBef>
            </a:pPr>
            <a:r>
              <a:rPr dirty="0" sz="1100">
                <a:solidFill>
                  <a:srgbClr val="9AA4B2"/>
                </a:solidFill>
                <a:latin typeface="Roboto"/>
                <a:cs typeface="Roboto"/>
              </a:rPr>
              <a:t>Track: AI for Safety &amp; Security  ·  “The Chain Reaction”</a:t>
            </a:r>
            <a:endParaRPr sz="1100">
              <a:latin typeface="Roboto"/>
              <a:cs typeface="Roboto"/>
            </a:endParaRPr>
          </a:p>
        </p:txBody>
      </p:sp>
      <p:grpSp>
        <p:nvGrpSpPr>
          <p:cNvPr id="13" name="object 13"/>
          <p:cNvGrpSpPr/>
          <p:nvPr/>
        </p:nvGrpSpPr>
        <p:grpSpPr>
          <a:xfrm>
            <a:off x="0" y="6381750"/>
            <a:ext cx="12182475" cy="466725"/>
            <a:chOff x="0" y="6381750"/>
            <a:chExt cx="12182475" cy="466725"/>
          </a:xfrm>
        </p:grpSpPr>
        <p:sp>
          <p:nvSpPr>
            <p:cNvPr id="14" name="object 14"/>
            <p:cNvSpPr/>
            <p:nvPr/>
          </p:nvSpPr>
          <p:spPr>
            <a:xfrm>
              <a:off x="0" y="6381750"/>
              <a:ext cx="12182475" cy="466725"/>
            </a:xfrm>
            <a:custGeom>
              <a:avLst/>
              <a:gdLst/>
              <a:ahLst/>
              <a:cxnLst/>
              <a:rect l="l" t="t" r="r" b="b"/>
              <a:pathLst>
                <a:path w="12182475" h="466725">
                  <a:moveTo>
                    <a:pt x="12182475" y="466725"/>
                  </a:moveTo>
                  <a:lnTo>
                    <a:pt x="0" y="466725"/>
                  </a:lnTo>
                  <a:lnTo>
                    <a:pt x="0" y="0"/>
                  </a:lnTo>
                  <a:lnTo>
                    <a:pt x="12182475" y="0"/>
                  </a:lnTo>
                  <a:lnTo>
                    <a:pt x="12182475" y="466725"/>
                  </a:lnTo>
                  <a:close/>
                </a:path>
              </a:pathLst>
            </a:custGeom>
            <a:solidFill>
              <a:srgbClr val="162039"/>
            </a:solidFill>
          </p:spPr>
          <p:txBody>
            <a:bodyPr wrap="square" lIns="0" tIns="0" rIns="0" bIns="0" rtlCol="0"/>
            <a:lstStyle/>
            <a:p/>
          </p:txBody>
        </p:sp>
        <p:sp>
          <p:nvSpPr>
            <p:cNvPr id="15" name="object 15"/>
            <p:cNvSpPr/>
            <p:nvPr/>
          </p:nvSpPr>
          <p:spPr>
            <a:xfrm>
              <a:off x="361950" y="6448425"/>
              <a:ext cx="3562350" cy="323850"/>
            </a:xfrm>
            <a:custGeom>
              <a:avLst/>
              <a:gdLst/>
              <a:ahLst/>
              <a:cxnLst/>
              <a:rect l="l" t="t" r="r" b="b"/>
              <a:pathLst>
                <a:path w="3562350" h="323850">
                  <a:moveTo>
                    <a:pt x="3517370" y="323850"/>
                  </a:moveTo>
                  <a:lnTo>
                    <a:pt x="44979" y="323850"/>
                  </a:lnTo>
                  <a:lnTo>
                    <a:pt x="36004" y="323026"/>
                  </a:lnTo>
                  <a:lnTo>
                    <a:pt x="3293" y="296137"/>
                  </a:lnTo>
                  <a:lnTo>
                    <a:pt x="0" y="278870"/>
                  </a:lnTo>
                  <a:lnTo>
                    <a:pt x="0" y="44979"/>
                  </a:lnTo>
                  <a:lnTo>
                    <a:pt x="20102" y="7410"/>
                  </a:lnTo>
                  <a:lnTo>
                    <a:pt x="44979" y="0"/>
                  </a:lnTo>
                  <a:lnTo>
                    <a:pt x="3517370" y="0"/>
                  </a:lnTo>
                  <a:lnTo>
                    <a:pt x="3554939" y="20102"/>
                  </a:lnTo>
                  <a:lnTo>
                    <a:pt x="3562350" y="44979"/>
                  </a:lnTo>
                  <a:lnTo>
                    <a:pt x="3562350" y="278870"/>
                  </a:lnTo>
                  <a:lnTo>
                    <a:pt x="3542247" y="316439"/>
                  </a:lnTo>
                  <a:lnTo>
                    <a:pt x="3517370" y="323850"/>
                  </a:lnTo>
                  <a:close/>
                </a:path>
              </a:pathLst>
            </a:custGeom>
            <a:solidFill>
              <a:srgbClr val="FFFFFF"/>
            </a:solidFill>
          </p:spPr>
          <p:txBody>
            <a:bodyPr wrap="square" lIns="0" tIns="0" rIns="0" bIns="0" rtlCol="0"/>
            <a:lstStyle/>
            <a:p/>
          </p:txBody>
        </p:sp>
        <p:pic>
          <p:nvPicPr>
            <p:cNvPr id="16" name="object 16"/>
            <p:cNvPicPr/>
            <p:nvPr/>
          </p:nvPicPr>
          <p:blipFill>
            <a:blip r:embed="rId2" cstate="print"/>
            <a:stretch>
              <a:fillRect/>
            </a:stretch>
          </p:blipFill>
          <p:spPr>
            <a:xfrm>
              <a:off x="495300" y="6477000"/>
              <a:ext cx="3286125" cy="266700"/>
            </a:xfrm>
            <a:prstGeom prst="rect">
              <a:avLst/>
            </a:prstGeom>
          </p:spPr>
        </p:pic>
      </p:grpSp>
      <p:sp>
        <p:nvSpPr>
          <p:cNvPr id="17" name="object 17"/>
          <p:cNvSpPr txBox="1">
            <a:spLocks noGrp="1"/>
          </p:cNvSpPr>
          <p:nvPr>
            <p:ph type="ftr" idx="5" sz="quarter"/>
          </p:nvPr>
        </p:nvSpPr>
        <p:spPr>
          <a:xfrm>
            <a:off x="8531352" y="6528816"/>
            <a:ext cx="3200400" cy="173736"/>
          </a:xfrm>
          <a:prstGeom prst="rect"/>
        </p:spPr>
        <p:txBody>
          <a:bodyPr wrap="square" lIns="0" tIns="3175" rIns="0" bIns="0" rtlCol="0" vert="horz">
            <a:spAutoFit/>
          </a:body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5475" y="559494"/>
            <a:ext cx="314325" cy="330200"/>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FFFFFF"/>
                </a:solidFill>
                <a:latin typeface="Roboto"/>
                <a:cs typeface="Roboto"/>
              </a:rPr>
              <a:t>01</a:t>
            </a:r>
            <a:endParaRPr sz="2000">
              <a:latin typeface="Roboto"/>
              <a:cs typeface="Roboto"/>
            </a:endParaRPr>
          </a:p>
        </p:txBody>
      </p:sp>
      <p:sp>
        <p:nvSpPr>
          <p:cNvPr id="3" name="object 3"/>
          <p:cNvSpPr txBox="1"/>
          <p:nvPr/>
        </p:nvSpPr>
        <p:spPr>
          <a:xfrm>
            <a:off x="1216025" y="471586"/>
            <a:ext cx="457200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B8933F"/>
                </a:solidFill>
                <a:latin typeface="Roboto"/>
                <a:cs typeface="Roboto"/>
              </a:rPr>
              <a:t>UNDERSTAND</a:t>
            </a:r>
            <a:r>
              <a:rPr dirty="0" sz="1200" spc="25" b="1">
                <a:solidFill>
                  <a:srgbClr val="B8933F"/>
                </a:solidFill>
                <a:latin typeface="Roboto"/>
                <a:cs typeface="Roboto"/>
              </a:rPr>
              <a:t> </a:t>
            </a:r>
            <a:r>
              <a:rPr dirty="0" sz="1200" b="1">
                <a:solidFill>
                  <a:srgbClr val="B8933F"/>
                </a:solidFill>
                <a:latin typeface="Roboto"/>
                <a:cs typeface="Roboto"/>
              </a:rPr>
              <a:t>THE</a:t>
            </a:r>
            <a:r>
              <a:rPr dirty="0" sz="1200" spc="25" b="1">
                <a:solidFill>
                  <a:srgbClr val="B8933F"/>
                </a:solidFill>
                <a:latin typeface="Roboto"/>
                <a:cs typeface="Roboto"/>
              </a:rPr>
              <a:t> </a:t>
            </a:r>
            <a:r>
              <a:rPr dirty="0" sz="1200" spc="-10" b="1">
                <a:solidFill>
                  <a:srgbClr val="B8933F"/>
                </a:solidFill>
                <a:latin typeface="Roboto"/>
                <a:cs typeface="Roboto"/>
              </a:rPr>
              <a:t>CHALLENGE</a:t>
            </a:r>
            <a:endParaRPr sz="1200">
              <a:latin typeface="Roboto"/>
              <a:cs typeface="Roboto"/>
            </a:endParaRPr>
          </a:p>
        </p:txBody>
      </p:sp>
      <p:sp>
        <p:nvSpPr>
          <p:cNvPr id="4" name="object 4" descr="$PPTXTitle"/>
          <p:cNvSpPr txBox="1">
            <a:spLocks noGrp="1"/>
          </p:cNvSpPr>
          <p:nvPr>
            <p:ph type="title"/>
          </p:nvPr>
        </p:nvSpPr>
        <p:spPr>
          <a:xfrm>
            <a:ext cx="8046720" cy="0"/>
          </a:xfrm>
          <a:prstGeom prst="rect"/>
        </p:spPr>
        <p:txBody>
          <a:bodyPr wrap="square" lIns="0" tIns="12700" rIns="0" bIns="0" rtlCol="0" vert="horz">
            <a:spAutoFit/>
          </a:bodyPr>
          <a:lstStyle/>
          <a:p>
            <a:pPr marL="12700">
              <a:lnSpc>
                <a:spcPct val="100000"/>
              </a:lnSpc>
              <a:spcBef>
                <a:spcPts val="100"/>
              </a:spcBef>
            </a:pPr>
            <a:r>
              <a:rPr dirty="0"/>
              <a:t>Problem</a:t>
            </a:r>
            <a:r>
              <a:rPr dirty="0" spc="-10"/>
              <a:t> Statement</a:t>
            </a:r>
          </a:p>
        </p:txBody>
      </p:sp>
      <p:grpSp>
        <p:nvGrpSpPr>
          <p:cNvPr id="5" name="object 5"/>
          <p:cNvGrpSpPr/>
          <p:nvPr/>
        </p:nvGrpSpPr>
        <p:grpSpPr>
          <a:xfrm>
            <a:off x="542925" y="1366837"/>
            <a:ext cx="11058525" cy="9525"/>
            <a:chOff x="542925" y="1366837"/>
            <a:chExt cx="11058525" cy="9525"/>
          </a:xfrm>
        </p:grpSpPr>
        <p:sp>
          <p:nvSpPr>
            <p:cNvPr id="6" name="object 6"/>
            <p:cNvSpPr/>
            <p:nvPr/>
          </p:nvSpPr>
          <p:spPr>
            <a:xfrm>
              <a:off x="542925" y="1371600"/>
              <a:ext cx="11058525" cy="0"/>
            </a:xfrm>
            <a:custGeom>
              <a:avLst/>
              <a:gdLst/>
              <a:ahLst/>
              <a:cxnLst/>
              <a:rect l="l" t="t" r="r" b="b"/>
              <a:pathLst>
                <a:path w="11058525" h="0">
                  <a:moveTo>
                    <a:pt x="11058525" y="0"/>
                  </a:moveTo>
                  <a:lnTo>
                    <a:pt x="0" y="0"/>
                  </a:lnTo>
                </a:path>
              </a:pathLst>
            </a:custGeom>
            <a:solidFill>
              <a:srgbClr val="D8DCE3"/>
            </a:solidFill>
          </p:spPr>
          <p:txBody>
            <a:bodyPr wrap="square" lIns="0" tIns="0" rIns="0" bIns="0" rtlCol="0"/>
            <a:lstStyle/>
            <a:p/>
          </p:txBody>
        </p:sp>
        <p:sp>
          <p:nvSpPr>
            <p:cNvPr id="7" name="object 7"/>
            <p:cNvSpPr/>
            <p:nvPr/>
          </p:nvSpPr>
          <p:spPr>
            <a:xfrm>
              <a:off x="542925" y="1371600"/>
              <a:ext cx="11058525" cy="0"/>
            </a:xfrm>
            <a:custGeom>
              <a:avLst/>
              <a:gdLst/>
              <a:ahLst/>
              <a:cxnLst/>
              <a:rect l="l" t="t" r="r" b="b"/>
              <a:pathLst>
                <a:path w="11058525" h="0">
                  <a:moveTo>
                    <a:pt x="0" y="0"/>
                  </a:moveTo>
                  <a:lnTo>
                    <a:pt x="11058525" y="0"/>
                  </a:lnTo>
                </a:path>
              </a:pathLst>
            </a:custGeom>
            <a:ln w="9525">
              <a:solidFill>
                <a:srgbClr val="D8DCE3"/>
              </a:solidFill>
            </a:ln>
          </p:spPr>
          <p:txBody>
            <a:bodyPr wrap="square" lIns="0" tIns="0" rIns="0" bIns="0" rtlCol="0"/>
            <a:lstStyle/>
            <a:p/>
          </p:txBody>
        </p:sp>
      </p:grpSp>
      <p:grpSp>
        <p:nvGrpSpPr>
          <p:cNvPr id="8" name="object 8"/>
          <p:cNvGrpSpPr/>
          <p:nvPr/>
        </p:nvGrpSpPr>
        <p:grpSpPr>
          <a:xfrm>
            <a:off x="538162" y="1681162"/>
            <a:ext cx="11096625" cy="1971675"/>
            <a:chOff x="538162" y="1681162"/>
            <a:chExt cx="11096625" cy="1971675"/>
          </a:xfrm>
        </p:grpSpPr>
        <p:sp>
          <p:nvSpPr>
            <p:cNvPr id="9" name="object 9"/>
            <p:cNvSpPr/>
            <p:nvPr/>
          </p:nvSpPr>
          <p:spPr>
            <a:xfrm>
              <a:off x="542925" y="1685925"/>
              <a:ext cx="11087100" cy="1962150"/>
            </a:xfrm>
            <a:custGeom>
              <a:avLst/>
              <a:gdLst/>
              <a:ahLst/>
              <a:cxnLst/>
              <a:rect l="l" t="t" r="r" b="b"/>
              <a:pathLst>
                <a:path w="11087100" h="1962150">
                  <a:moveTo>
                    <a:pt x="11014088" y="1962150"/>
                  </a:moveTo>
                  <a:lnTo>
                    <a:pt x="73011" y="1962150"/>
                  </a:lnTo>
                  <a:lnTo>
                    <a:pt x="58444" y="1960813"/>
                  </a:lnTo>
                  <a:lnTo>
                    <a:pt x="21384" y="1940765"/>
                  </a:lnTo>
                  <a:lnTo>
                    <a:pt x="1336" y="1903706"/>
                  </a:lnTo>
                  <a:lnTo>
                    <a:pt x="0" y="1889138"/>
                  </a:lnTo>
                  <a:lnTo>
                    <a:pt x="0" y="73011"/>
                  </a:lnTo>
                  <a:lnTo>
                    <a:pt x="12028" y="32630"/>
                  </a:lnTo>
                  <a:lnTo>
                    <a:pt x="44983" y="5346"/>
                  </a:lnTo>
                  <a:lnTo>
                    <a:pt x="73011" y="0"/>
                  </a:lnTo>
                  <a:lnTo>
                    <a:pt x="11014088" y="0"/>
                  </a:lnTo>
                  <a:lnTo>
                    <a:pt x="11054468" y="12028"/>
                  </a:lnTo>
                  <a:lnTo>
                    <a:pt x="11081753" y="44983"/>
                  </a:lnTo>
                  <a:lnTo>
                    <a:pt x="11087100" y="73011"/>
                  </a:lnTo>
                  <a:lnTo>
                    <a:pt x="11087100" y="1889138"/>
                  </a:lnTo>
                  <a:lnTo>
                    <a:pt x="11075071" y="1929519"/>
                  </a:lnTo>
                  <a:lnTo>
                    <a:pt x="11042116" y="1956803"/>
                  </a:lnTo>
                  <a:lnTo>
                    <a:pt x="11014088" y="1962150"/>
                  </a:lnTo>
                  <a:close/>
                </a:path>
              </a:pathLst>
            </a:custGeom>
            <a:solidFill>
              <a:srgbClr val="FFFFFF"/>
            </a:solidFill>
          </p:spPr>
          <p:txBody>
            <a:bodyPr wrap="square" lIns="0" tIns="0" rIns="0" bIns="0" rtlCol="0"/>
            <a:lstStyle/>
            <a:p/>
          </p:txBody>
        </p:sp>
        <p:sp>
          <p:nvSpPr>
            <p:cNvPr id="10" name="object 10"/>
            <p:cNvSpPr/>
            <p:nvPr/>
          </p:nvSpPr>
          <p:spPr>
            <a:xfrm>
              <a:off x="542925" y="1685925"/>
              <a:ext cx="11087100" cy="1962150"/>
            </a:xfrm>
            <a:custGeom>
              <a:avLst/>
              <a:gdLst/>
              <a:ahLst/>
              <a:cxnLst/>
              <a:rect l="l" t="t" r="r" b="b"/>
              <a:pathLst>
                <a:path w="11087100" h="1962150">
                  <a:moveTo>
                    <a:pt x="0" y="73011"/>
                  </a:moveTo>
                  <a:lnTo>
                    <a:pt x="12028" y="32630"/>
                  </a:lnTo>
                  <a:lnTo>
                    <a:pt x="44983" y="5346"/>
                  </a:lnTo>
                  <a:lnTo>
                    <a:pt x="73011" y="0"/>
                  </a:lnTo>
                  <a:lnTo>
                    <a:pt x="11014088" y="0"/>
                  </a:lnTo>
                  <a:lnTo>
                    <a:pt x="11054468" y="12028"/>
                  </a:lnTo>
                  <a:lnTo>
                    <a:pt x="11081753" y="44983"/>
                  </a:lnTo>
                  <a:lnTo>
                    <a:pt x="11087100" y="73011"/>
                  </a:lnTo>
                  <a:lnTo>
                    <a:pt x="11087100" y="1889138"/>
                  </a:lnTo>
                  <a:lnTo>
                    <a:pt x="11075071" y="1929519"/>
                  </a:lnTo>
                  <a:lnTo>
                    <a:pt x="11042116" y="1956803"/>
                  </a:lnTo>
                  <a:lnTo>
                    <a:pt x="11014088" y="1962150"/>
                  </a:lnTo>
                  <a:lnTo>
                    <a:pt x="73011" y="1962150"/>
                  </a:lnTo>
                  <a:lnTo>
                    <a:pt x="32630" y="1950120"/>
                  </a:lnTo>
                  <a:lnTo>
                    <a:pt x="5346" y="1917166"/>
                  </a:lnTo>
                  <a:lnTo>
                    <a:pt x="0" y="1889138"/>
                  </a:lnTo>
                  <a:lnTo>
                    <a:pt x="0" y="73011"/>
                  </a:lnTo>
                  <a:close/>
                </a:path>
                <a:path w="11087100" h="1962150">
                  <a:moveTo>
                    <a:pt x="0" y="73011"/>
                  </a:moveTo>
                  <a:lnTo>
                    <a:pt x="12028" y="32630"/>
                  </a:lnTo>
                  <a:lnTo>
                    <a:pt x="44983" y="5346"/>
                  </a:lnTo>
                  <a:lnTo>
                    <a:pt x="73011" y="0"/>
                  </a:lnTo>
                  <a:lnTo>
                    <a:pt x="11014088" y="0"/>
                  </a:lnTo>
                  <a:lnTo>
                    <a:pt x="11054468" y="12028"/>
                  </a:lnTo>
                  <a:lnTo>
                    <a:pt x="11081753" y="44983"/>
                  </a:lnTo>
                  <a:lnTo>
                    <a:pt x="11087100" y="73011"/>
                  </a:lnTo>
                  <a:lnTo>
                    <a:pt x="11087100" y="1889138"/>
                  </a:lnTo>
                  <a:lnTo>
                    <a:pt x="11075071" y="1929519"/>
                  </a:lnTo>
                  <a:lnTo>
                    <a:pt x="11042116" y="1956803"/>
                  </a:lnTo>
                  <a:lnTo>
                    <a:pt x="11014088" y="1962150"/>
                  </a:lnTo>
                  <a:lnTo>
                    <a:pt x="73011" y="1962150"/>
                  </a:lnTo>
                  <a:lnTo>
                    <a:pt x="32630" y="1950120"/>
                  </a:lnTo>
                  <a:lnTo>
                    <a:pt x="5346" y="1917166"/>
                  </a:lnTo>
                  <a:lnTo>
                    <a:pt x="0" y="1889138"/>
                  </a:lnTo>
                  <a:lnTo>
                    <a:pt x="0" y="73011"/>
                  </a:lnTo>
                  <a:close/>
                </a:path>
              </a:pathLst>
            </a:custGeom>
            <a:ln w="9525">
              <a:solidFill>
                <a:srgbClr val="D8DCE3"/>
              </a:solidFill>
            </a:ln>
          </p:spPr>
          <p:txBody>
            <a:bodyPr wrap="square" lIns="0" tIns="0" rIns="0" bIns="0" rtlCol="0"/>
            <a:lstStyle/>
            <a:p/>
          </p:txBody>
        </p:sp>
      </p:grpSp>
      <p:sp>
        <p:nvSpPr>
          <p:cNvPr id="11" name="object 11"/>
          <p:cNvSpPr txBox="1"/>
          <p:nvPr/>
        </p:nvSpPr>
        <p:spPr>
          <a:xfrm>
            <a:off x="758825" y="1766843"/>
            <a:ext cx="10561320" cy="565785"/>
          </a:xfrm>
          <a:prstGeom prst="rect">
            <a:avLst/>
          </a:prstGeom>
        </p:spPr>
        <p:txBody>
          <a:bodyPr wrap="square" lIns="0" tIns="106680" rIns="0" bIns="0" rtlCol="0" vert="horz">
            <a:spAutoFit/>
          </a:bodyPr>
          <a:lstStyle/>
          <a:p>
            <a:pPr marL="12700">
              <a:lnSpc>
                <a:spcPct val="100000"/>
              </a:lnSpc>
              <a:spcBef>
                <a:spcPts val="840"/>
              </a:spcBef>
            </a:pPr>
            <a:r>
              <a:rPr dirty="0" sz="1300" b="1">
                <a:solidFill>
                  <a:srgbClr val="1E2A4A"/>
                </a:solidFill>
                <a:latin typeface="Roboto"/>
                <a:cs typeface="Roboto"/>
              </a:rPr>
              <a:t>What problem are you solving?</a:t>
            </a:r>
            <a:endParaRPr sz="1300">
              <a:latin typeface="Roboto"/>
              <a:cs typeface="Roboto"/>
            </a:endParaRPr>
          </a:p>
          <a:p>
            <a:pPr marL="12700">
              <a:lnSpc>
                <a:spcPct val="100000"/>
              </a:lnSpc>
              <a:spcBef>
                <a:spcPts val="630"/>
              </a:spcBef>
            </a:pPr>
            <a:r>
              <a:rPr dirty="0" sz="1100" spc="-10">
                <a:solidFill>
                  <a:srgbClr val="5B6472"/>
                </a:solidFill>
                <a:latin typeface="Roboto"/>
                <a:cs typeface="Roboto"/>
              </a:rPr>
              <a:t>A city's lifelines are one network, and a control room sees them as five separate alarm queues. Chennai, December 2015: rain floods the substations, so pumping stops, so hospitals fall back to diesel — and the roads are underwater, so the diesel never arrives. The node that killed the city was a road, because it carried the fuel. Not one monitoring system was broken that night; every one of them reported its own alarm correctly. None could say which alarm ends with hospitals dark in six hours.</a:t>
            </a:r>
            <a:endParaRPr sz="1100">
              <a:latin typeface="Roboto"/>
              <a:cs typeface="Roboto"/>
            </a:endParaRPr>
          </a:p>
        </p:txBody>
      </p:sp>
      <p:grpSp>
        <p:nvGrpSpPr>
          <p:cNvPr id="12" name="object 12"/>
          <p:cNvGrpSpPr/>
          <p:nvPr/>
        </p:nvGrpSpPr>
        <p:grpSpPr>
          <a:xfrm>
            <a:off x="538162" y="3786187"/>
            <a:ext cx="5400675" cy="2152650"/>
            <a:chOff x="538162" y="3786187"/>
            <a:chExt cx="5400675" cy="2152650"/>
          </a:xfrm>
        </p:grpSpPr>
        <p:sp>
          <p:nvSpPr>
            <p:cNvPr id="13" name="object 13"/>
            <p:cNvSpPr/>
            <p:nvPr/>
          </p:nvSpPr>
          <p:spPr>
            <a:xfrm>
              <a:off x="542925" y="3790950"/>
              <a:ext cx="5391150" cy="2143125"/>
            </a:xfrm>
            <a:custGeom>
              <a:avLst/>
              <a:gdLst/>
              <a:ahLst/>
              <a:cxnLst/>
              <a:rect l="l" t="t" r="r" b="b"/>
              <a:pathLst>
                <a:path w="5391150" h="2143125">
                  <a:moveTo>
                    <a:pt x="5318198" y="2143125"/>
                  </a:moveTo>
                  <a:lnTo>
                    <a:pt x="72951" y="2143125"/>
                  </a:lnTo>
                  <a:lnTo>
                    <a:pt x="58396" y="2141789"/>
                  </a:lnTo>
                  <a:lnTo>
                    <a:pt x="21367" y="2121757"/>
                  </a:lnTo>
                  <a:lnTo>
                    <a:pt x="1335" y="2084728"/>
                  </a:lnTo>
                  <a:lnTo>
                    <a:pt x="0" y="2070173"/>
                  </a:lnTo>
                  <a:lnTo>
                    <a:pt x="0" y="72952"/>
                  </a:lnTo>
                  <a:lnTo>
                    <a:pt x="12018" y="32603"/>
                  </a:lnTo>
                  <a:lnTo>
                    <a:pt x="44946" y="5341"/>
                  </a:lnTo>
                  <a:lnTo>
                    <a:pt x="72951" y="0"/>
                  </a:lnTo>
                  <a:lnTo>
                    <a:pt x="5318198" y="0"/>
                  </a:lnTo>
                  <a:lnTo>
                    <a:pt x="5358545" y="12019"/>
                  </a:lnTo>
                  <a:lnTo>
                    <a:pt x="5385808" y="44946"/>
                  </a:lnTo>
                  <a:lnTo>
                    <a:pt x="5391150" y="72952"/>
                  </a:lnTo>
                  <a:lnTo>
                    <a:pt x="5391150" y="2070173"/>
                  </a:lnTo>
                  <a:lnTo>
                    <a:pt x="5379130" y="2110520"/>
                  </a:lnTo>
                  <a:lnTo>
                    <a:pt x="5346202" y="2137783"/>
                  </a:lnTo>
                  <a:lnTo>
                    <a:pt x="5318198" y="2143125"/>
                  </a:lnTo>
                  <a:close/>
                </a:path>
              </a:pathLst>
            </a:custGeom>
            <a:solidFill>
              <a:srgbClr val="FFFFFF"/>
            </a:solidFill>
          </p:spPr>
          <p:txBody>
            <a:bodyPr wrap="square" lIns="0" tIns="0" rIns="0" bIns="0" rtlCol="0"/>
            <a:lstStyle/>
            <a:p/>
          </p:txBody>
        </p:sp>
        <p:sp>
          <p:nvSpPr>
            <p:cNvPr id="14" name="object 14"/>
            <p:cNvSpPr/>
            <p:nvPr/>
          </p:nvSpPr>
          <p:spPr>
            <a:xfrm>
              <a:off x="542925" y="3790950"/>
              <a:ext cx="5391150" cy="2143125"/>
            </a:xfrm>
            <a:custGeom>
              <a:avLst/>
              <a:gdLst/>
              <a:ahLst/>
              <a:cxnLst/>
              <a:rect l="l" t="t" r="r" b="b"/>
              <a:pathLst>
                <a:path w="5391150" h="2143125">
                  <a:moveTo>
                    <a:pt x="0" y="72952"/>
                  </a:moveTo>
                  <a:lnTo>
                    <a:pt x="12018" y="32603"/>
                  </a:lnTo>
                  <a:lnTo>
                    <a:pt x="44946" y="5341"/>
                  </a:lnTo>
                  <a:lnTo>
                    <a:pt x="72951" y="0"/>
                  </a:lnTo>
                  <a:lnTo>
                    <a:pt x="5318198" y="0"/>
                  </a:lnTo>
                  <a:lnTo>
                    <a:pt x="5358545" y="12019"/>
                  </a:lnTo>
                  <a:lnTo>
                    <a:pt x="5385808" y="44946"/>
                  </a:lnTo>
                  <a:lnTo>
                    <a:pt x="5391150" y="72952"/>
                  </a:lnTo>
                  <a:lnTo>
                    <a:pt x="5391150" y="2070173"/>
                  </a:lnTo>
                  <a:lnTo>
                    <a:pt x="5379130" y="2110520"/>
                  </a:lnTo>
                  <a:lnTo>
                    <a:pt x="5346202" y="2137783"/>
                  </a:lnTo>
                  <a:lnTo>
                    <a:pt x="5318198" y="2143125"/>
                  </a:lnTo>
                  <a:lnTo>
                    <a:pt x="72951" y="2143125"/>
                  </a:lnTo>
                  <a:lnTo>
                    <a:pt x="32603" y="2131105"/>
                  </a:lnTo>
                  <a:lnTo>
                    <a:pt x="5341" y="2098177"/>
                  </a:lnTo>
                  <a:lnTo>
                    <a:pt x="0" y="2070173"/>
                  </a:lnTo>
                  <a:lnTo>
                    <a:pt x="0" y="72952"/>
                  </a:lnTo>
                  <a:close/>
                </a:path>
                <a:path w="5391150" h="2143125">
                  <a:moveTo>
                    <a:pt x="0" y="72952"/>
                  </a:moveTo>
                  <a:lnTo>
                    <a:pt x="12018" y="32603"/>
                  </a:lnTo>
                  <a:lnTo>
                    <a:pt x="44946" y="5341"/>
                  </a:lnTo>
                  <a:lnTo>
                    <a:pt x="72951" y="0"/>
                  </a:lnTo>
                  <a:lnTo>
                    <a:pt x="5318198" y="0"/>
                  </a:lnTo>
                  <a:lnTo>
                    <a:pt x="5358545" y="12019"/>
                  </a:lnTo>
                  <a:lnTo>
                    <a:pt x="5385808" y="44946"/>
                  </a:lnTo>
                  <a:lnTo>
                    <a:pt x="5391150" y="72952"/>
                  </a:lnTo>
                  <a:lnTo>
                    <a:pt x="5391150" y="2070173"/>
                  </a:lnTo>
                  <a:lnTo>
                    <a:pt x="5379130" y="2110520"/>
                  </a:lnTo>
                  <a:lnTo>
                    <a:pt x="5346202" y="2137783"/>
                  </a:lnTo>
                  <a:lnTo>
                    <a:pt x="5318198" y="2143125"/>
                  </a:lnTo>
                  <a:lnTo>
                    <a:pt x="72951" y="2143125"/>
                  </a:lnTo>
                  <a:lnTo>
                    <a:pt x="32603" y="2131105"/>
                  </a:lnTo>
                  <a:lnTo>
                    <a:pt x="5341" y="2098177"/>
                  </a:lnTo>
                  <a:lnTo>
                    <a:pt x="0" y="2070173"/>
                  </a:lnTo>
                  <a:lnTo>
                    <a:pt x="0" y="72952"/>
                  </a:lnTo>
                  <a:close/>
                </a:path>
              </a:pathLst>
            </a:custGeom>
            <a:ln w="9525">
              <a:solidFill>
                <a:srgbClr val="D8DCE3"/>
              </a:solidFill>
            </a:ln>
          </p:spPr>
          <p:txBody>
            <a:bodyPr wrap="square" lIns="0" tIns="0" rIns="0" bIns="0" rtlCol="0"/>
            <a:lstStyle/>
            <a:p/>
          </p:txBody>
        </p:sp>
      </p:grpSp>
      <p:sp>
        <p:nvSpPr>
          <p:cNvPr id="15" name="object 15"/>
          <p:cNvSpPr txBox="1"/>
          <p:nvPr/>
        </p:nvSpPr>
        <p:spPr>
          <a:xfrm>
            <a:off x="758825" y="3851087"/>
            <a:ext cx="4956048" cy="586740"/>
          </a:xfrm>
          <a:prstGeom prst="rect">
            <a:avLst/>
          </a:prstGeom>
        </p:spPr>
        <p:txBody>
          <a:bodyPr wrap="square" lIns="0" tIns="118110" rIns="0" bIns="0" rtlCol="0" vert="horz">
            <a:spAutoFit/>
          </a:bodyPr>
          <a:lstStyle/>
          <a:p>
            <a:pPr marL="12700">
              <a:lnSpc>
                <a:spcPct val="100000"/>
              </a:lnSpc>
              <a:spcBef>
                <a:spcPts val="930"/>
              </a:spcBef>
            </a:pPr>
            <a:r>
              <a:rPr dirty="0" sz="1300" b="1">
                <a:solidFill>
                  <a:srgbClr val="1E2A4A"/>
                </a:solidFill>
                <a:latin typeface="Roboto"/>
                <a:cs typeface="Roboto"/>
              </a:rPr>
              <a:t>Current gaps</a:t>
            </a:r>
            <a:endParaRPr sz="1300">
              <a:latin typeface="Roboto"/>
              <a:cs typeface="Roboto"/>
            </a:endParaRPr>
          </a:p>
          <a:p>
            <a:pPr marL="12700">
              <a:lnSpc>
                <a:spcPct val="100000"/>
              </a:lnSpc>
              <a:spcBef>
                <a:spcPts val="705"/>
              </a:spcBef>
            </a:pPr>
            <a:r>
              <a:rPr dirty="0" sz="1100">
                <a:solidFill>
                  <a:srgbClr val="5B6472"/>
                </a:solidFill>
                <a:latin typeface="Roboto"/>
                <a:cs typeface="Roboto"/>
              </a:rPr>
              <a:t>Alarms are ranked by how loud they are. Measured over 52,631 held-out events, that ranking scores ROC-AUC 0.483 — chance, and slightly below it. The alternative on offer is an expert-declared interdependency matrix, but 81% of the links that actually propagate failure here are load redistribution between flow-peers, which appears in no declared matrix. And the literature predicts that a cascade will happen; nobody picks the intervention that stops it.</a:t>
            </a:r>
            <a:endParaRPr sz="1100">
              <a:latin typeface="Roboto"/>
              <a:cs typeface="Roboto"/>
            </a:endParaRPr>
          </a:p>
        </p:txBody>
      </p:sp>
      <p:grpSp>
        <p:nvGrpSpPr>
          <p:cNvPr id="16" name="object 16"/>
          <p:cNvGrpSpPr/>
          <p:nvPr/>
        </p:nvGrpSpPr>
        <p:grpSpPr>
          <a:xfrm>
            <a:off x="6234112" y="3786187"/>
            <a:ext cx="5400675" cy="2152650"/>
            <a:chOff x="6234112" y="3786187"/>
            <a:chExt cx="5400675" cy="2152650"/>
          </a:xfrm>
        </p:grpSpPr>
        <p:sp>
          <p:nvSpPr>
            <p:cNvPr id="17" name="object 17"/>
            <p:cNvSpPr/>
            <p:nvPr/>
          </p:nvSpPr>
          <p:spPr>
            <a:xfrm>
              <a:off x="6238875" y="3790950"/>
              <a:ext cx="5391150" cy="2143125"/>
            </a:xfrm>
            <a:custGeom>
              <a:avLst/>
              <a:gdLst/>
              <a:ahLst/>
              <a:cxnLst/>
              <a:rect l="l" t="t" r="r" b="b"/>
              <a:pathLst>
                <a:path w="5391150" h="2143125">
                  <a:moveTo>
                    <a:pt x="5318198" y="2143125"/>
                  </a:moveTo>
                  <a:lnTo>
                    <a:pt x="72952" y="2143125"/>
                  </a:lnTo>
                  <a:lnTo>
                    <a:pt x="58396" y="2141789"/>
                  </a:lnTo>
                  <a:lnTo>
                    <a:pt x="21366" y="2121757"/>
                  </a:lnTo>
                  <a:lnTo>
                    <a:pt x="1335" y="2084728"/>
                  </a:lnTo>
                  <a:lnTo>
                    <a:pt x="0" y="2070173"/>
                  </a:lnTo>
                  <a:lnTo>
                    <a:pt x="0" y="72952"/>
                  </a:lnTo>
                  <a:lnTo>
                    <a:pt x="12018" y="32603"/>
                  </a:lnTo>
                  <a:lnTo>
                    <a:pt x="44946" y="5341"/>
                  </a:lnTo>
                  <a:lnTo>
                    <a:pt x="72952" y="0"/>
                  </a:lnTo>
                  <a:lnTo>
                    <a:pt x="5318198" y="0"/>
                  </a:lnTo>
                  <a:lnTo>
                    <a:pt x="5358545" y="12019"/>
                  </a:lnTo>
                  <a:lnTo>
                    <a:pt x="5385808" y="44946"/>
                  </a:lnTo>
                  <a:lnTo>
                    <a:pt x="5391150" y="72952"/>
                  </a:lnTo>
                  <a:lnTo>
                    <a:pt x="5391150" y="2070173"/>
                  </a:lnTo>
                  <a:lnTo>
                    <a:pt x="5379130" y="2110520"/>
                  </a:lnTo>
                  <a:lnTo>
                    <a:pt x="5346202" y="2137783"/>
                  </a:lnTo>
                  <a:lnTo>
                    <a:pt x="5318198" y="2143125"/>
                  </a:lnTo>
                  <a:close/>
                </a:path>
              </a:pathLst>
            </a:custGeom>
            <a:solidFill>
              <a:srgbClr val="FFFFFF"/>
            </a:solidFill>
          </p:spPr>
          <p:txBody>
            <a:bodyPr wrap="square" lIns="0" tIns="0" rIns="0" bIns="0" rtlCol="0"/>
            <a:lstStyle/>
            <a:p/>
          </p:txBody>
        </p:sp>
        <p:sp>
          <p:nvSpPr>
            <p:cNvPr id="18" name="object 18"/>
            <p:cNvSpPr/>
            <p:nvPr/>
          </p:nvSpPr>
          <p:spPr>
            <a:xfrm>
              <a:off x="6238875" y="3790950"/>
              <a:ext cx="5391150" cy="2143125"/>
            </a:xfrm>
            <a:custGeom>
              <a:avLst/>
              <a:gdLst/>
              <a:ahLst/>
              <a:cxnLst/>
              <a:rect l="l" t="t" r="r" b="b"/>
              <a:pathLst>
                <a:path w="5391150" h="2143125">
                  <a:moveTo>
                    <a:pt x="0" y="72952"/>
                  </a:moveTo>
                  <a:lnTo>
                    <a:pt x="12018" y="32603"/>
                  </a:lnTo>
                  <a:lnTo>
                    <a:pt x="44946" y="5341"/>
                  </a:lnTo>
                  <a:lnTo>
                    <a:pt x="72952" y="0"/>
                  </a:lnTo>
                  <a:lnTo>
                    <a:pt x="5318198" y="0"/>
                  </a:lnTo>
                  <a:lnTo>
                    <a:pt x="5358545" y="12019"/>
                  </a:lnTo>
                  <a:lnTo>
                    <a:pt x="5385808" y="44946"/>
                  </a:lnTo>
                  <a:lnTo>
                    <a:pt x="5391150" y="72952"/>
                  </a:lnTo>
                  <a:lnTo>
                    <a:pt x="5391150" y="2070173"/>
                  </a:lnTo>
                  <a:lnTo>
                    <a:pt x="5379130" y="2110520"/>
                  </a:lnTo>
                  <a:lnTo>
                    <a:pt x="5346202" y="2137783"/>
                  </a:lnTo>
                  <a:lnTo>
                    <a:pt x="5318198" y="2143125"/>
                  </a:lnTo>
                  <a:lnTo>
                    <a:pt x="72952" y="2143125"/>
                  </a:lnTo>
                  <a:lnTo>
                    <a:pt x="32603" y="2131105"/>
                  </a:lnTo>
                  <a:lnTo>
                    <a:pt x="5341" y="2098177"/>
                  </a:lnTo>
                  <a:lnTo>
                    <a:pt x="0" y="2070173"/>
                  </a:lnTo>
                  <a:lnTo>
                    <a:pt x="0" y="72952"/>
                  </a:lnTo>
                  <a:close/>
                </a:path>
                <a:path w="5391150" h="2143125">
                  <a:moveTo>
                    <a:pt x="0" y="72952"/>
                  </a:moveTo>
                  <a:lnTo>
                    <a:pt x="12018" y="32603"/>
                  </a:lnTo>
                  <a:lnTo>
                    <a:pt x="44946" y="5341"/>
                  </a:lnTo>
                  <a:lnTo>
                    <a:pt x="72952" y="0"/>
                  </a:lnTo>
                  <a:lnTo>
                    <a:pt x="5318198" y="0"/>
                  </a:lnTo>
                  <a:lnTo>
                    <a:pt x="5358545" y="12019"/>
                  </a:lnTo>
                  <a:lnTo>
                    <a:pt x="5385808" y="44946"/>
                  </a:lnTo>
                  <a:lnTo>
                    <a:pt x="5391150" y="72952"/>
                  </a:lnTo>
                  <a:lnTo>
                    <a:pt x="5391150" y="2070173"/>
                  </a:lnTo>
                  <a:lnTo>
                    <a:pt x="5379130" y="2110520"/>
                  </a:lnTo>
                  <a:lnTo>
                    <a:pt x="5346202" y="2137783"/>
                  </a:lnTo>
                  <a:lnTo>
                    <a:pt x="5318198" y="2143125"/>
                  </a:lnTo>
                  <a:lnTo>
                    <a:pt x="72952" y="2143125"/>
                  </a:lnTo>
                  <a:lnTo>
                    <a:pt x="32603" y="2131105"/>
                  </a:lnTo>
                  <a:lnTo>
                    <a:pt x="5341" y="2098177"/>
                  </a:lnTo>
                  <a:lnTo>
                    <a:pt x="0" y="2070173"/>
                  </a:lnTo>
                  <a:lnTo>
                    <a:pt x="0" y="72952"/>
                  </a:lnTo>
                  <a:close/>
                </a:path>
              </a:pathLst>
            </a:custGeom>
            <a:ln w="9525">
              <a:solidFill>
                <a:srgbClr val="D8DCE3"/>
              </a:solidFill>
            </a:ln>
          </p:spPr>
          <p:txBody>
            <a:bodyPr wrap="square" lIns="0" tIns="0" rIns="0" bIns="0" rtlCol="0"/>
            <a:lstStyle/>
            <a:p/>
          </p:txBody>
        </p:sp>
      </p:grpSp>
      <p:sp>
        <p:nvSpPr>
          <p:cNvPr id="19" name="object 19"/>
          <p:cNvSpPr txBox="1"/>
          <p:nvPr/>
        </p:nvSpPr>
        <p:spPr>
          <a:xfrm>
            <a:off x="6454775" y="3851087"/>
            <a:ext cx="4956048" cy="586740"/>
          </a:xfrm>
          <a:prstGeom prst="rect">
            <a:avLst/>
          </a:prstGeom>
        </p:spPr>
        <p:txBody>
          <a:bodyPr wrap="square" lIns="0" tIns="118110" rIns="0" bIns="0" rtlCol="0" vert="horz">
            <a:spAutoFit/>
          </a:bodyPr>
          <a:lstStyle/>
          <a:p>
            <a:pPr marL="12700">
              <a:lnSpc>
                <a:spcPct val="100000"/>
              </a:lnSpc>
              <a:spcBef>
                <a:spcPts val="930"/>
              </a:spcBef>
            </a:pPr>
            <a:r>
              <a:rPr dirty="0" sz="1300" b="1">
                <a:solidFill>
                  <a:srgbClr val="1E2A4A"/>
                </a:solidFill>
                <a:latin typeface="Roboto"/>
                <a:cs typeface="Roboto"/>
              </a:rPr>
              <a:t>Why now?</a:t>
            </a:r>
            <a:endParaRPr sz="1300">
              <a:latin typeface="Roboto"/>
              <a:cs typeface="Roboto"/>
            </a:endParaRPr>
          </a:p>
          <a:p>
            <a:pPr marL="12700">
              <a:lnSpc>
                <a:spcPct val="100000"/>
              </a:lnSpc>
              <a:spcBef>
                <a:spcPts val="705"/>
              </a:spcBef>
            </a:pPr>
            <a:r>
              <a:rPr dirty="0" sz="1100">
                <a:solidFill>
                  <a:srgbClr val="5B6472"/>
                </a:solidFill>
                <a:latin typeface="Roboto"/>
                <a:cs typeface="Roboto"/>
              </a:rPr>
              <a:t>Catastrophes are too rare to learn from — roughly three per decade in a given city — so the field trains on synthetic scenario sweeps and inherits the assumptions of whoever wrote the generator. The training data already exists and nobody collects it: a cascade that stopped after two hops is the same stochastic process, sitting unlabelled in every operational log because nobody was hurt. Aviation has mined precursors this way since ASRS. Nobody has done it for a networked, multi-sector city.</a:t>
            </a:r>
            <a:endParaRPr sz="1100">
              <a:latin typeface="Roboto"/>
              <a:cs typeface="Roboto"/>
            </a:endParaRPr>
          </a:p>
        </p:txBody>
      </p:sp>
      <p:grpSp>
        <p:nvGrpSpPr>
          <p:cNvPr id="20" name="object 20"/>
          <p:cNvGrpSpPr/>
          <p:nvPr/>
        </p:nvGrpSpPr>
        <p:grpSpPr>
          <a:xfrm>
            <a:off x="0" y="6381750"/>
            <a:ext cx="12182475" cy="466725"/>
            <a:chOff x="0" y="6381750"/>
            <a:chExt cx="12182475" cy="466725"/>
          </a:xfrm>
        </p:grpSpPr>
        <p:sp>
          <p:nvSpPr>
            <p:cNvPr id="21" name="object 21"/>
            <p:cNvSpPr/>
            <p:nvPr/>
          </p:nvSpPr>
          <p:spPr>
            <a:xfrm>
              <a:off x="0" y="6381750"/>
              <a:ext cx="12182475" cy="466725"/>
            </a:xfrm>
            <a:custGeom>
              <a:avLst/>
              <a:gdLst/>
              <a:ahLst/>
              <a:cxnLst/>
              <a:rect l="l" t="t" r="r" b="b"/>
              <a:pathLst>
                <a:path w="12182475" h="466725">
                  <a:moveTo>
                    <a:pt x="12182475" y="466725"/>
                  </a:moveTo>
                  <a:lnTo>
                    <a:pt x="0" y="466725"/>
                  </a:lnTo>
                  <a:lnTo>
                    <a:pt x="0" y="0"/>
                  </a:lnTo>
                  <a:lnTo>
                    <a:pt x="12182475" y="0"/>
                  </a:lnTo>
                  <a:lnTo>
                    <a:pt x="12182475" y="466725"/>
                  </a:lnTo>
                  <a:close/>
                </a:path>
              </a:pathLst>
            </a:custGeom>
            <a:solidFill>
              <a:srgbClr val="FFFFFF"/>
            </a:solidFill>
          </p:spPr>
          <p:txBody>
            <a:bodyPr wrap="square" lIns="0" tIns="0" rIns="0" bIns="0" rtlCol="0"/>
            <a:lstStyle/>
            <a:p/>
          </p:txBody>
        </p:sp>
        <p:pic>
          <p:nvPicPr>
            <p:cNvPr id="22" name="object 22"/>
            <p:cNvPicPr/>
            <p:nvPr/>
          </p:nvPicPr>
          <p:blipFill>
            <a:blip r:embed="rId2" cstate="print"/>
            <a:stretch>
              <a:fillRect/>
            </a:stretch>
          </p:blipFill>
          <p:spPr>
            <a:xfrm>
              <a:off x="457200" y="6438900"/>
              <a:ext cx="3286125" cy="266700"/>
            </a:xfrm>
            <a:prstGeom prst="rect">
              <a:avLst/>
            </a:prstGeom>
          </p:spPr>
        </p:pic>
      </p:grpSp>
      <p:sp>
        <p:nvSpPr>
          <p:cNvPr id="23" name="object 23"/>
          <p:cNvSpPr txBox="1">
            <a:spLocks noGrp="1"/>
          </p:cNvSpPr>
          <p:nvPr>
            <p:ph type="ftr" idx="5" sz="quarter"/>
          </p:nvPr>
        </p:nvSpPr>
        <p:spPr>
          <a:xfrm>
            <a:off x="8531352" y="6528816"/>
            <a:ext cx="3200400" cy="173736"/>
          </a:xfrm>
          <a:prstGeom prst="rect"/>
        </p:spPr>
        <p:txBody>
          <a:bodyPr wrap="square" lIns="0" tIns="3175" rIns="0" bIns="0" rtlCol="0" vert="horz">
            <a:spAutoFit/>
          </a:body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5475" y="559494"/>
            <a:ext cx="314325" cy="330200"/>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FFFFFF"/>
                </a:solidFill>
                <a:latin typeface="Roboto"/>
                <a:cs typeface="Roboto"/>
              </a:rPr>
              <a:t>02</a:t>
            </a:r>
            <a:endParaRPr sz="2000">
              <a:latin typeface="Roboto"/>
              <a:cs typeface="Roboto"/>
            </a:endParaRPr>
          </a:p>
        </p:txBody>
      </p:sp>
      <p:sp>
        <p:nvSpPr>
          <p:cNvPr id="3" name="object 3"/>
          <p:cNvSpPr txBox="1"/>
          <p:nvPr/>
        </p:nvSpPr>
        <p:spPr>
          <a:xfrm>
            <a:off x="1216025" y="471586"/>
            <a:ext cx="457200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B8933F"/>
                </a:solidFill>
                <a:latin typeface="Roboto"/>
                <a:cs typeface="Roboto"/>
              </a:rPr>
              <a:t>YOUR</a:t>
            </a:r>
            <a:r>
              <a:rPr dirty="0" sz="1200" spc="-50" b="1">
                <a:solidFill>
                  <a:srgbClr val="B8933F"/>
                </a:solidFill>
                <a:latin typeface="Roboto"/>
                <a:cs typeface="Roboto"/>
              </a:rPr>
              <a:t> </a:t>
            </a:r>
            <a:r>
              <a:rPr dirty="0" sz="1200" spc="-20" b="1">
                <a:solidFill>
                  <a:srgbClr val="B8933F"/>
                </a:solidFill>
                <a:latin typeface="Roboto"/>
                <a:cs typeface="Roboto"/>
              </a:rPr>
              <a:t>IDEA</a:t>
            </a:r>
            <a:endParaRPr sz="1200">
              <a:latin typeface="Roboto"/>
              <a:cs typeface="Roboto"/>
            </a:endParaRPr>
          </a:p>
        </p:txBody>
      </p:sp>
      <p:sp>
        <p:nvSpPr>
          <p:cNvPr id="4" name="object 4" descr="$PPTXTitle"/>
          <p:cNvSpPr txBox="1">
            <a:spLocks noGrp="1"/>
          </p:cNvSpPr>
          <p:nvPr>
            <p:ph type="title"/>
          </p:nvPr>
        </p:nvSpPr>
        <p:spPr>
          <a:xfrm>
            <a:ext cx="8046720" cy="0"/>
          </a:xfrm>
          <a:prstGeom prst="rect"/>
        </p:spPr>
        <p:txBody>
          <a:bodyPr wrap="square" lIns="0" tIns="12700" rIns="0" bIns="0" rtlCol="0" vert="horz">
            <a:spAutoFit/>
          </a:bodyPr>
          <a:lstStyle/>
          <a:p>
            <a:pPr marL="12700">
              <a:lnSpc>
                <a:spcPct val="100000"/>
              </a:lnSpc>
              <a:spcBef>
                <a:spcPts val="100"/>
              </a:spcBef>
            </a:pPr>
            <a:r>
              <a:rPr dirty="0"/>
              <a:t>Proposed</a:t>
            </a:r>
            <a:r>
              <a:rPr dirty="0" spc="-20"/>
              <a:t> </a:t>
            </a:r>
            <a:r>
              <a:rPr dirty="0" spc="-10"/>
              <a:t>Solution</a:t>
            </a:r>
          </a:p>
        </p:txBody>
      </p:sp>
      <p:grpSp>
        <p:nvGrpSpPr>
          <p:cNvPr id="5" name="object 5"/>
          <p:cNvGrpSpPr/>
          <p:nvPr/>
        </p:nvGrpSpPr>
        <p:grpSpPr>
          <a:xfrm>
            <a:off x="542925" y="1366837"/>
            <a:ext cx="11058525" cy="9525"/>
            <a:chOff x="542925" y="1366837"/>
            <a:chExt cx="11058525" cy="9525"/>
          </a:xfrm>
        </p:grpSpPr>
        <p:sp>
          <p:nvSpPr>
            <p:cNvPr id="6" name="object 6"/>
            <p:cNvSpPr/>
            <p:nvPr/>
          </p:nvSpPr>
          <p:spPr>
            <a:xfrm>
              <a:off x="542925" y="1371600"/>
              <a:ext cx="11058525" cy="0"/>
            </a:xfrm>
            <a:custGeom>
              <a:avLst/>
              <a:gdLst/>
              <a:ahLst/>
              <a:cxnLst/>
              <a:rect l="l" t="t" r="r" b="b"/>
              <a:pathLst>
                <a:path w="11058525" h="0">
                  <a:moveTo>
                    <a:pt x="11058525" y="0"/>
                  </a:moveTo>
                  <a:lnTo>
                    <a:pt x="0" y="0"/>
                  </a:lnTo>
                </a:path>
              </a:pathLst>
            </a:custGeom>
            <a:solidFill>
              <a:srgbClr val="D8DCE3"/>
            </a:solidFill>
          </p:spPr>
          <p:txBody>
            <a:bodyPr wrap="square" lIns="0" tIns="0" rIns="0" bIns="0" rtlCol="0"/>
            <a:lstStyle/>
            <a:p/>
          </p:txBody>
        </p:sp>
        <p:sp>
          <p:nvSpPr>
            <p:cNvPr id="7" name="object 7"/>
            <p:cNvSpPr/>
            <p:nvPr/>
          </p:nvSpPr>
          <p:spPr>
            <a:xfrm>
              <a:off x="542925" y="1371600"/>
              <a:ext cx="11058525" cy="0"/>
            </a:xfrm>
            <a:custGeom>
              <a:avLst/>
              <a:gdLst/>
              <a:ahLst/>
              <a:cxnLst/>
              <a:rect l="l" t="t" r="r" b="b"/>
              <a:pathLst>
                <a:path w="11058525" h="0">
                  <a:moveTo>
                    <a:pt x="0" y="0"/>
                  </a:moveTo>
                  <a:lnTo>
                    <a:pt x="11058525" y="0"/>
                  </a:lnTo>
                </a:path>
              </a:pathLst>
            </a:custGeom>
            <a:ln w="9525">
              <a:solidFill>
                <a:srgbClr val="D8DCE3"/>
              </a:solidFill>
            </a:ln>
          </p:spPr>
          <p:txBody>
            <a:bodyPr wrap="square" lIns="0" tIns="0" rIns="0" bIns="0" rtlCol="0"/>
            <a:lstStyle/>
            <a:p/>
          </p:txBody>
        </p:sp>
      </p:grpSp>
      <p:grpSp>
        <p:nvGrpSpPr>
          <p:cNvPr id="8" name="object 8"/>
          <p:cNvGrpSpPr/>
          <p:nvPr/>
        </p:nvGrpSpPr>
        <p:grpSpPr>
          <a:xfrm>
            <a:off x="538162" y="1681162"/>
            <a:ext cx="11096625" cy="1971675"/>
            <a:chOff x="538162" y="1681162"/>
            <a:chExt cx="11096625" cy="1971675"/>
          </a:xfrm>
        </p:grpSpPr>
        <p:sp>
          <p:nvSpPr>
            <p:cNvPr id="9" name="object 9"/>
            <p:cNvSpPr/>
            <p:nvPr/>
          </p:nvSpPr>
          <p:spPr>
            <a:xfrm>
              <a:off x="542925" y="1685925"/>
              <a:ext cx="11087100" cy="1962150"/>
            </a:xfrm>
            <a:custGeom>
              <a:avLst/>
              <a:gdLst/>
              <a:ahLst/>
              <a:cxnLst/>
              <a:rect l="l" t="t" r="r" b="b"/>
              <a:pathLst>
                <a:path w="11087100" h="1962150">
                  <a:moveTo>
                    <a:pt x="11014088" y="1962150"/>
                  </a:moveTo>
                  <a:lnTo>
                    <a:pt x="73011" y="1962150"/>
                  </a:lnTo>
                  <a:lnTo>
                    <a:pt x="58444" y="1960813"/>
                  </a:lnTo>
                  <a:lnTo>
                    <a:pt x="21384" y="1940765"/>
                  </a:lnTo>
                  <a:lnTo>
                    <a:pt x="1336" y="1903706"/>
                  </a:lnTo>
                  <a:lnTo>
                    <a:pt x="0" y="1889138"/>
                  </a:lnTo>
                  <a:lnTo>
                    <a:pt x="0" y="73011"/>
                  </a:lnTo>
                  <a:lnTo>
                    <a:pt x="12028" y="32630"/>
                  </a:lnTo>
                  <a:lnTo>
                    <a:pt x="44983" y="5346"/>
                  </a:lnTo>
                  <a:lnTo>
                    <a:pt x="73011" y="0"/>
                  </a:lnTo>
                  <a:lnTo>
                    <a:pt x="11014088" y="0"/>
                  </a:lnTo>
                  <a:lnTo>
                    <a:pt x="11054468" y="12028"/>
                  </a:lnTo>
                  <a:lnTo>
                    <a:pt x="11081753" y="44983"/>
                  </a:lnTo>
                  <a:lnTo>
                    <a:pt x="11087100" y="73011"/>
                  </a:lnTo>
                  <a:lnTo>
                    <a:pt x="11087100" y="1889138"/>
                  </a:lnTo>
                  <a:lnTo>
                    <a:pt x="11075071" y="1929519"/>
                  </a:lnTo>
                  <a:lnTo>
                    <a:pt x="11042116" y="1956803"/>
                  </a:lnTo>
                  <a:lnTo>
                    <a:pt x="11014088" y="1962150"/>
                  </a:lnTo>
                  <a:close/>
                </a:path>
              </a:pathLst>
            </a:custGeom>
            <a:solidFill>
              <a:srgbClr val="FFFFFF"/>
            </a:solidFill>
          </p:spPr>
          <p:txBody>
            <a:bodyPr wrap="square" lIns="0" tIns="0" rIns="0" bIns="0" rtlCol="0"/>
            <a:lstStyle/>
            <a:p/>
          </p:txBody>
        </p:sp>
        <p:sp>
          <p:nvSpPr>
            <p:cNvPr id="10" name="object 10"/>
            <p:cNvSpPr/>
            <p:nvPr/>
          </p:nvSpPr>
          <p:spPr>
            <a:xfrm>
              <a:off x="542925" y="1685925"/>
              <a:ext cx="11087100" cy="1962150"/>
            </a:xfrm>
            <a:custGeom>
              <a:avLst/>
              <a:gdLst/>
              <a:ahLst/>
              <a:cxnLst/>
              <a:rect l="l" t="t" r="r" b="b"/>
              <a:pathLst>
                <a:path w="11087100" h="1962150">
                  <a:moveTo>
                    <a:pt x="0" y="73011"/>
                  </a:moveTo>
                  <a:lnTo>
                    <a:pt x="12028" y="32630"/>
                  </a:lnTo>
                  <a:lnTo>
                    <a:pt x="44983" y="5346"/>
                  </a:lnTo>
                  <a:lnTo>
                    <a:pt x="73011" y="0"/>
                  </a:lnTo>
                  <a:lnTo>
                    <a:pt x="11014088" y="0"/>
                  </a:lnTo>
                  <a:lnTo>
                    <a:pt x="11054468" y="12028"/>
                  </a:lnTo>
                  <a:lnTo>
                    <a:pt x="11081753" y="44983"/>
                  </a:lnTo>
                  <a:lnTo>
                    <a:pt x="11087100" y="73011"/>
                  </a:lnTo>
                  <a:lnTo>
                    <a:pt x="11087100" y="1889138"/>
                  </a:lnTo>
                  <a:lnTo>
                    <a:pt x="11075071" y="1929519"/>
                  </a:lnTo>
                  <a:lnTo>
                    <a:pt x="11042116" y="1956803"/>
                  </a:lnTo>
                  <a:lnTo>
                    <a:pt x="11014088" y="1962150"/>
                  </a:lnTo>
                  <a:lnTo>
                    <a:pt x="73011" y="1962150"/>
                  </a:lnTo>
                  <a:lnTo>
                    <a:pt x="32630" y="1950120"/>
                  </a:lnTo>
                  <a:lnTo>
                    <a:pt x="5346" y="1917166"/>
                  </a:lnTo>
                  <a:lnTo>
                    <a:pt x="0" y="1889138"/>
                  </a:lnTo>
                  <a:lnTo>
                    <a:pt x="0" y="73011"/>
                  </a:lnTo>
                  <a:close/>
                </a:path>
                <a:path w="11087100" h="1962150">
                  <a:moveTo>
                    <a:pt x="0" y="73011"/>
                  </a:moveTo>
                  <a:lnTo>
                    <a:pt x="12028" y="32630"/>
                  </a:lnTo>
                  <a:lnTo>
                    <a:pt x="44983" y="5346"/>
                  </a:lnTo>
                  <a:lnTo>
                    <a:pt x="73011" y="0"/>
                  </a:lnTo>
                  <a:lnTo>
                    <a:pt x="11014088" y="0"/>
                  </a:lnTo>
                  <a:lnTo>
                    <a:pt x="11054468" y="12028"/>
                  </a:lnTo>
                  <a:lnTo>
                    <a:pt x="11081753" y="44983"/>
                  </a:lnTo>
                  <a:lnTo>
                    <a:pt x="11087100" y="73011"/>
                  </a:lnTo>
                  <a:lnTo>
                    <a:pt x="11087100" y="1889138"/>
                  </a:lnTo>
                  <a:lnTo>
                    <a:pt x="11075071" y="1929519"/>
                  </a:lnTo>
                  <a:lnTo>
                    <a:pt x="11042116" y="1956803"/>
                  </a:lnTo>
                  <a:lnTo>
                    <a:pt x="11014088" y="1962150"/>
                  </a:lnTo>
                  <a:lnTo>
                    <a:pt x="73011" y="1962150"/>
                  </a:lnTo>
                  <a:lnTo>
                    <a:pt x="32630" y="1950120"/>
                  </a:lnTo>
                  <a:lnTo>
                    <a:pt x="5346" y="1917166"/>
                  </a:lnTo>
                  <a:lnTo>
                    <a:pt x="0" y="1889138"/>
                  </a:lnTo>
                  <a:lnTo>
                    <a:pt x="0" y="73011"/>
                  </a:lnTo>
                  <a:close/>
                </a:path>
              </a:pathLst>
            </a:custGeom>
            <a:ln w="9525">
              <a:solidFill>
                <a:srgbClr val="D8DCE3"/>
              </a:solidFill>
            </a:ln>
          </p:spPr>
          <p:txBody>
            <a:bodyPr wrap="square" lIns="0" tIns="0" rIns="0" bIns="0" rtlCol="0"/>
            <a:lstStyle/>
            <a:p/>
          </p:txBody>
        </p:sp>
      </p:grpSp>
      <p:sp>
        <p:nvSpPr>
          <p:cNvPr id="11" name="object 11"/>
          <p:cNvSpPr txBox="1"/>
          <p:nvPr/>
        </p:nvSpPr>
        <p:spPr>
          <a:xfrm>
            <a:off x="758825" y="1766843"/>
            <a:ext cx="10561320" cy="565785"/>
          </a:xfrm>
          <a:prstGeom prst="rect">
            <a:avLst/>
          </a:prstGeom>
        </p:spPr>
        <p:txBody>
          <a:bodyPr wrap="square" lIns="0" tIns="106680" rIns="0" bIns="0" rtlCol="0" vert="horz">
            <a:spAutoFit/>
          </a:bodyPr>
          <a:lstStyle/>
          <a:p>
            <a:pPr marL="12700">
              <a:lnSpc>
                <a:spcPct val="100000"/>
              </a:lnSpc>
              <a:spcBef>
                <a:spcPts val="840"/>
              </a:spcBef>
            </a:pPr>
            <a:r>
              <a:rPr dirty="0" sz="1300" b="1">
                <a:solidFill>
                  <a:srgbClr val="1E2A4A"/>
                </a:solidFill>
                <a:latin typeface="Roboto"/>
                <a:cs typeface="Roboto"/>
              </a:rPr>
              <a:t>What is your solution?</a:t>
            </a:r>
            <a:endParaRPr sz="1300">
              <a:latin typeface="Roboto"/>
              <a:cs typeface="Roboto"/>
            </a:endParaRPr>
          </a:p>
          <a:p>
            <a:pPr marL="12700">
              <a:lnSpc>
                <a:spcPct val="100000"/>
              </a:lnSpc>
              <a:spcBef>
                <a:spcPts val="630"/>
              </a:spcBef>
            </a:pPr>
            <a:r>
              <a:rPr dirty="0" sz="1100" spc="-10">
                <a:solidFill>
                  <a:srgbClr val="5B6472"/>
                </a:solidFill>
                <a:latin typeface="Roboto"/>
                <a:cs typeface="Roboto"/>
              </a:rPr>
              <a:t>Firebreak reads an ordinary alarm stream and answers the three questions no deployed system answers: which alarm becomes a catastrophe, what happens if nobody acts, and the cheapest action that stops it — with a deadline. The criterion is one number. An abnormality is dangerous exactly when its local branching ratio  nᵢ = Σ αᵢⱼ · sⱼ(t)  exceeds 1 — danger is not a property of an event, it is a property of its position in a network. The α are mined from near-misses already in the logs, not declared by an expert.</a:t>
            </a:r>
            <a:endParaRPr sz="1100">
              <a:latin typeface="Roboto"/>
              <a:cs typeface="Roboto"/>
            </a:endParaRPr>
          </a:p>
        </p:txBody>
      </p:sp>
      <p:grpSp>
        <p:nvGrpSpPr>
          <p:cNvPr id="12" name="object 12"/>
          <p:cNvGrpSpPr/>
          <p:nvPr/>
        </p:nvGrpSpPr>
        <p:grpSpPr>
          <a:xfrm>
            <a:off x="538162" y="3786187"/>
            <a:ext cx="11096625" cy="2152650"/>
            <a:chOff x="538162" y="3786187"/>
            <a:chExt cx="11096625" cy="2152650"/>
          </a:xfrm>
        </p:grpSpPr>
        <p:sp>
          <p:nvSpPr>
            <p:cNvPr id="13" name="object 13"/>
            <p:cNvSpPr/>
            <p:nvPr/>
          </p:nvSpPr>
          <p:spPr>
            <a:xfrm>
              <a:off x="542925" y="3790950"/>
              <a:ext cx="11087100" cy="2143125"/>
            </a:xfrm>
            <a:custGeom>
              <a:avLst/>
              <a:gdLst/>
              <a:ahLst/>
              <a:cxnLst/>
              <a:rect l="l" t="t" r="r" b="b"/>
              <a:pathLst>
                <a:path w="11087100" h="2143125">
                  <a:moveTo>
                    <a:pt x="11014148" y="2143125"/>
                  </a:moveTo>
                  <a:lnTo>
                    <a:pt x="72951" y="2143125"/>
                  </a:lnTo>
                  <a:lnTo>
                    <a:pt x="58396" y="2141789"/>
                  </a:lnTo>
                  <a:lnTo>
                    <a:pt x="21367" y="2121757"/>
                  </a:lnTo>
                  <a:lnTo>
                    <a:pt x="1335" y="2084728"/>
                  </a:lnTo>
                  <a:lnTo>
                    <a:pt x="0" y="2070173"/>
                  </a:lnTo>
                  <a:lnTo>
                    <a:pt x="0" y="72952"/>
                  </a:lnTo>
                  <a:lnTo>
                    <a:pt x="12018" y="32603"/>
                  </a:lnTo>
                  <a:lnTo>
                    <a:pt x="44946" y="5341"/>
                  </a:lnTo>
                  <a:lnTo>
                    <a:pt x="72951" y="0"/>
                  </a:lnTo>
                  <a:lnTo>
                    <a:pt x="11014148" y="0"/>
                  </a:lnTo>
                  <a:lnTo>
                    <a:pt x="11054495" y="12019"/>
                  </a:lnTo>
                  <a:lnTo>
                    <a:pt x="11081758" y="44946"/>
                  </a:lnTo>
                  <a:lnTo>
                    <a:pt x="11087100" y="72952"/>
                  </a:lnTo>
                  <a:lnTo>
                    <a:pt x="11087100" y="2070173"/>
                  </a:lnTo>
                  <a:lnTo>
                    <a:pt x="11075080" y="2110520"/>
                  </a:lnTo>
                  <a:lnTo>
                    <a:pt x="11042152" y="2137783"/>
                  </a:lnTo>
                  <a:lnTo>
                    <a:pt x="11014148" y="2143125"/>
                  </a:lnTo>
                  <a:close/>
                </a:path>
              </a:pathLst>
            </a:custGeom>
            <a:solidFill>
              <a:srgbClr val="FFFFFF"/>
            </a:solidFill>
          </p:spPr>
          <p:txBody>
            <a:bodyPr wrap="square" lIns="0" tIns="0" rIns="0" bIns="0" rtlCol="0"/>
            <a:lstStyle/>
            <a:p/>
          </p:txBody>
        </p:sp>
        <p:sp>
          <p:nvSpPr>
            <p:cNvPr id="14" name="object 14"/>
            <p:cNvSpPr/>
            <p:nvPr/>
          </p:nvSpPr>
          <p:spPr>
            <a:xfrm>
              <a:off x="542925" y="3790950"/>
              <a:ext cx="11087100" cy="2143125"/>
            </a:xfrm>
            <a:custGeom>
              <a:avLst/>
              <a:gdLst/>
              <a:ahLst/>
              <a:cxnLst/>
              <a:rect l="l" t="t" r="r" b="b"/>
              <a:pathLst>
                <a:path w="11087100" h="2143125">
                  <a:moveTo>
                    <a:pt x="0" y="72952"/>
                  </a:moveTo>
                  <a:lnTo>
                    <a:pt x="12018" y="32603"/>
                  </a:lnTo>
                  <a:lnTo>
                    <a:pt x="44946" y="5341"/>
                  </a:lnTo>
                  <a:lnTo>
                    <a:pt x="72951" y="0"/>
                  </a:lnTo>
                  <a:lnTo>
                    <a:pt x="11014148" y="0"/>
                  </a:lnTo>
                  <a:lnTo>
                    <a:pt x="11054495" y="12019"/>
                  </a:lnTo>
                  <a:lnTo>
                    <a:pt x="11081758" y="44946"/>
                  </a:lnTo>
                  <a:lnTo>
                    <a:pt x="11087100" y="72952"/>
                  </a:lnTo>
                  <a:lnTo>
                    <a:pt x="11087100" y="2070173"/>
                  </a:lnTo>
                  <a:lnTo>
                    <a:pt x="11075080" y="2110520"/>
                  </a:lnTo>
                  <a:lnTo>
                    <a:pt x="11042152" y="2137783"/>
                  </a:lnTo>
                  <a:lnTo>
                    <a:pt x="11014148" y="2143125"/>
                  </a:lnTo>
                  <a:lnTo>
                    <a:pt x="72951" y="2143125"/>
                  </a:lnTo>
                  <a:lnTo>
                    <a:pt x="32603" y="2131105"/>
                  </a:lnTo>
                  <a:lnTo>
                    <a:pt x="5341" y="2098177"/>
                  </a:lnTo>
                  <a:lnTo>
                    <a:pt x="0" y="2070173"/>
                  </a:lnTo>
                  <a:lnTo>
                    <a:pt x="0" y="72952"/>
                  </a:lnTo>
                  <a:close/>
                </a:path>
                <a:path w="11087100" h="2143125">
                  <a:moveTo>
                    <a:pt x="0" y="72952"/>
                  </a:moveTo>
                  <a:lnTo>
                    <a:pt x="12018" y="32603"/>
                  </a:lnTo>
                  <a:lnTo>
                    <a:pt x="44946" y="5341"/>
                  </a:lnTo>
                  <a:lnTo>
                    <a:pt x="72951" y="0"/>
                  </a:lnTo>
                  <a:lnTo>
                    <a:pt x="11014148" y="0"/>
                  </a:lnTo>
                  <a:lnTo>
                    <a:pt x="11054495" y="12019"/>
                  </a:lnTo>
                  <a:lnTo>
                    <a:pt x="11081758" y="44946"/>
                  </a:lnTo>
                  <a:lnTo>
                    <a:pt x="11087100" y="72952"/>
                  </a:lnTo>
                  <a:lnTo>
                    <a:pt x="11087100" y="2070173"/>
                  </a:lnTo>
                  <a:lnTo>
                    <a:pt x="11075080" y="2110520"/>
                  </a:lnTo>
                  <a:lnTo>
                    <a:pt x="11042152" y="2137783"/>
                  </a:lnTo>
                  <a:lnTo>
                    <a:pt x="11014148" y="2143125"/>
                  </a:lnTo>
                  <a:lnTo>
                    <a:pt x="72951" y="2143125"/>
                  </a:lnTo>
                  <a:lnTo>
                    <a:pt x="32603" y="2131105"/>
                  </a:lnTo>
                  <a:lnTo>
                    <a:pt x="5341" y="2098177"/>
                  </a:lnTo>
                  <a:lnTo>
                    <a:pt x="0" y="2070173"/>
                  </a:lnTo>
                  <a:lnTo>
                    <a:pt x="0" y="72952"/>
                  </a:lnTo>
                  <a:close/>
                </a:path>
              </a:pathLst>
            </a:custGeom>
            <a:ln w="9525">
              <a:solidFill>
                <a:srgbClr val="D8DCE3"/>
              </a:solidFill>
            </a:ln>
          </p:spPr>
          <p:txBody>
            <a:bodyPr wrap="square" lIns="0" tIns="0" rIns="0" bIns="0" rtlCol="0"/>
            <a:lstStyle/>
            <a:p/>
          </p:txBody>
        </p:sp>
      </p:grpSp>
      <p:sp>
        <p:nvSpPr>
          <p:cNvPr id="15" name="object 15"/>
          <p:cNvSpPr txBox="1"/>
          <p:nvPr/>
        </p:nvSpPr>
        <p:spPr>
          <a:xfrm>
            <a:off x="758825" y="3851087"/>
            <a:ext cx="10561320" cy="586740"/>
          </a:xfrm>
          <a:prstGeom prst="rect">
            <a:avLst/>
          </a:prstGeom>
        </p:spPr>
        <p:txBody>
          <a:bodyPr wrap="square" lIns="0" tIns="118110" rIns="0" bIns="0" rtlCol="0" vert="horz">
            <a:spAutoFit/>
          </a:bodyPr>
          <a:lstStyle/>
          <a:p>
            <a:pPr marL="12700">
              <a:lnSpc>
                <a:spcPct val="100000"/>
              </a:lnSpc>
              <a:spcBef>
                <a:spcPts val="930"/>
              </a:spcBef>
            </a:pPr>
            <a:r>
              <a:rPr dirty="0" sz="1300" b="1">
                <a:solidFill>
                  <a:srgbClr val="1E2A4A"/>
                </a:solidFill>
                <a:latin typeface="Roboto"/>
                <a:cs typeface="Roboto"/>
              </a:rPr>
              <a:t>How does it work?</a:t>
            </a:r>
            <a:endParaRPr sz="1300">
              <a:latin typeface="Roboto"/>
              <a:cs typeface="Roboto"/>
            </a:endParaRPr>
          </a:p>
          <a:p>
            <a:pPr marL="12700">
              <a:lnSpc>
                <a:spcPct val="100000"/>
              </a:lnSpc>
              <a:spcBef>
                <a:spcPts val="705"/>
              </a:spcBef>
            </a:pPr>
            <a:r>
              <a:rPr dirty="0" sz="1050">
                <a:solidFill>
                  <a:srgbClr val="5B6472"/>
                </a:solidFill>
                <a:latin typeface="Roboto"/>
                <a:cs typeface="Roboto"/>
              </a:rPr>
              <a:t>1 · Mine the near-misses — cause chains recovered from the log an operator already keeps. The miner never sees ground truth: precision 0.855, recall 0.898.</a:t>
            </a:r>
            <a:endParaRPr sz="1100">
              <a:latin typeface="Roboto"/>
              <a:cs typeface="Roboto"/>
            </a:endParaRPr>
          </a:p>
          <a:p>
            <a:pPr marL="12700">
              <a:lnSpc>
                <a:spcPct val="100000"/>
              </a:lnSpc>
              <a:spcBef>
                <a:spcPts val="705"/>
              </a:spcBef>
            </a:pPr>
            <a:r>
              <a:rPr dirty="0" sz="1050">
                <a:solidFill>
                  <a:srgbClr val="5B6472"/>
                </a:solidFill>
                <a:latin typeface="Roboto"/>
                <a:cs typeface="Roboto"/>
              </a:rPr>
              <a:t>2 · Fit the kernel — a multivariate Hawkes process per dependency edge yields α (how much propagates) and β (how fast). 1,936 kernel edges.</a:t>
            </a:r>
            <a:endParaRPr sz="1100">
              <a:latin typeface="Roboto"/>
              <a:cs typeface="Roboto"/>
            </a:endParaRPr>
          </a:p>
          <a:p>
            <a:pPr marL="12700">
              <a:lnSpc>
                <a:spcPct val="100000"/>
              </a:lnSpc>
              <a:spcBef>
                <a:spcPts val="705"/>
              </a:spcBef>
            </a:pPr>
            <a:r>
              <a:rPr dirty="0" sz="1050">
                <a:solidFill>
                  <a:srgbClr val="5B6472"/>
                </a:solidFill>
                <a:latin typeface="Roboto"/>
                <a:cs typeface="Roboto"/>
              </a:rPr>
              <a:t>3 · Score the live alarms — branching ratio against current stress: ROC-AUC 0.732, against 0.483 for the anomaly score. Two alarms, identical scores, one red.</a:t>
            </a:r>
            <a:endParaRPr sz="1100">
              <a:latin typeface="Roboto"/>
              <a:cs typeface="Roboto"/>
            </a:endParaRPr>
          </a:p>
          <a:p>
            <a:pPr marL="12700">
              <a:lnSpc>
                <a:spcPct val="100000"/>
              </a:lnSpc>
              <a:spcBef>
                <a:spcPts val="705"/>
              </a:spcBef>
            </a:pPr>
            <a:r>
              <a:rPr dirty="0" sz="1050">
                <a:solidFill>
                  <a:srgbClr val="5B6472"/>
                </a:solidFill>
                <a:latin typeface="Roboto"/>
                <a:cs typeface="Roboto"/>
              </a:rPr>
              <a:t>4 · Roll it forward — Monte Carlo counterfactual. If nobody acts: 407 assets fail, 5 hospitals are hit, 1,947,483 people affected.</a:t>
            </a:r>
            <a:endParaRPr sz="1100">
              <a:latin typeface="Roboto"/>
              <a:cs typeface="Roboto"/>
            </a:endParaRPr>
          </a:p>
          <a:p>
            <a:pPr marL="12700">
              <a:lnSpc>
                <a:spcPct val="100000"/>
              </a:lnSpc>
              <a:spcBef>
                <a:spcPts val="705"/>
              </a:spcBef>
            </a:pPr>
            <a:r>
              <a:rPr dirty="0" sz="1050">
                <a:solidFill>
                  <a:srgbClr val="5B6472"/>
                </a:solidFill>
                <a:latin typeface="Roboto"/>
                <a:cs typeface="Roboto"/>
              </a:rPr>
              <a:t>5 · Pick the firebreak — the cheapest action under budget that changes that: preposition five assets, cost 12, and the option expires in 523 s.</a:t>
            </a:r>
            <a:endParaRPr sz="1100">
              <a:latin typeface="Roboto"/>
              <a:cs typeface="Roboto"/>
            </a:endParaRPr>
          </a:p>
          <a:p>
            <a:pPr marL="12700">
              <a:lnSpc>
                <a:spcPct val="100000"/>
              </a:lnSpc>
              <a:spcBef>
                <a:spcPts val="705"/>
              </a:spcBef>
            </a:pPr>
            <a:r>
              <a:rPr dirty="0" sz="1050">
                <a:solidFill>
                  <a:srgbClr val="5B6472"/>
                </a:solidFill>
                <a:latin typeface="Roboto"/>
                <a:cs typeface="Roboto"/>
              </a:rPr>
              <a:t>6 · Run it at the edge — one command prints that decision, with no server, no uplink and no LLM anywhere in the path.</a:t>
            </a:r>
            <a:endParaRPr sz="1100">
              <a:latin typeface="Roboto"/>
              <a:cs typeface="Roboto"/>
            </a:endParaRPr>
          </a:p>
        </p:txBody>
      </p:sp>
      <p:grpSp>
        <p:nvGrpSpPr>
          <p:cNvPr id="16" name="object 16"/>
          <p:cNvGrpSpPr/>
          <p:nvPr/>
        </p:nvGrpSpPr>
        <p:grpSpPr>
          <a:xfrm>
            <a:off x="0" y="6381750"/>
            <a:ext cx="12182475" cy="466725"/>
            <a:chOff x="0" y="6381750"/>
            <a:chExt cx="12182475" cy="466725"/>
          </a:xfrm>
        </p:grpSpPr>
        <p:sp>
          <p:nvSpPr>
            <p:cNvPr id="17" name="object 17"/>
            <p:cNvSpPr/>
            <p:nvPr/>
          </p:nvSpPr>
          <p:spPr>
            <a:xfrm>
              <a:off x="0" y="6381750"/>
              <a:ext cx="12182475" cy="466725"/>
            </a:xfrm>
            <a:custGeom>
              <a:avLst/>
              <a:gdLst/>
              <a:ahLst/>
              <a:cxnLst/>
              <a:rect l="l" t="t" r="r" b="b"/>
              <a:pathLst>
                <a:path w="12182475" h="466725">
                  <a:moveTo>
                    <a:pt x="12182475" y="466725"/>
                  </a:moveTo>
                  <a:lnTo>
                    <a:pt x="0" y="466725"/>
                  </a:lnTo>
                  <a:lnTo>
                    <a:pt x="0" y="0"/>
                  </a:lnTo>
                  <a:lnTo>
                    <a:pt x="12182475" y="0"/>
                  </a:lnTo>
                  <a:lnTo>
                    <a:pt x="12182475" y="466725"/>
                  </a:lnTo>
                  <a:close/>
                </a:path>
              </a:pathLst>
            </a:custGeom>
            <a:solidFill>
              <a:srgbClr val="FFFFFF"/>
            </a:solidFill>
          </p:spPr>
          <p:txBody>
            <a:bodyPr wrap="square" lIns="0" tIns="0" rIns="0" bIns="0" rtlCol="0"/>
            <a:lstStyle/>
            <a:p/>
          </p:txBody>
        </p:sp>
        <p:pic>
          <p:nvPicPr>
            <p:cNvPr id="18" name="object 18"/>
            <p:cNvPicPr/>
            <p:nvPr/>
          </p:nvPicPr>
          <p:blipFill>
            <a:blip r:embed="rId2" cstate="print"/>
            <a:stretch>
              <a:fillRect/>
            </a:stretch>
          </p:blipFill>
          <p:spPr>
            <a:xfrm>
              <a:off x="457200" y="6438900"/>
              <a:ext cx="3286125" cy="266700"/>
            </a:xfrm>
            <a:prstGeom prst="rect">
              <a:avLst/>
            </a:prstGeom>
          </p:spPr>
        </p:pic>
      </p:grpSp>
      <p:sp>
        <p:nvSpPr>
          <p:cNvPr id="19" name="object 19"/>
          <p:cNvSpPr txBox="1">
            <a:spLocks noGrp="1"/>
          </p:cNvSpPr>
          <p:nvPr>
            <p:ph type="ftr" idx="5" sz="quarter"/>
          </p:nvPr>
        </p:nvSpPr>
        <p:spPr>
          <a:xfrm>
            <a:off x="8531352" y="6528816"/>
            <a:ext cx="3200400" cy="173736"/>
          </a:xfrm>
          <a:prstGeom prst="rect"/>
        </p:spPr>
        <p:txBody>
          <a:bodyPr wrap="square" lIns="0" tIns="3175" rIns="0" bIns="0" rtlCol="0" vert="horz">
            <a:spAutoFit/>
          </a:body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5475" y="559494"/>
            <a:ext cx="314325" cy="330200"/>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FFFFFF"/>
                </a:solidFill>
                <a:latin typeface="Roboto"/>
                <a:cs typeface="Roboto"/>
              </a:rPr>
              <a:t>03</a:t>
            </a:r>
            <a:endParaRPr sz="2000">
              <a:latin typeface="Roboto"/>
              <a:cs typeface="Roboto"/>
            </a:endParaRPr>
          </a:p>
        </p:txBody>
      </p:sp>
      <p:sp>
        <p:nvSpPr>
          <p:cNvPr id="3" name="object 3"/>
          <p:cNvSpPr txBox="1"/>
          <p:nvPr/>
        </p:nvSpPr>
        <p:spPr>
          <a:xfrm>
            <a:off x="1216025" y="471586"/>
            <a:ext cx="4572000" cy="208279"/>
          </a:xfrm>
          <a:prstGeom prst="rect">
            <a:avLst/>
          </a:prstGeom>
        </p:spPr>
        <p:txBody>
          <a:bodyPr wrap="square" lIns="0" tIns="12700" rIns="0" bIns="0" rtlCol="0" vert="horz">
            <a:spAutoFit/>
          </a:bodyPr>
          <a:lstStyle/>
          <a:p>
            <a:pPr marL="12700">
              <a:lnSpc>
                <a:spcPct val="100000"/>
              </a:lnSpc>
              <a:spcBef>
                <a:spcPts val="100"/>
              </a:spcBef>
            </a:pPr>
            <a:r>
              <a:rPr dirty="0" sz="1200" b="1">
                <a:solidFill>
                  <a:srgbClr val="B8933F"/>
                </a:solidFill>
                <a:latin typeface="Roboto"/>
                <a:cs typeface="Roboto"/>
              </a:rPr>
              <a:t>WHAT</a:t>
            </a:r>
            <a:r>
              <a:rPr dirty="0" sz="1200" spc="20" b="1">
                <a:solidFill>
                  <a:srgbClr val="B8933F"/>
                </a:solidFill>
                <a:latin typeface="Roboto"/>
                <a:cs typeface="Roboto"/>
              </a:rPr>
              <a:t> </a:t>
            </a:r>
            <a:r>
              <a:rPr dirty="0" sz="1200" b="1">
                <a:solidFill>
                  <a:srgbClr val="B8933F"/>
                </a:solidFill>
                <a:latin typeface="Roboto"/>
                <a:cs typeface="Roboto"/>
              </a:rPr>
              <a:t>MAKES</a:t>
            </a:r>
            <a:r>
              <a:rPr dirty="0" sz="1200" spc="20" b="1">
                <a:solidFill>
                  <a:srgbClr val="B8933F"/>
                </a:solidFill>
                <a:latin typeface="Roboto"/>
                <a:cs typeface="Roboto"/>
              </a:rPr>
              <a:t> </a:t>
            </a:r>
            <a:r>
              <a:rPr dirty="0" sz="1200" b="1">
                <a:solidFill>
                  <a:srgbClr val="B8933F"/>
                </a:solidFill>
                <a:latin typeface="Roboto"/>
                <a:cs typeface="Roboto"/>
              </a:rPr>
              <a:t>IT</a:t>
            </a:r>
            <a:r>
              <a:rPr dirty="0" sz="1200" spc="20" b="1">
                <a:solidFill>
                  <a:srgbClr val="B8933F"/>
                </a:solidFill>
                <a:latin typeface="Roboto"/>
                <a:cs typeface="Roboto"/>
              </a:rPr>
              <a:t> </a:t>
            </a:r>
            <a:r>
              <a:rPr dirty="0" sz="1200" spc="-20" b="1">
                <a:solidFill>
                  <a:srgbClr val="B8933F"/>
                </a:solidFill>
                <a:latin typeface="Roboto"/>
                <a:cs typeface="Roboto"/>
              </a:rPr>
              <a:t>WORK</a:t>
            </a:r>
            <a:endParaRPr sz="1200">
              <a:latin typeface="Roboto"/>
              <a:cs typeface="Roboto"/>
            </a:endParaRPr>
          </a:p>
        </p:txBody>
      </p:sp>
      <p:sp>
        <p:nvSpPr>
          <p:cNvPr id="4" name="object 4" descr="$PPTXTitle"/>
          <p:cNvSpPr txBox="1">
            <a:spLocks noGrp="1"/>
          </p:cNvSpPr>
          <p:nvPr>
            <p:ph type="title"/>
          </p:nvPr>
        </p:nvSpPr>
        <p:spPr>
          <a:xfrm>
            <a:ext cx="8046720" cy="0"/>
          </a:xfrm>
          <a:prstGeom prst="rect"/>
        </p:spPr>
        <p:txBody>
          <a:bodyPr wrap="square" lIns="0" tIns="12700" rIns="0" bIns="0" rtlCol="0" vert="horz">
            <a:spAutoFit/>
          </a:bodyPr>
          <a:lstStyle/>
          <a:p>
            <a:pPr marL="12700">
              <a:lnSpc>
                <a:spcPct val="100000"/>
              </a:lnSpc>
              <a:spcBef>
                <a:spcPts val="100"/>
              </a:spcBef>
            </a:pPr>
            <a:r>
              <a:rPr dirty="0"/>
              <a:t>Key</a:t>
            </a:r>
            <a:r>
              <a:rPr dirty="0" spc="-70"/>
              <a:t> </a:t>
            </a:r>
            <a:r>
              <a:rPr dirty="0" spc="-10"/>
              <a:t>Features</a:t>
            </a:r>
          </a:p>
        </p:txBody>
      </p:sp>
      <p:grpSp>
        <p:nvGrpSpPr>
          <p:cNvPr id="5" name="object 5"/>
          <p:cNvGrpSpPr/>
          <p:nvPr/>
        </p:nvGrpSpPr>
        <p:grpSpPr>
          <a:xfrm>
            <a:off x="542925" y="1366837"/>
            <a:ext cx="11058525" cy="9525"/>
            <a:chOff x="542925" y="1366837"/>
            <a:chExt cx="11058525" cy="9525"/>
          </a:xfrm>
        </p:grpSpPr>
        <p:sp>
          <p:nvSpPr>
            <p:cNvPr id="6" name="object 6"/>
            <p:cNvSpPr/>
            <p:nvPr/>
          </p:nvSpPr>
          <p:spPr>
            <a:xfrm>
              <a:off x="542925" y="1371600"/>
              <a:ext cx="11058525" cy="0"/>
            </a:xfrm>
            <a:custGeom>
              <a:avLst/>
              <a:gdLst/>
              <a:ahLst/>
              <a:cxnLst/>
              <a:rect l="l" t="t" r="r" b="b"/>
              <a:pathLst>
                <a:path w="11058525" h="0">
                  <a:moveTo>
                    <a:pt x="11058525" y="0"/>
                  </a:moveTo>
                  <a:lnTo>
                    <a:pt x="0" y="0"/>
                  </a:lnTo>
                </a:path>
              </a:pathLst>
            </a:custGeom>
            <a:solidFill>
              <a:srgbClr val="D8DCE3"/>
            </a:solidFill>
          </p:spPr>
          <p:txBody>
            <a:bodyPr wrap="square" lIns="0" tIns="0" rIns="0" bIns="0" rtlCol="0"/>
            <a:lstStyle/>
            <a:p/>
          </p:txBody>
        </p:sp>
        <p:sp>
          <p:nvSpPr>
            <p:cNvPr id="7" name="object 7"/>
            <p:cNvSpPr/>
            <p:nvPr/>
          </p:nvSpPr>
          <p:spPr>
            <a:xfrm>
              <a:off x="542925" y="1371600"/>
              <a:ext cx="11058525" cy="0"/>
            </a:xfrm>
            <a:custGeom>
              <a:avLst/>
              <a:gdLst/>
              <a:ahLst/>
              <a:cxnLst/>
              <a:rect l="l" t="t" r="r" b="b"/>
              <a:pathLst>
                <a:path w="11058525" h="0">
                  <a:moveTo>
                    <a:pt x="0" y="0"/>
                  </a:moveTo>
                  <a:lnTo>
                    <a:pt x="11058525" y="0"/>
                  </a:lnTo>
                </a:path>
              </a:pathLst>
            </a:custGeom>
            <a:ln w="9525">
              <a:solidFill>
                <a:srgbClr val="D8DCE3"/>
              </a:solidFill>
            </a:ln>
          </p:spPr>
          <p:txBody>
            <a:bodyPr wrap="square" lIns="0" tIns="0" rIns="0" bIns="0" rtlCol="0"/>
            <a:lstStyle/>
            <a:p/>
          </p:txBody>
        </p:sp>
      </p:grpSp>
      <p:grpSp>
        <p:nvGrpSpPr>
          <p:cNvPr id="8" name="object 8"/>
          <p:cNvGrpSpPr/>
          <p:nvPr/>
        </p:nvGrpSpPr>
        <p:grpSpPr>
          <a:xfrm>
            <a:off x="538162" y="1776412"/>
            <a:ext cx="2609850" cy="4162425"/>
            <a:chOff x="538162" y="1776412"/>
            <a:chExt cx="2609850" cy="4162425"/>
          </a:xfrm>
        </p:grpSpPr>
        <p:sp>
          <p:nvSpPr>
            <p:cNvPr id="9" name="object 9"/>
            <p:cNvSpPr/>
            <p:nvPr/>
          </p:nvSpPr>
          <p:spPr>
            <a:xfrm>
              <a:off x="542925" y="1781175"/>
              <a:ext cx="2600325" cy="4152900"/>
            </a:xfrm>
            <a:custGeom>
              <a:avLst/>
              <a:gdLst/>
              <a:ahLst/>
              <a:cxnLst/>
              <a:rect l="l" t="t" r="r" b="b"/>
              <a:pathLst>
                <a:path w="2600325" h="4152900">
                  <a:moveTo>
                    <a:pt x="2527203" y="4152900"/>
                  </a:moveTo>
                  <a:lnTo>
                    <a:pt x="73121" y="4152900"/>
                  </a:lnTo>
                  <a:lnTo>
                    <a:pt x="58531" y="4151561"/>
                  </a:lnTo>
                  <a:lnTo>
                    <a:pt x="21416" y="4131483"/>
                  </a:lnTo>
                  <a:lnTo>
                    <a:pt x="1338" y="4094368"/>
                  </a:lnTo>
                  <a:lnTo>
                    <a:pt x="0" y="4079778"/>
                  </a:lnTo>
                  <a:lnTo>
                    <a:pt x="0" y="73121"/>
                  </a:lnTo>
                  <a:lnTo>
                    <a:pt x="12046" y="32679"/>
                  </a:lnTo>
                  <a:lnTo>
                    <a:pt x="45051" y="5354"/>
                  </a:lnTo>
                  <a:lnTo>
                    <a:pt x="73121" y="0"/>
                  </a:lnTo>
                  <a:lnTo>
                    <a:pt x="2527203" y="0"/>
                  </a:lnTo>
                  <a:lnTo>
                    <a:pt x="2567645" y="12046"/>
                  </a:lnTo>
                  <a:lnTo>
                    <a:pt x="2594970" y="45051"/>
                  </a:lnTo>
                  <a:lnTo>
                    <a:pt x="2600325" y="73121"/>
                  </a:lnTo>
                  <a:lnTo>
                    <a:pt x="2600325" y="4079778"/>
                  </a:lnTo>
                  <a:lnTo>
                    <a:pt x="2588277" y="4120220"/>
                  </a:lnTo>
                  <a:lnTo>
                    <a:pt x="2555273" y="4147545"/>
                  </a:lnTo>
                  <a:lnTo>
                    <a:pt x="2527203" y="4152900"/>
                  </a:lnTo>
                  <a:close/>
                </a:path>
              </a:pathLst>
            </a:custGeom>
            <a:solidFill>
              <a:srgbClr val="FFFFFF"/>
            </a:solidFill>
          </p:spPr>
          <p:txBody>
            <a:bodyPr wrap="square" lIns="0" tIns="0" rIns="0" bIns="0" rtlCol="0"/>
            <a:lstStyle/>
            <a:p/>
          </p:txBody>
        </p:sp>
        <p:sp>
          <p:nvSpPr>
            <p:cNvPr id="10" name="object 10"/>
            <p:cNvSpPr/>
            <p:nvPr/>
          </p:nvSpPr>
          <p:spPr>
            <a:xfrm>
              <a:off x="542925" y="1781175"/>
              <a:ext cx="2600325" cy="4152900"/>
            </a:xfrm>
            <a:custGeom>
              <a:avLst/>
              <a:gdLst/>
              <a:ahLst/>
              <a:cxnLst/>
              <a:rect l="l" t="t" r="r" b="b"/>
              <a:pathLst>
                <a:path w="2600325" h="4152900">
                  <a:moveTo>
                    <a:pt x="0" y="73121"/>
                  </a:moveTo>
                  <a:lnTo>
                    <a:pt x="12046" y="32679"/>
                  </a:lnTo>
                  <a:lnTo>
                    <a:pt x="45051" y="5354"/>
                  </a:lnTo>
                  <a:lnTo>
                    <a:pt x="73121" y="0"/>
                  </a:lnTo>
                  <a:lnTo>
                    <a:pt x="2527203" y="0"/>
                  </a:lnTo>
                  <a:lnTo>
                    <a:pt x="2567645" y="12046"/>
                  </a:lnTo>
                  <a:lnTo>
                    <a:pt x="2594970" y="45051"/>
                  </a:lnTo>
                  <a:lnTo>
                    <a:pt x="2600325" y="73121"/>
                  </a:lnTo>
                  <a:lnTo>
                    <a:pt x="2600325" y="4079778"/>
                  </a:lnTo>
                  <a:lnTo>
                    <a:pt x="2588277" y="4120220"/>
                  </a:lnTo>
                  <a:lnTo>
                    <a:pt x="2555273" y="4147545"/>
                  </a:lnTo>
                  <a:lnTo>
                    <a:pt x="2527203" y="4152900"/>
                  </a:lnTo>
                  <a:lnTo>
                    <a:pt x="73121" y="4152900"/>
                  </a:lnTo>
                  <a:lnTo>
                    <a:pt x="32679" y="4140853"/>
                  </a:lnTo>
                  <a:lnTo>
                    <a:pt x="5354" y="4107849"/>
                  </a:lnTo>
                  <a:lnTo>
                    <a:pt x="0" y="4079778"/>
                  </a:lnTo>
                  <a:lnTo>
                    <a:pt x="0" y="73121"/>
                  </a:lnTo>
                  <a:close/>
                </a:path>
                <a:path w="2600325" h="4152900">
                  <a:moveTo>
                    <a:pt x="0" y="73121"/>
                  </a:moveTo>
                  <a:lnTo>
                    <a:pt x="12046" y="32679"/>
                  </a:lnTo>
                  <a:lnTo>
                    <a:pt x="45051" y="5354"/>
                  </a:lnTo>
                  <a:lnTo>
                    <a:pt x="73121" y="0"/>
                  </a:lnTo>
                  <a:lnTo>
                    <a:pt x="2527203" y="0"/>
                  </a:lnTo>
                  <a:lnTo>
                    <a:pt x="2567645" y="12046"/>
                  </a:lnTo>
                  <a:lnTo>
                    <a:pt x="2594970" y="45051"/>
                  </a:lnTo>
                  <a:lnTo>
                    <a:pt x="2600325" y="73121"/>
                  </a:lnTo>
                  <a:lnTo>
                    <a:pt x="2600325" y="4079778"/>
                  </a:lnTo>
                  <a:lnTo>
                    <a:pt x="2588277" y="4120220"/>
                  </a:lnTo>
                  <a:lnTo>
                    <a:pt x="2555273" y="4147545"/>
                  </a:lnTo>
                  <a:lnTo>
                    <a:pt x="2527203" y="4152900"/>
                  </a:lnTo>
                  <a:lnTo>
                    <a:pt x="73121" y="4152900"/>
                  </a:lnTo>
                  <a:lnTo>
                    <a:pt x="32679" y="4140853"/>
                  </a:lnTo>
                  <a:lnTo>
                    <a:pt x="5354" y="4107849"/>
                  </a:lnTo>
                  <a:lnTo>
                    <a:pt x="0" y="4079778"/>
                  </a:lnTo>
                  <a:lnTo>
                    <a:pt x="0" y="73121"/>
                  </a:lnTo>
                  <a:close/>
                </a:path>
              </a:pathLst>
            </a:custGeom>
            <a:ln w="9525">
              <a:solidFill>
                <a:srgbClr val="D8DCE3"/>
              </a:solidFill>
            </a:ln>
          </p:spPr>
          <p:txBody>
            <a:bodyPr wrap="square" lIns="0" tIns="0" rIns="0" bIns="0" rtlCol="0"/>
            <a:lstStyle/>
            <a:p/>
          </p:txBody>
        </p:sp>
        <p:sp>
          <p:nvSpPr>
            <p:cNvPr id="11" name="object 11"/>
            <p:cNvSpPr/>
            <p:nvPr/>
          </p:nvSpPr>
          <p:spPr>
            <a:xfrm>
              <a:off x="1571625" y="2057400"/>
              <a:ext cx="542925" cy="542925"/>
            </a:xfrm>
            <a:custGeom>
              <a:avLst/>
              <a:gdLst/>
              <a:ahLst/>
              <a:cxnLst/>
              <a:rect l="l" t="t" r="r" b="b"/>
              <a:pathLst>
                <a:path w="542925" h="542925">
                  <a:moveTo>
                    <a:pt x="271462" y="542925"/>
                  </a:moveTo>
                  <a:lnTo>
                    <a:pt x="218492" y="537758"/>
                  </a:lnTo>
                  <a:lnTo>
                    <a:pt x="167578" y="522261"/>
                  </a:lnTo>
                  <a:lnTo>
                    <a:pt x="120617" y="497217"/>
                  </a:lnTo>
                  <a:lnTo>
                    <a:pt x="79509" y="463415"/>
                  </a:lnTo>
                  <a:lnTo>
                    <a:pt x="45707" y="422307"/>
                  </a:lnTo>
                  <a:lnTo>
                    <a:pt x="20663" y="375346"/>
                  </a:lnTo>
                  <a:lnTo>
                    <a:pt x="5165" y="324432"/>
                  </a:lnTo>
                  <a:lnTo>
                    <a:pt x="0" y="271462"/>
                  </a:lnTo>
                  <a:lnTo>
                    <a:pt x="1291" y="244720"/>
                  </a:lnTo>
                  <a:lnTo>
                    <a:pt x="11623" y="192778"/>
                  </a:lnTo>
                  <a:lnTo>
                    <a:pt x="32090" y="143366"/>
                  </a:lnTo>
                  <a:lnTo>
                    <a:pt x="61513" y="99331"/>
                  </a:lnTo>
                  <a:lnTo>
                    <a:pt x="99331" y="61513"/>
                  </a:lnTo>
                  <a:lnTo>
                    <a:pt x="143366" y="32090"/>
                  </a:lnTo>
                  <a:lnTo>
                    <a:pt x="192778" y="11623"/>
                  </a:lnTo>
                  <a:lnTo>
                    <a:pt x="244720" y="1291"/>
                  </a:lnTo>
                  <a:lnTo>
                    <a:pt x="271462" y="0"/>
                  </a:lnTo>
                  <a:lnTo>
                    <a:pt x="298204" y="1291"/>
                  </a:lnTo>
                  <a:lnTo>
                    <a:pt x="350146" y="11623"/>
                  </a:lnTo>
                  <a:lnTo>
                    <a:pt x="399558" y="32090"/>
                  </a:lnTo>
                  <a:lnTo>
                    <a:pt x="443592" y="61513"/>
                  </a:lnTo>
                  <a:lnTo>
                    <a:pt x="481411" y="99331"/>
                  </a:lnTo>
                  <a:lnTo>
                    <a:pt x="510834" y="143366"/>
                  </a:lnTo>
                  <a:lnTo>
                    <a:pt x="531301" y="192778"/>
                  </a:lnTo>
                  <a:lnTo>
                    <a:pt x="541633" y="244720"/>
                  </a:lnTo>
                  <a:lnTo>
                    <a:pt x="542925" y="271462"/>
                  </a:lnTo>
                  <a:lnTo>
                    <a:pt x="541633" y="298204"/>
                  </a:lnTo>
                  <a:lnTo>
                    <a:pt x="531301" y="350146"/>
                  </a:lnTo>
                  <a:lnTo>
                    <a:pt x="510834" y="399558"/>
                  </a:lnTo>
                  <a:lnTo>
                    <a:pt x="481411" y="443592"/>
                  </a:lnTo>
                  <a:lnTo>
                    <a:pt x="443592" y="481411"/>
                  </a:lnTo>
                  <a:lnTo>
                    <a:pt x="399558" y="510834"/>
                  </a:lnTo>
                  <a:lnTo>
                    <a:pt x="350146" y="531301"/>
                  </a:lnTo>
                  <a:lnTo>
                    <a:pt x="298204" y="541633"/>
                  </a:lnTo>
                  <a:lnTo>
                    <a:pt x="271462" y="542925"/>
                  </a:lnTo>
                  <a:close/>
                </a:path>
              </a:pathLst>
            </a:custGeom>
            <a:solidFill>
              <a:srgbClr val="1E2A4A"/>
            </a:solidFill>
          </p:spPr>
          <p:txBody>
            <a:bodyPr wrap="square" lIns="0" tIns="0" rIns="0" bIns="0" rtlCol="0"/>
            <a:lstStyle/>
            <a:p/>
          </p:txBody>
        </p:sp>
      </p:grpSp>
      <p:sp>
        <p:nvSpPr>
          <p:cNvPr id="12" name="object 12"/>
          <p:cNvSpPr txBox="1"/>
          <p:nvPr/>
        </p:nvSpPr>
        <p:spPr>
          <a:xfrm>
            <a:off x="1758950" y="2161530"/>
            <a:ext cx="154305" cy="299720"/>
          </a:xfrm>
          <a:prstGeom prst="rect">
            <a:avLst/>
          </a:prstGeom>
        </p:spPr>
        <p:txBody>
          <a:bodyPr wrap="square" lIns="0" tIns="12700" rIns="0" bIns="0" rtlCol="0" vert="horz">
            <a:spAutoFit/>
          </a:bodyPr>
          <a:lstStyle/>
          <a:p>
            <a:pPr marL="12700">
              <a:lnSpc>
                <a:spcPct val="100000"/>
              </a:lnSpc>
              <a:spcBef>
                <a:spcPts val="100"/>
              </a:spcBef>
            </a:pPr>
            <a:r>
              <a:rPr dirty="0" sz="1800" spc="-50" b="1">
                <a:solidFill>
                  <a:srgbClr val="FFFFFF"/>
                </a:solidFill>
                <a:latin typeface="Roboto"/>
                <a:cs typeface="Roboto"/>
              </a:rPr>
              <a:t>1</a:t>
            </a:r>
            <a:endParaRPr sz="1800">
              <a:latin typeface="Roboto"/>
              <a:cs typeface="Roboto"/>
            </a:endParaRPr>
          </a:p>
        </p:txBody>
      </p:sp>
      <p:sp>
        <p:nvSpPr>
          <p:cNvPr id="13" name="object 13"/>
          <p:cNvSpPr txBox="1"/>
          <p:nvPr/>
        </p:nvSpPr>
        <p:spPr>
          <a:xfrm>
            <a:off x="664845" y="2832868"/>
            <a:ext cx="2331720" cy="530860"/>
          </a:xfrm>
          <a:prstGeom prst="rect">
            <a:avLst/>
          </a:prstGeom>
        </p:spPr>
        <p:txBody>
          <a:bodyPr wrap="square" lIns="0" tIns="12700" rIns="0" bIns="0" rtlCol="0" vert="horz">
            <a:spAutoFit/>
          </a:bodyPr>
          <a:lstStyle/>
          <a:p>
            <a:pPr algn="ctr" marL="17780">
              <a:lnSpc>
                <a:spcPct val="100000"/>
              </a:lnSpc>
              <a:spcBef>
                <a:spcPts val="100"/>
              </a:spcBef>
            </a:pPr>
            <a:r>
              <a:rPr dirty="0" sz="1300" b="1">
                <a:solidFill>
                  <a:srgbClr val="1E2A4A"/>
                </a:solidFill>
                <a:latin typeface="Roboto"/>
                <a:cs typeface="Roboto"/>
              </a:rPr>
              <a:t>One number for danger</a:t>
            </a:r>
            <a:endParaRPr sz="1300">
              <a:latin typeface="Roboto"/>
              <a:cs typeface="Roboto"/>
            </a:endParaRPr>
          </a:p>
          <a:p>
            <a:pPr algn="ctr">
              <a:lnSpc>
                <a:spcPct val="100000"/>
              </a:lnSpc>
              <a:spcBef>
                <a:spcPts val="1155"/>
              </a:spcBef>
            </a:pPr>
            <a:r>
              <a:rPr dirty="0" sz="1050" spc="-10">
                <a:solidFill>
                  <a:srgbClr val="5B6472"/>
                </a:solidFill>
                <a:latin typeface="Roboto"/>
                <a:cs typeface="Roboto"/>
              </a:rPr>
              <a:t>nᵢ &gt; 1, independent of how loud the alarm is. 0.732 ROC-AUC against 0.483 for the anomaly score, on 52,631 held-out events.</a:t>
            </a:r>
            <a:endParaRPr sz="1050">
              <a:latin typeface="Roboto"/>
              <a:cs typeface="Roboto"/>
            </a:endParaRPr>
          </a:p>
        </p:txBody>
      </p:sp>
      <p:grpSp>
        <p:nvGrpSpPr>
          <p:cNvPr id="14" name="object 14"/>
          <p:cNvGrpSpPr/>
          <p:nvPr/>
        </p:nvGrpSpPr>
        <p:grpSpPr>
          <a:xfrm>
            <a:off x="3367087" y="1776412"/>
            <a:ext cx="2609850" cy="4162425"/>
            <a:chOff x="3367087" y="1776412"/>
            <a:chExt cx="2609850" cy="4162425"/>
          </a:xfrm>
        </p:grpSpPr>
        <p:sp>
          <p:nvSpPr>
            <p:cNvPr id="15" name="object 15"/>
            <p:cNvSpPr/>
            <p:nvPr/>
          </p:nvSpPr>
          <p:spPr>
            <a:xfrm>
              <a:off x="3371850" y="1781175"/>
              <a:ext cx="2600325" cy="4152900"/>
            </a:xfrm>
            <a:custGeom>
              <a:avLst/>
              <a:gdLst/>
              <a:ahLst/>
              <a:cxnLst/>
              <a:rect l="l" t="t" r="r" b="b"/>
              <a:pathLst>
                <a:path w="2600325" h="4152900">
                  <a:moveTo>
                    <a:pt x="2527203" y="4152900"/>
                  </a:moveTo>
                  <a:lnTo>
                    <a:pt x="73121" y="4152900"/>
                  </a:lnTo>
                  <a:lnTo>
                    <a:pt x="58531" y="4151561"/>
                  </a:lnTo>
                  <a:lnTo>
                    <a:pt x="21416" y="4131483"/>
                  </a:lnTo>
                  <a:lnTo>
                    <a:pt x="1338" y="4094368"/>
                  </a:lnTo>
                  <a:lnTo>
                    <a:pt x="0" y="4079778"/>
                  </a:lnTo>
                  <a:lnTo>
                    <a:pt x="0" y="73121"/>
                  </a:lnTo>
                  <a:lnTo>
                    <a:pt x="12046" y="32679"/>
                  </a:lnTo>
                  <a:lnTo>
                    <a:pt x="45051" y="5354"/>
                  </a:lnTo>
                  <a:lnTo>
                    <a:pt x="73121" y="0"/>
                  </a:lnTo>
                  <a:lnTo>
                    <a:pt x="2527203" y="0"/>
                  </a:lnTo>
                  <a:lnTo>
                    <a:pt x="2567645" y="12046"/>
                  </a:lnTo>
                  <a:lnTo>
                    <a:pt x="2594970" y="45051"/>
                  </a:lnTo>
                  <a:lnTo>
                    <a:pt x="2600325" y="73121"/>
                  </a:lnTo>
                  <a:lnTo>
                    <a:pt x="2600325" y="4079778"/>
                  </a:lnTo>
                  <a:lnTo>
                    <a:pt x="2588277" y="4120220"/>
                  </a:lnTo>
                  <a:lnTo>
                    <a:pt x="2555273" y="4147545"/>
                  </a:lnTo>
                  <a:lnTo>
                    <a:pt x="2527203" y="4152900"/>
                  </a:lnTo>
                  <a:close/>
                </a:path>
              </a:pathLst>
            </a:custGeom>
            <a:solidFill>
              <a:srgbClr val="FFFFFF"/>
            </a:solidFill>
          </p:spPr>
          <p:txBody>
            <a:bodyPr wrap="square" lIns="0" tIns="0" rIns="0" bIns="0" rtlCol="0"/>
            <a:lstStyle/>
            <a:p/>
          </p:txBody>
        </p:sp>
        <p:sp>
          <p:nvSpPr>
            <p:cNvPr id="16" name="object 16"/>
            <p:cNvSpPr/>
            <p:nvPr/>
          </p:nvSpPr>
          <p:spPr>
            <a:xfrm>
              <a:off x="3371850" y="1781175"/>
              <a:ext cx="2600325" cy="4152900"/>
            </a:xfrm>
            <a:custGeom>
              <a:avLst/>
              <a:gdLst/>
              <a:ahLst/>
              <a:cxnLst/>
              <a:rect l="l" t="t" r="r" b="b"/>
              <a:pathLst>
                <a:path w="2600325" h="4152900">
                  <a:moveTo>
                    <a:pt x="0" y="73121"/>
                  </a:moveTo>
                  <a:lnTo>
                    <a:pt x="12046" y="32679"/>
                  </a:lnTo>
                  <a:lnTo>
                    <a:pt x="45051" y="5354"/>
                  </a:lnTo>
                  <a:lnTo>
                    <a:pt x="73121" y="0"/>
                  </a:lnTo>
                  <a:lnTo>
                    <a:pt x="2527203" y="0"/>
                  </a:lnTo>
                  <a:lnTo>
                    <a:pt x="2567645" y="12046"/>
                  </a:lnTo>
                  <a:lnTo>
                    <a:pt x="2594970" y="45051"/>
                  </a:lnTo>
                  <a:lnTo>
                    <a:pt x="2600325" y="73121"/>
                  </a:lnTo>
                  <a:lnTo>
                    <a:pt x="2600325" y="4079778"/>
                  </a:lnTo>
                  <a:lnTo>
                    <a:pt x="2588277" y="4120220"/>
                  </a:lnTo>
                  <a:lnTo>
                    <a:pt x="2555273" y="4147545"/>
                  </a:lnTo>
                  <a:lnTo>
                    <a:pt x="2527203" y="4152900"/>
                  </a:lnTo>
                  <a:lnTo>
                    <a:pt x="73121" y="4152900"/>
                  </a:lnTo>
                  <a:lnTo>
                    <a:pt x="32679" y="4140853"/>
                  </a:lnTo>
                  <a:lnTo>
                    <a:pt x="5353" y="4107849"/>
                  </a:lnTo>
                  <a:lnTo>
                    <a:pt x="0" y="4079778"/>
                  </a:lnTo>
                  <a:lnTo>
                    <a:pt x="0" y="73121"/>
                  </a:lnTo>
                  <a:close/>
                </a:path>
                <a:path w="2600325" h="4152900">
                  <a:moveTo>
                    <a:pt x="0" y="73121"/>
                  </a:moveTo>
                  <a:lnTo>
                    <a:pt x="12046" y="32679"/>
                  </a:lnTo>
                  <a:lnTo>
                    <a:pt x="45051" y="5354"/>
                  </a:lnTo>
                  <a:lnTo>
                    <a:pt x="73121" y="0"/>
                  </a:lnTo>
                  <a:lnTo>
                    <a:pt x="2527203" y="0"/>
                  </a:lnTo>
                  <a:lnTo>
                    <a:pt x="2567645" y="12046"/>
                  </a:lnTo>
                  <a:lnTo>
                    <a:pt x="2594970" y="45051"/>
                  </a:lnTo>
                  <a:lnTo>
                    <a:pt x="2600325" y="73121"/>
                  </a:lnTo>
                  <a:lnTo>
                    <a:pt x="2600325" y="4079778"/>
                  </a:lnTo>
                  <a:lnTo>
                    <a:pt x="2588277" y="4120220"/>
                  </a:lnTo>
                  <a:lnTo>
                    <a:pt x="2555273" y="4147545"/>
                  </a:lnTo>
                  <a:lnTo>
                    <a:pt x="2527203" y="4152900"/>
                  </a:lnTo>
                  <a:lnTo>
                    <a:pt x="73121" y="4152900"/>
                  </a:lnTo>
                  <a:lnTo>
                    <a:pt x="32679" y="4140853"/>
                  </a:lnTo>
                  <a:lnTo>
                    <a:pt x="5353" y="4107849"/>
                  </a:lnTo>
                  <a:lnTo>
                    <a:pt x="0" y="4079778"/>
                  </a:lnTo>
                  <a:lnTo>
                    <a:pt x="0" y="73121"/>
                  </a:lnTo>
                  <a:close/>
                </a:path>
              </a:pathLst>
            </a:custGeom>
            <a:ln w="9525">
              <a:solidFill>
                <a:srgbClr val="D8DCE3"/>
              </a:solidFill>
            </a:ln>
          </p:spPr>
          <p:txBody>
            <a:bodyPr wrap="square" lIns="0" tIns="0" rIns="0" bIns="0" rtlCol="0"/>
            <a:lstStyle/>
            <a:p/>
          </p:txBody>
        </p:sp>
        <p:sp>
          <p:nvSpPr>
            <p:cNvPr id="17" name="object 17"/>
            <p:cNvSpPr/>
            <p:nvPr/>
          </p:nvSpPr>
          <p:spPr>
            <a:xfrm>
              <a:off x="4400550" y="2057400"/>
              <a:ext cx="542925" cy="542925"/>
            </a:xfrm>
            <a:custGeom>
              <a:avLst/>
              <a:gdLst/>
              <a:ahLst/>
              <a:cxnLst/>
              <a:rect l="l" t="t" r="r" b="b"/>
              <a:pathLst>
                <a:path w="542925" h="542925">
                  <a:moveTo>
                    <a:pt x="271462" y="542925"/>
                  </a:moveTo>
                  <a:lnTo>
                    <a:pt x="218492" y="537758"/>
                  </a:lnTo>
                  <a:lnTo>
                    <a:pt x="167577" y="522261"/>
                  </a:lnTo>
                  <a:lnTo>
                    <a:pt x="120617" y="497217"/>
                  </a:lnTo>
                  <a:lnTo>
                    <a:pt x="79509" y="463415"/>
                  </a:lnTo>
                  <a:lnTo>
                    <a:pt x="45706" y="422307"/>
                  </a:lnTo>
                  <a:lnTo>
                    <a:pt x="20662" y="375346"/>
                  </a:lnTo>
                  <a:lnTo>
                    <a:pt x="5165" y="324432"/>
                  </a:lnTo>
                  <a:lnTo>
                    <a:pt x="0" y="271462"/>
                  </a:lnTo>
                  <a:lnTo>
                    <a:pt x="1291" y="244720"/>
                  </a:lnTo>
                  <a:lnTo>
                    <a:pt x="11622" y="192778"/>
                  </a:lnTo>
                  <a:lnTo>
                    <a:pt x="32090" y="143366"/>
                  </a:lnTo>
                  <a:lnTo>
                    <a:pt x="61513" y="99331"/>
                  </a:lnTo>
                  <a:lnTo>
                    <a:pt x="99331" y="61513"/>
                  </a:lnTo>
                  <a:lnTo>
                    <a:pt x="143365" y="32090"/>
                  </a:lnTo>
                  <a:lnTo>
                    <a:pt x="192777" y="11623"/>
                  </a:lnTo>
                  <a:lnTo>
                    <a:pt x="244720" y="1291"/>
                  </a:lnTo>
                  <a:lnTo>
                    <a:pt x="271462" y="0"/>
                  </a:lnTo>
                  <a:lnTo>
                    <a:pt x="298204" y="1291"/>
                  </a:lnTo>
                  <a:lnTo>
                    <a:pt x="350145" y="11623"/>
                  </a:lnTo>
                  <a:lnTo>
                    <a:pt x="399558" y="32090"/>
                  </a:lnTo>
                  <a:lnTo>
                    <a:pt x="443592" y="61513"/>
                  </a:lnTo>
                  <a:lnTo>
                    <a:pt x="481411" y="99331"/>
                  </a:lnTo>
                  <a:lnTo>
                    <a:pt x="510833" y="143366"/>
                  </a:lnTo>
                  <a:lnTo>
                    <a:pt x="531301" y="192778"/>
                  </a:lnTo>
                  <a:lnTo>
                    <a:pt x="541633" y="244720"/>
                  </a:lnTo>
                  <a:lnTo>
                    <a:pt x="542925" y="271462"/>
                  </a:lnTo>
                  <a:lnTo>
                    <a:pt x="541633" y="298204"/>
                  </a:lnTo>
                  <a:lnTo>
                    <a:pt x="531300" y="350146"/>
                  </a:lnTo>
                  <a:lnTo>
                    <a:pt x="510833" y="399558"/>
                  </a:lnTo>
                  <a:lnTo>
                    <a:pt x="481411" y="443592"/>
                  </a:lnTo>
                  <a:lnTo>
                    <a:pt x="443592" y="481411"/>
                  </a:lnTo>
                  <a:lnTo>
                    <a:pt x="399558" y="510834"/>
                  </a:lnTo>
                  <a:lnTo>
                    <a:pt x="350145" y="531301"/>
                  </a:lnTo>
                  <a:lnTo>
                    <a:pt x="298204" y="541633"/>
                  </a:lnTo>
                  <a:lnTo>
                    <a:pt x="271462" y="542925"/>
                  </a:lnTo>
                  <a:close/>
                </a:path>
              </a:pathLst>
            </a:custGeom>
            <a:solidFill>
              <a:srgbClr val="1E2A4A"/>
            </a:solidFill>
          </p:spPr>
          <p:txBody>
            <a:bodyPr wrap="square" lIns="0" tIns="0" rIns="0" bIns="0" rtlCol="0"/>
            <a:lstStyle/>
            <a:p/>
          </p:txBody>
        </p:sp>
      </p:grpSp>
      <p:sp>
        <p:nvSpPr>
          <p:cNvPr id="18" name="object 18"/>
          <p:cNvSpPr txBox="1"/>
          <p:nvPr/>
        </p:nvSpPr>
        <p:spPr>
          <a:xfrm>
            <a:off x="4587875" y="2161530"/>
            <a:ext cx="154305" cy="299720"/>
          </a:xfrm>
          <a:prstGeom prst="rect">
            <a:avLst/>
          </a:prstGeom>
        </p:spPr>
        <p:txBody>
          <a:bodyPr wrap="square" lIns="0" tIns="12700" rIns="0" bIns="0" rtlCol="0" vert="horz">
            <a:spAutoFit/>
          </a:bodyPr>
          <a:lstStyle/>
          <a:p>
            <a:pPr marL="12700">
              <a:lnSpc>
                <a:spcPct val="100000"/>
              </a:lnSpc>
              <a:spcBef>
                <a:spcPts val="100"/>
              </a:spcBef>
            </a:pPr>
            <a:r>
              <a:rPr dirty="0" sz="1800" spc="-50" b="1">
                <a:solidFill>
                  <a:srgbClr val="FFFFFF"/>
                </a:solidFill>
                <a:latin typeface="Roboto"/>
                <a:cs typeface="Roboto"/>
              </a:rPr>
              <a:t>2</a:t>
            </a:r>
            <a:endParaRPr sz="1800">
              <a:latin typeface="Roboto"/>
              <a:cs typeface="Roboto"/>
            </a:endParaRPr>
          </a:p>
        </p:txBody>
      </p:sp>
      <p:sp>
        <p:nvSpPr>
          <p:cNvPr id="19" name="object 19"/>
          <p:cNvSpPr txBox="1"/>
          <p:nvPr/>
        </p:nvSpPr>
        <p:spPr>
          <a:xfrm>
            <a:off x="3493770" y="2832868"/>
            <a:ext cx="2331720" cy="530860"/>
          </a:xfrm>
          <a:prstGeom prst="rect">
            <a:avLst/>
          </a:prstGeom>
        </p:spPr>
        <p:txBody>
          <a:bodyPr wrap="square" lIns="0" tIns="12700" rIns="0" bIns="0" rtlCol="0" vert="horz">
            <a:spAutoFit/>
          </a:bodyPr>
          <a:lstStyle/>
          <a:p>
            <a:pPr algn="ctr" marL="18415">
              <a:lnSpc>
                <a:spcPct val="100000"/>
              </a:lnSpc>
              <a:spcBef>
                <a:spcPts val="100"/>
              </a:spcBef>
            </a:pPr>
            <a:r>
              <a:rPr dirty="0" sz="1300" b="1">
                <a:solidFill>
                  <a:srgbClr val="1E2A4A"/>
                </a:solidFill>
                <a:latin typeface="Roboto"/>
                <a:cs typeface="Roboto"/>
              </a:rPr>
              <a:t>Near-misses as training data</a:t>
            </a:r>
            <a:endParaRPr sz="1300">
              <a:latin typeface="Roboto"/>
              <a:cs typeface="Roboto"/>
            </a:endParaRPr>
          </a:p>
          <a:p>
            <a:pPr algn="ctr">
              <a:lnSpc>
                <a:spcPct val="100000"/>
              </a:lnSpc>
              <a:spcBef>
                <a:spcPts val="1155"/>
              </a:spcBef>
            </a:pPr>
            <a:r>
              <a:rPr dirty="0" sz="1050" spc="-10">
                <a:solidFill>
                  <a:srgbClr val="5B6472"/>
                </a:solidFill>
                <a:latin typeface="Roboto"/>
                <a:cs typeface="Roboto"/>
              </a:rPr>
              <a:t>Cause chains mined from logs the miner never sees the answer in — precision 0.855, recall 0.898. The failures that did not matter teach the one that will.</a:t>
            </a:r>
            <a:endParaRPr sz="1050">
              <a:latin typeface="Roboto"/>
              <a:cs typeface="Roboto"/>
            </a:endParaRPr>
          </a:p>
        </p:txBody>
      </p:sp>
      <p:grpSp>
        <p:nvGrpSpPr>
          <p:cNvPr id="20" name="object 20"/>
          <p:cNvGrpSpPr/>
          <p:nvPr/>
        </p:nvGrpSpPr>
        <p:grpSpPr>
          <a:xfrm>
            <a:off x="6196012" y="1776412"/>
            <a:ext cx="2609850" cy="4162425"/>
            <a:chOff x="6196012" y="1776412"/>
            <a:chExt cx="2609850" cy="4162425"/>
          </a:xfrm>
        </p:grpSpPr>
        <p:sp>
          <p:nvSpPr>
            <p:cNvPr id="21" name="object 21"/>
            <p:cNvSpPr/>
            <p:nvPr/>
          </p:nvSpPr>
          <p:spPr>
            <a:xfrm>
              <a:off x="6200775" y="1781175"/>
              <a:ext cx="2600325" cy="4152900"/>
            </a:xfrm>
            <a:custGeom>
              <a:avLst/>
              <a:gdLst/>
              <a:ahLst/>
              <a:cxnLst/>
              <a:rect l="l" t="t" r="r" b="b"/>
              <a:pathLst>
                <a:path w="2600325" h="4152900">
                  <a:moveTo>
                    <a:pt x="2527204" y="4152900"/>
                  </a:moveTo>
                  <a:lnTo>
                    <a:pt x="73121" y="4152900"/>
                  </a:lnTo>
                  <a:lnTo>
                    <a:pt x="58531" y="4151561"/>
                  </a:lnTo>
                  <a:lnTo>
                    <a:pt x="21416" y="4131483"/>
                  </a:lnTo>
                  <a:lnTo>
                    <a:pt x="1338" y="4094368"/>
                  </a:lnTo>
                  <a:lnTo>
                    <a:pt x="0" y="4079778"/>
                  </a:lnTo>
                  <a:lnTo>
                    <a:pt x="0" y="73121"/>
                  </a:lnTo>
                  <a:lnTo>
                    <a:pt x="12046" y="32679"/>
                  </a:lnTo>
                  <a:lnTo>
                    <a:pt x="45050" y="5354"/>
                  </a:lnTo>
                  <a:lnTo>
                    <a:pt x="73121" y="0"/>
                  </a:lnTo>
                  <a:lnTo>
                    <a:pt x="2527204" y="0"/>
                  </a:lnTo>
                  <a:lnTo>
                    <a:pt x="2567645" y="12046"/>
                  </a:lnTo>
                  <a:lnTo>
                    <a:pt x="2594970" y="45051"/>
                  </a:lnTo>
                  <a:lnTo>
                    <a:pt x="2600325" y="73121"/>
                  </a:lnTo>
                  <a:lnTo>
                    <a:pt x="2600325" y="4079778"/>
                  </a:lnTo>
                  <a:lnTo>
                    <a:pt x="2588277" y="4120220"/>
                  </a:lnTo>
                  <a:lnTo>
                    <a:pt x="2555274" y="4147545"/>
                  </a:lnTo>
                  <a:lnTo>
                    <a:pt x="2527204" y="4152900"/>
                  </a:lnTo>
                  <a:close/>
                </a:path>
              </a:pathLst>
            </a:custGeom>
            <a:solidFill>
              <a:srgbClr val="FFFFFF"/>
            </a:solidFill>
          </p:spPr>
          <p:txBody>
            <a:bodyPr wrap="square" lIns="0" tIns="0" rIns="0" bIns="0" rtlCol="0"/>
            <a:lstStyle/>
            <a:p/>
          </p:txBody>
        </p:sp>
        <p:sp>
          <p:nvSpPr>
            <p:cNvPr id="22" name="object 22"/>
            <p:cNvSpPr/>
            <p:nvPr/>
          </p:nvSpPr>
          <p:spPr>
            <a:xfrm>
              <a:off x="6200775" y="1781175"/>
              <a:ext cx="2600325" cy="4152900"/>
            </a:xfrm>
            <a:custGeom>
              <a:avLst/>
              <a:gdLst/>
              <a:ahLst/>
              <a:cxnLst/>
              <a:rect l="l" t="t" r="r" b="b"/>
              <a:pathLst>
                <a:path w="2600325" h="4152900">
                  <a:moveTo>
                    <a:pt x="0" y="73121"/>
                  </a:moveTo>
                  <a:lnTo>
                    <a:pt x="12046" y="32679"/>
                  </a:lnTo>
                  <a:lnTo>
                    <a:pt x="45050" y="5354"/>
                  </a:lnTo>
                  <a:lnTo>
                    <a:pt x="73121" y="0"/>
                  </a:lnTo>
                  <a:lnTo>
                    <a:pt x="2527204" y="0"/>
                  </a:lnTo>
                  <a:lnTo>
                    <a:pt x="2567645" y="12046"/>
                  </a:lnTo>
                  <a:lnTo>
                    <a:pt x="2594970" y="45051"/>
                  </a:lnTo>
                  <a:lnTo>
                    <a:pt x="2600325" y="73121"/>
                  </a:lnTo>
                  <a:lnTo>
                    <a:pt x="2600325" y="4079778"/>
                  </a:lnTo>
                  <a:lnTo>
                    <a:pt x="2588277" y="4120220"/>
                  </a:lnTo>
                  <a:lnTo>
                    <a:pt x="2555274" y="4147545"/>
                  </a:lnTo>
                  <a:lnTo>
                    <a:pt x="2527204" y="4152900"/>
                  </a:lnTo>
                  <a:lnTo>
                    <a:pt x="73121" y="4152900"/>
                  </a:lnTo>
                  <a:lnTo>
                    <a:pt x="32679" y="4140853"/>
                  </a:lnTo>
                  <a:lnTo>
                    <a:pt x="5354" y="4107849"/>
                  </a:lnTo>
                  <a:lnTo>
                    <a:pt x="0" y="4079778"/>
                  </a:lnTo>
                  <a:lnTo>
                    <a:pt x="0" y="73121"/>
                  </a:lnTo>
                  <a:close/>
                </a:path>
                <a:path w="2600325" h="4152900">
                  <a:moveTo>
                    <a:pt x="0" y="73121"/>
                  </a:moveTo>
                  <a:lnTo>
                    <a:pt x="12046" y="32679"/>
                  </a:lnTo>
                  <a:lnTo>
                    <a:pt x="45050" y="5354"/>
                  </a:lnTo>
                  <a:lnTo>
                    <a:pt x="73121" y="0"/>
                  </a:lnTo>
                  <a:lnTo>
                    <a:pt x="2527204" y="0"/>
                  </a:lnTo>
                  <a:lnTo>
                    <a:pt x="2567645" y="12046"/>
                  </a:lnTo>
                  <a:lnTo>
                    <a:pt x="2594970" y="45051"/>
                  </a:lnTo>
                  <a:lnTo>
                    <a:pt x="2600325" y="73121"/>
                  </a:lnTo>
                  <a:lnTo>
                    <a:pt x="2600325" y="4079778"/>
                  </a:lnTo>
                  <a:lnTo>
                    <a:pt x="2588277" y="4120220"/>
                  </a:lnTo>
                  <a:lnTo>
                    <a:pt x="2555274" y="4147545"/>
                  </a:lnTo>
                  <a:lnTo>
                    <a:pt x="2527204" y="4152900"/>
                  </a:lnTo>
                  <a:lnTo>
                    <a:pt x="73121" y="4152900"/>
                  </a:lnTo>
                  <a:lnTo>
                    <a:pt x="32679" y="4140853"/>
                  </a:lnTo>
                  <a:lnTo>
                    <a:pt x="5354" y="4107849"/>
                  </a:lnTo>
                  <a:lnTo>
                    <a:pt x="0" y="4079778"/>
                  </a:lnTo>
                  <a:lnTo>
                    <a:pt x="0" y="73121"/>
                  </a:lnTo>
                  <a:close/>
                </a:path>
              </a:pathLst>
            </a:custGeom>
            <a:ln w="9525">
              <a:solidFill>
                <a:srgbClr val="D8DCE3"/>
              </a:solidFill>
            </a:ln>
          </p:spPr>
          <p:txBody>
            <a:bodyPr wrap="square" lIns="0" tIns="0" rIns="0" bIns="0" rtlCol="0"/>
            <a:lstStyle/>
            <a:p/>
          </p:txBody>
        </p:sp>
        <p:sp>
          <p:nvSpPr>
            <p:cNvPr id="23" name="object 23"/>
            <p:cNvSpPr/>
            <p:nvPr/>
          </p:nvSpPr>
          <p:spPr>
            <a:xfrm>
              <a:off x="7229475" y="2057400"/>
              <a:ext cx="542925" cy="542925"/>
            </a:xfrm>
            <a:custGeom>
              <a:avLst/>
              <a:gdLst/>
              <a:ahLst/>
              <a:cxnLst/>
              <a:rect l="l" t="t" r="r" b="b"/>
              <a:pathLst>
                <a:path w="542925" h="542925">
                  <a:moveTo>
                    <a:pt x="271462" y="542925"/>
                  </a:moveTo>
                  <a:lnTo>
                    <a:pt x="218492" y="537758"/>
                  </a:lnTo>
                  <a:lnTo>
                    <a:pt x="167577" y="522261"/>
                  </a:lnTo>
                  <a:lnTo>
                    <a:pt x="120617" y="497217"/>
                  </a:lnTo>
                  <a:lnTo>
                    <a:pt x="79509" y="463415"/>
                  </a:lnTo>
                  <a:lnTo>
                    <a:pt x="45706" y="422307"/>
                  </a:lnTo>
                  <a:lnTo>
                    <a:pt x="20662" y="375346"/>
                  </a:lnTo>
                  <a:lnTo>
                    <a:pt x="5165" y="324432"/>
                  </a:lnTo>
                  <a:lnTo>
                    <a:pt x="0" y="271462"/>
                  </a:lnTo>
                  <a:lnTo>
                    <a:pt x="1291" y="244720"/>
                  </a:lnTo>
                  <a:lnTo>
                    <a:pt x="11622" y="192778"/>
                  </a:lnTo>
                  <a:lnTo>
                    <a:pt x="32090" y="143366"/>
                  </a:lnTo>
                  <a:lnTo>
                    <a:pt x="61513" y="99331"/>
                  </a:lnTo>
                  <a:lnTo>
                    <a:pt x="99331" y="61513"/>
                  </a:lnTo>
                  <a:lnTo>
                    <a:pt x="143365" y="32090"/>
                  </a:lnTo>
                  <a:lnTo>
                    <a:pt x="192777" y="11623"/>
                  </a:lnTo>
                  <a:lnTo>
                    <a:pt x="244720" y="1291"/>
                  </a:lnTo>
                  <a:lnTo>
                    <a:pt x="271462" y="0"/>
                  </a:lnTo>
                  <a:lnTo>
                    <a:pt x="298204" y="1291"/>
                  </a:lnTo>
                  <a:lnTo>
                    <a:pt x="350145" y="11623"/>
                  </a:lnTo>
                  <a:lnTo>
                    <a:pt x="399557" y="32090"/>
                  </a:lnTo>
                  <a:lnTo>
                    <a:pt x="443592" y="61513"/>
                  </a:lnTo>
                  <a:lnTo>
                    <a:pt x="481411" y="99331"/>
                  </a:lnTo>
                  <a:lnTo>
                    <a:pt x="510833" y="143366"/>
                  </a:lnTo>
                  <a:lnTo>
                    <a:pt x="531300" y="192778"/>
                  </a:lnTo>
                  <a:lnTo>
                    <a:pt x="541633" y="244720"/>
                  </a:lnTo>
                  <a:lnTo>
                    <a:pt x="542925" y="271462"/>
                  </a:lnTo>
                  <a:lnTo>
                    <a:pt x="541633" y="298204"/>
                  </a:lnTo>
                  <a:lnTo>
                    <a:pt x="531301" y="350146"/>
                  </a:lnTo>
                  <a:lnTo>
                    <a:pt x="510833" y="399558"/>
                  </a:lnTo>
                  <a:lnTo>
                    <a:pt x="481411" y="443592"/>
                  </a:lnTo>
                  <a:lnTo>
                    <a:pt x="443592" y="481411"/>
                  </a:lnTo>
                  <a:lnTo>
                    <a:pt x="399557" y="510834"/>
                  </a:lnTo>
                  <a:lnTo>
                    <a:pt x="350145" y="531301"/>
                  </a:lnTo>
                  <a:lnTo>
                    <a:pt x="298204" y="541633"/>
                  </a:lnTo>
                  <a:lnTo>
                    <a:pt x="271462" y="542925"/>
                  </a:lnTo>
                  <a:close/>
                </a:path>
              </a:pathLst>
            </a:custGeom>
            <a:solidFill>
              <a:srgbClr val="1E2A4A"/>
            </a:solidFill>
          </p:spPr>
          <p:txBody>
            <a:bodyPr wrap="square" lIns="0" tIns="0" rIns="0" bIns="0" rtlCol="0"/>
            <a:lstStyle/>
            <a:p/>
          </p:txBody>
        </p:sp>
      </p:grpSp>
      <p:sp>
        <p:nvSpPr>
          <p:cNvPr id="24" name="object 24"/>
          <p:cNvSpPr txBox="1"/>
          <p:nvPr/>
        </p:nvSpPr>
        <p:spPr>
          <a:xfrm>
            <a:off x="7416800" y="2161530"/>
            <a:ext cx="154305" cy="299720"/>
          </a:xfrm>
          <a:prstGeom prst="rect">
            <a:avLst/>
          </a:prstGeom>
        </p:spPr>
        <p:txBody>
          <a:bodyPr wrap="square" lIns="0" tIns="12700" rIns="0" bIns="0" rtlCol="0" vert="horz">
            <a:spAutoFit/>
          </a:bodyPr>
          <a:lstStyle/>
          <a:p>
            <a:pPr marL="12700">
              <a:lnSpc>
                <a:spcPct val="100000"/>
              </a:lnSpc>
              <a:spcBef>
                <a:spcPts val="100"/>
              </a:spcBef>
            </a:pPr>
            <a:r>
              <a:rPr dirty="0" sz="1800" spc="-50" b="1">
                <a:solidFill>
                  <a:srgbClr val="FFFFFF"/>
                </a:solidFill>
                <a:latin typeface="Roboto"/>
                <a:cs typeface="Roboto"/>
              </a:rPr>
              <a:t>3</a:t>
            </a:r>
            <a:endParaRPr sz="1800">
              <a:latin typeface="Roboto"/>
              <a:cs typeface="Roboto"/>
            </a:endParaRPr>
          </a:p>
        </p:txBody>
      </p:sp>
      <p:sp>
        <p:nvSpPr>
          <p:cNvPr id="25" name="object 25"/>
          <p:cNvSpPr txBox="1"/>
          <p:nvPr/>
        </p:nvSpPr>
        <p:spPr>
          <a:xfrm>
            <a:off x="6332220" y="2832868"/>
            <a:ext cx="2331720" cy="530860"/>
          </a:xfrm>
          <a:prstGeom prst="rect">
            <a:avLst/>
          </a:prstGeom>
        </p:spPr>
        <p:txBody>
          <a:bodyPr wrap="square" lIns="0" tIns="12700" rIns="0" bIns="0" rtlCol="0" vert="horz">
            <a:spAutoFit/>
          </a:bodyPr>
          <a:lstStyle/>
          <a:p>
            <a:pPr algn="ctr" marL="1270">
              <a:lnSpc>
                <a:spcPct val="100000"/>
              </a:lnSpc>
              <a:spcBef>
                <a:spcPts val="100"/>
              </a:spcBef>
            </a:pPr>
            <a:r>
              <a:rPr dirty="0" sz="1300" b="1">
                <a:solidFill>
                  <a:srgbClr val="1E2A4A"/>
                </a:solidFill>
                <a:latin typeface="Roboto"/>
                <a:cs typeface="Roboto"/>
              </a:rPr>
              <a:t>A deadline, not a warning</a:t>
            </a:r>
            <a:endParaRPr sz="1300">
              <a:latin typeface="Roboto"/>
              <a:cs typeface="Roboto"/>
            </a:endParaRPr>
          </a:p>
          <a:p>
            <a:pPr algn="ctr">
              <a:lnSpc>
                <a:spcPct val="100000"/>
              </a:lnSpc>
              <a:spcBef>
                <a:spcPts val="1155"/>
              </a:spcBef>
            </a:pPr>
            <a:r>
              <a:rPr dirty="0" sz="1050" spc="-10">
                <a:solidFill>
                  <a:srgbClr val="5B6472"/>
                </a:solidFill>
                <a:latin typeface="Roboto"/>
                <a:cs typeface="Roboto"/>
              </a:rPr>
              <a:t>β gives timing, so every recommendation carries the minute after which it is worth less than 90% of acting now. In the demo run: 523 seconds.</a:t>
            </a:r>
            <a:endParaRPr sz="1050">
              <a:latin typeface="Roboto"/>
              <a:cs typeface="Roboto"/>
            </a:endParaRPr>
          </a:p>
        </p:txBody>
      </p:sp>
      <p:grpSp>
        <p:nvGrpSpPr>
          <p:cNvPr id="26" name="object 26"/>
          <p:cNvGrpSpPr/>
          <p:nvPr/>
        </p:nvGrpSpPr>
        <p:grpSpPr>
          <a:xfrm>
            <a:off x="9024937" y="1776412"/>
            <a:ext cx="2609850" cy="4162425"/>
            <a:chOff x="9024937" y="1776412"/>
            <a:chExt cx="2609850" cy="4162425"/>
          </a:xfrm>
        </p:grpSpPr>
        <p:sp>
          <p:nvSpPr>
            <p:cNvPr id="27" name="object 27"/>
            <p:cNvSpPr/>
            <p:nvPr/>
          </p:nvSpPr>
          <p:spPr>
            <a:xfrm>
              <a:off x="9029700" y="1781175"/>
              <a:ext cx="2600325" cy="4152900"/>
            </a:xfrm>
            <a:custGeom>
              <a:avLst/>
              <a:gdLst/>
              <a:ahLst/>
              <a:cxnLst/>
              <a:rect l="l" t="t" r="r" b="b"/>
              <a:pathLst>
                <a:path w="2600325" h="4152900">
                  <a:moveTo>
                    <a:pt x="2527204" y="4152900"/>
                  </a:moveTo>
                  <a:lnTo>
                    <a:pt x="73121" y="4152900"/>
                  </a:lnTo>
                  <a:lnTo>
                    <a:pt x="58531" y="4151561"/>
                  </a:lnTo>
                  <a:lnTo>
                    <a:pt x="21416" y="4131483"/>
                  </a:lnTo>
                  <a:lnTo>
                    <a:pt x="1338" y="4094368"/>
                  </a:lnTo>
                  <a:lnTo>
                    <a:pt x="0" y="4079778"/>
                  </a:lnTo>
                  <a:lnTo>
                    <a:pt x="0" y="73121"/>
                  </a:lnTo>
                  <a:lnTo>
                    <a:pt x="12045" y="32679"/>
                  </a:lnTo>
                  <a:lnTo>
                    <a:pt x="45051" y="5354"/>
                  </a:lnTo>
                  <a:lnTo>
                    <a:pt x="73121" y="0"/>
                  </a:lnTo>
                  <a:lnTo>
                    <a:pt x="2527204" y="0"/>
                  </a:lnTo>
                  <a:lnTo>
                    <a:pt x="2567645" y="12046"/>
                  </a:lnTo>
                  <a:lnTo>
                    <a:pt x="2594970" y="45051"/>
                  </a:lnTo>
                  <a:lnTo>
                    <a:pt x="2600325" y="73121"/>
                  </a:lnTo>
                  <a:lnTo>
                    <a:pt x="2600325" y="4079778"/>
                  </a:lnTo>
                  <a:lnTo>
                    <a:pt x="2588277" y="4120220"/>
                  </a:lnTo>
                  <a:lnTo>
                    <a:pt x="2555274" y="4147545"/>
                  </a:lnTo>
                  <a:lnTo>
                    <a:pt x="2527204" y="4152900"/>
                  </a:lnTo>
                  <a:close/>
                </a:path>
              </a:pathLst>
            </a:custGeom>
            <a:solidFill>
              <a:srgbClr val="FFFFFF"/>
            </a:solidFill>
          </p:spPr>
          <p:txBody>
            <a:bodyPr wrap="square" lIns="0" tIns="0" rIns="0" bIns="0" rtlCol="0"/>
            <a:lstStyle/>
            <a:p/>
          </p:txBody>
        </p:sp>
        <p:sp>
          <p:nvSpPr>
            <p:cNvPr id="28" name="object 28"/>
            <p:cNvSpPr/>
            <p:nvPr/>
          </p:nvSpPr>
          <p:spPr>
            <a:xfrm>
              <a:off x="9029700" y="1781175"/>
              <a:ext cx="2600325" cy="4152900"/>
            </a:xfrm>
            <a:custGeom>
              <a:avLst/>
              <a:gdLst/>
              <a:ahLst/>
              <a:cxnLst/>
              <a:rect l="l" t="t" r="r" b="b"/>
              <a:pathLst>
                <a:path w="2600325" h="4152900">
                  <a:moveTo>
                    <a:pt x="0" y="73121"/>
                  </a:moveTo>
                  <a:lnTo>
                    <a:pt x="12045" y="32679"/>
                  </a:lnTo>
                  <a:lnTo>
                    <a:pt x="45051" y="5354"/>
                  </a:lnTo>
                  <a:lnTo>
                    <a:pt x="73121" y="0"/>
                  </a:lnTo>
                  <a:lnTo>
                    <a:pt x="2527204" y="0"/>
                  </a:lnTo>
                  <a:lnTo>
                    <a:pt x="2567645" y="12046"/>
                  </a:lnTo>
                  <a:lnTo>
                    <a:pt x="2594970" y="45051"/>
                  </a:lnTo>
                  <a:lnTo>
                    <a:pt x="2600325" y="73121"/>
                  </a:lnTo>
                  <a:lnTo>
                    <a:pt x="2600325" y="4079778"/>
                  </a:lnTo>
                  <a:lnTo>
                    <a:pt x="2588277" y="4120220"/>
                  </a:lnTo>
                  <a:lnTo>
                    <a:pt x="2555274" y="4147545"/>
                  </a:lnTo>
                  <a:lnTo>
                    <a:pt x="2527204" y="4152900"/>
                  </a:lnTo>
                  <a:lnTo>
                    <a:pt x="73121" y="4152900"/>
                  </a:lnTo>
                  <a:lnTo>
                    <a:pt x="32679" y="4140853"/>
                  </a:lnTo>
                  <a:lnTo>
                    <a:pt x="5353" y="4107849"/>
                  </a:lnTo>
                  <a:lnTo>
                    <a:pt x="0" y="4079778"/>
                  </a:lnTo>
                  <a:lnTo>
                    <a:pt x="0" y="73121"/>
                  </a:lnTo>
                  <a:close/>
                </a:path>
                <a:path w="2600325" h="4152900">
                  <a:moveTo>
                    <a:pt x="0" y="73121"/>
                  </a:moveTo>
                  <a:lnTo>
                    <a:pt x="12045" y="32679"/>
                  </a:lnTo>
                  <a:lnTo>
                    <a:pt x="45051" y="5354"/>
                  </a:lnTo>
                  <a:lnTo>
                    <a:pt x="73121" y="0"/>
                  </a:lnTo>
                  <a:lnTo>
                    <a:pt x="2527204" y="0"/>
                  </a:lnTo>
                  <a:lnTo>
                    <a:pt x="2567645" y="12046"/>
                  </a:lnTo>
                  <a:lnTo>
                    <a:pt x="2594970" y="45051"/>
                  </a:lnTo>
                  <a:lnTo>
                    <a:pt x="2600325" y="73121"/>
                  </a:lnTo>
                  <a:lnTo>
                    <a:pt x="2600325" y="4079778"/>
                  </a:lnTo>
                  <a:lnTo>
                    <a:pt x="2588277" y="4120220"/>
                  </a:lnTo>
                  <a:lnTo>
                    <a:pt x="2555274" y="4147545"/>
                  </a:lnTo>
                  <a:lnTo>
                    <a:pt x="2527204" y="4152900"/>
                  </a:lnTo>
                  <a:lnTo>
                    <a:pt x="73121" y="4152900"/>
                  </a:lnTo>
                  <a:lnTo>
                    <a:pt x="32679" y="4140853"/>
                  </a:lnTo>
                  <a:lnTo>
                    <a:pt x="5353" y="4107849"/>
                  </a:lnTo>
                  <a:lnTo>
                    <a:pt x="0" y="4079778"/>
                  </a:lnTo>
                  <a:lnTo>
                    <a:pt x="0" y="73121"/>
                  </a:lnTo>
                  <a:close/>
                </a:path>
              </a:pathLst>
            </a:custGeom>
            <a:ln w="9525">
              <a:solidFill>
                <a:srgbClr val="D8DCE3"/>
              </a:solidFill>
            </a:ln>
          </p:spPr>
          <p:txBody>
            <a:bodyPr wrap="square" lIns="0" tIns="0" rIns="0" bIns="0" rtlCol="0"/>
            <a:lstStyle/>
            <a:p/>
          </p:txBody>
        </p:sp>
        <p:sp>
          <p:nvSpPr>
            <p:cNvPr id="29" name="object 29"/>
            <p:cNvSpPr/>
            <p:nvPr/>
          </p:nvSpPr>
          <p:spPr>
            <a:xfrm>
              <a:off x="10058400" y="2057400"/>
              <a:ext cx="542925" cy="542925"/>
            </a:xfrm>
            <a:custGeom>
              <a:avLst/>
              <a:gdLst/>
              <a:ahLst/>
              <a:cxnLst/>
              <a:rect l="l" t="t" r="r" b="b"/>
              <a:pathLst>
                <a:path w="542925" h="542925">
                  <a:moveTo>
                    <a:pt x="271462" y="542925"/>
                  </a:moveTo>
                  <a:lnTo>
                    <a:pt x="218492" y="537758"/>
                  </a:lnTo>
                  <a:lnTo>
                    <a:pt x="167577" y="522261"/>
                  </a:lnTo>
                  <a:lnTo>
                    <a:pt x="120617" y="497217"/>
                  </a:lnTo>
                  <a:lnTo>
                    <a:pt x="79509" y="463415"/>
                  </a:lnTo>
                  <a:lnTo>
                    <a:pt x="45706" y="422307"/>
                  </a:lnTo>
                  <a:lnTo>
                    <a:pt x="20662" y="375346"/>
                  </a:lnTo>
                  <a:lnTo>
                    <a:pt x="5165" y="324432"/>
                  </a:lnTo>
                  <a:lnTo>
                    <a:pt x="0" y="271462"/>
                  </a:lnTo>
                  <a:lnTo>
                    <a:pt x="1291" y="244720"/>
                  </a:lnTo>
                  <a:lnTo>
                    <a:pt x="11622" y="192778"/>
                  </a:lnTo>
                  <a:lnTo>
                    <a:pt x="32089" y="143366"/>
                  </a:lnTo>
                  <a:lnTo>
                    <a:pt x="61512" y="99331"/>
                  </a:lnTo>
                  <a:lnTo>
                    <a:pt x="99331" y="61513"/>
                  </a:lnTo>
                  <a:lnTo>
                    <a:pt x="143365" y="32090"/>
                  </a:lnTo>
                  <a:lnTo>
                    <a:pt x="192777" y="11623"/>
                  </a:lnTo>
                  <a:lnTo>
                    <a:pt x="244720" y="1291"/>
                  </a:lnTo>
                  <a:lnTo>
                    <a:pt x="271462" y="0"/>
                  </a:lnTo>
                  <a:lnTo>
                    <a:pt x="298203" y="1291"/>
                  </a:lnTo>
                  <a:lnTo>
                    <a:pt x="350144" y="11623"/>
                  </a:lnTo>
                  <a:lnTo>
                    <a:pt x="399556" y="32090"/>
                  </a:lnTo>
                  <a:lnTo>
                    <a:pt x="443592" y="61513"/>
                  </a:lnTo>
                  <a:lnTo>
                    <a:pt x="481410" y="99331"/>
                  </a:lnTo>
                  <a:lnTo>
                    <a:pt x="510832" y="143366"/>
                  </a:lnTo>
                  <a:lnTo>
                    <a:pt x="531299" y="192778"/>
                  </a:lnTo>
                  <a:lnTo>
                    <a:pt x="541633" y="244720"/>
                  </a:lnTo>
                  <a:lnTo>
                    <a:pt x="542925" y="271462"/>
                  </a:lnTo>
                  <a:lnTo>
                    <a:pt x="541633" y="298204"/>
                  </a:lnTo>
                  <a:lnTo>
                    <a:pt x="531299" y="350146"/>
                  </a:lnTo>
                  <a:lnTo>
                    <a:pt x="510832" y="399558"/>
                  </a:lnTo>
                  <a:lnTo>
                    <a:pt x="481410" y="443592"/>
                  </a:lnTo>
                  <a:lnTo>
                    <a:pt x="443592" y="481411"/>
                  </a:lnTo>
                  <a:lnTo>
                    <a:pt x="399556" y="510834"/>
                  </a:lnTo>
                  <a:lnTo>
                    <a:pt x="350144" y="531301"/>
                  </a:lnTo>
                  <a:lnTo>
                    <a:pt x="298203" y="541633"/>
                  </a:lnTo>
                  <a:lnTo>
                    <a:pt x="271462" y="542925"/>
                  </a:lnTo>
                  <a:close/>
                </a:path>
              </a:pathLst>
            </a:custGeom>
            <a:solidFill>
              <a:srgbClr val="1E2A4A"/>
            </a:solidFill>
          </p:spPr>
          <p:txBody>
            <a:bodyPr wrap="square" lIns="0" tIns="0" rIns="0" bIns="0" rtlCol="0"/>
            <a:lstStyle/>
            <a:p/>
          </p:txBody>
        </p:sp>
      </p:grpSp>
      <p:sp>
        <p:nvSpPr>
          <p:cNvPr id="30" name="object 30"/>
          <p:cNvSpPr txBox="1"/>
          <p:nvPr/>
        </p:nvSpPr>
        <p:spPr>
          <a:xfrm>
            <a:off x="10245725" y="2161530"/>
            <a:ext cx="154305" cy="299720"/>
          </a:xfrm>
          <a:prstGeom prst="rect">
            <a:avLst/>
          </a:prstGeom>
        </p:spPr>
        <p:txBody>
          <a:bodyPr wrap="square" lIns="0" tIns="12700" rIns="0" bIns="0" rtlCol="0" vert="horz">
            <a:spAutoFit/>
          </a:bodyPr>
          <a:lstStyle/>
          <a:p>
            <a:pPr marL="12700">
              <a:lnSpc>
                <a:spcPct val="100000"/>
              </a:lnSpc>
              <a:spcBef>
                <a:spcPts val="100"/>
              </a:spcBef>
            </a:pPr>
            <a:r>
              <a:rPr dirty="0" sz="1800" spc="-50" b="1">
                <a:solidFill>
                  <a:srgbClr val="FFFFFF"/>
                </a:solidFill>
                <a:latin typeface="Roboto"/>
                <a:cs typeface="Roboto"/>
              </a:rPr>
              <a:t>4</a:t>
            </a:r>
            <a:endParaRPr sz="1800">
              <a:latin typeface="Roboto"/>
              <a:cs typeface="Roboto"/>
            </a:endParaRPr>
          </a:p>
        </p:txBody>
      </p:sp>
      <p:sp>
        <p:nvSpPr>
          <p:cNvPr id="31" name="object 31"/>
          <p:cNvSpPr txBox="1"/>
          <p:nvPr/>
        </p:nvSpPr>
        <p:spPr>
          <a:xfrm>
            <a:off x="9161145" y="2832868"/>
            <a:ext cx="2331720" cy="530860"/>
          </a:xfrm>
          <a:prstGeom prst="rect">
            <a:avLst/>
          </a:prstGeom>
        </p:spPr>
        <p:txBody>
          <a:bodyPr wrap="square" lIns="0" tIns="12700" rIns="0" bIns="0" rtlCol="0" vert="horz">
            <a:spAutoFit/>
          </a:bodyPr>
          <a:lstStyle/>
          <a:p>
            <a:pPr algn="ctr">
              <a:lnSpc>
                <a:spcPct val="100000"/>
              </a:lnSpc>
              <a:spcBef>
                <a:spcPts val="100"/>
              </a:spcBef>
            </a:pPr>
            <a:r>
              <a:rPr dirty="0" sz="1300" b="1">
                <a:solidFill>
                  <a:srgbClr val="1E2A4A"/>
                </a:solidFill>
                <a:latin typeface="Roboto"/>
                <a:cs typeface="Roboto"/>
              </a:rPr>
              <a:t>Evidence that can lose</a:t>
            </a:r>
            <a:endParaRPr sz="1300">
              <a:latin typeface="Roboto"/>
              <a:cs typeface="Roboto"/>
            </a:endParaRPr>
          </a:p>
          <a:p>
            <a:pPr algn="ctr">
              <a:lnSpc>
                <a:spcPct val="100000"/>
              </a:lnSpc>
              <a:spcBef>
                <a:spcPts val="1155"/>
              </a:spcBef>
            </a:pPr>
            <a:r>
              <a:rPr dirty="0" sz="1050" spc="-10">
                <a:solidFill>
                  <a:srgbClr val="5B6472"/>
                </a:solidFill>
                <a:latin typeface="Roboto"/>
                <a:cs typeface="Roboto"/>
              </a:rPr>
              <a:t>Seven arms, held-out scenarios, Wilcoxon signed-rank with Holm correction, against a pre-registration. Four of five predictions went against us; all four are published.</a:t>
            </a:r>
            <a:endParaRPr sz="1050">
              <a:latin typeface="Roboto"/>
              <a:cs typeface="Roboto"/>
            </a:endParaRPr>
          </a:p>
        </p:txBody>
      </p:sp>
      <p:grpSp>
        <p:nvGrpSpPr>
          <p:cNvPr id="32" name="object 32"/>
          <p:cNvGrpSpPr/>
          <p:nvPr/>
        </p:nvGrpSpPr>
        <p:grpSpPr>
          <a:xfrm>
            <a:off x="0" y="6381750"/>
            <a:ext cx="12182475" cy="466725"/>
            <a:chOff x="0" y="6381750"/>
            <a:chExt cx="12182475" cy="466725"/>
          </a:xfrm>
        </p:grpSpPr>
        <p:sp>
          <p:nvSpPr>
            <p:cNvPr id="33" name="object 33"/>
            <p:cNvSpPr/>
            <p:nvPr/>
          </p:nvSpPr>
          <p:spPr>
            <a:xfrm>
              <a:off x="0" y="6381750"/>
              <a:ext cx="12182475" cy="466725"/>
            </a:xfrm>
            <a:custGeom>
              <a:avLst/>
              <a:gdLst/>
              <a:ahLst/>
              <a:cxnLst/>
              <a:rect l="l" t="t" r="r" b="b"/>
              <a:pathLst>
                <a:path w="12182475" h="466725">
                  <a:moveTo>
                    <a:pt x="12182475" y="466725"/>
                  </a:moveTo>
                  <a:lnTo>
                    <a:pt x="0" y="466725"/>
                  </a:lnTo>
                  <a:lnTo>
                    <a:pt x="0" y="0"/>
                  </a:lnTo>
                  <a:lnTo>
                    <a:pt x="12182475" y="0"/>
                  </a:lnTo>
                  <a:lnTo>
                    <a:pt x="12182475" y="466725"/>
                  </a:lnTo>
                  <a:close/>
                </a:path>
              </a:pathLst>
            </a:custGeom>
            <a:solidFill>
              <a:srgbClr val="FFFFFF"/>
            </a:solidFill>
          </p:spPr>
          <p:txBody>
            <a:bodyPr wrap="square" lIns="0" tIns="0" rIns="0" bIns="0" rtlCol="0"/>
            <a:lstStyle/>
            <a:p/>
          </p:txBody>
        </p:sp>
        <p:pic>
          <p:nvPicPr>
            <p:cNvPr id="34" name="object 34"/>
            <p:cNvPicPr/>
            <p:nvPr/>
          </p:nvPicPr>
          <p:blipFill>
            <a:blip r:embed="rId2" cstate="print"/>
            <a:stretch>
              <a:fillRect/>
            </a:stretch>
          </p:blipFill>
          <p:spPr>
            <a:xfrm>
              <a:off x="457200" y="6438900"/>
              <a:ext cx="3286125" cy="266700"/>
            </a:xfrm>
            <a:prstGeom prst="rect">
              <a:avLst/>
            </a:prstGeom>
          </p:spPr>
        </p:pic>
      </p:grpSp>
      <p:sp>
        <p:nvSpPr>
          <p:cNvPr id="35" name="object 35"/>
          <p:cNvSpPr txBox="1">
            <a:spLocks noGrp="1"/>
          </p:cNvSpPr>
          <p:nvPr>
            <p:ph type="ftr" idx="5" sz="quarter"/>
          </p:nvPr>
        </p:nvSpPr>
        <p:spPr>
          <a:xfrm>
            <a:off x="8531352" y="6528816"/>
            <a:ext cx="3200400" cy="173736"/>
          </a:xfrm>
          <a:prstGeom prst="rect"/>
        </p:spPr>
        <p:txBody>
          <a:bodyPr wrap="square" lIns="0" tIns="3175" rIns="0" bIns="0" rtlCol="0" vert="horz">
            <a:spAutoFit/>
          </a:body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5475" y="559494"/>
            <a:ext cx="314325" cy="330200"/>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FFFFFF"/>
                </a:solidFill>
                <a:latin typeface="Roboto"/>
                <a:cs typeface="Roboto"/>
              </a:rPr>
              <a:t>04</a:t>
            </a:r>
            <a:endParaRPr sz="2000">
              <a:latin typeface="Roboto"/>
              <a:cs typeface="Roboto"/>
            </a:endParaRPr>
          </a:p>
        </p:txBody>
      </p:sp>
      <p:sp>
        <p:nvSpPr>
          <p:cNvPr id="3" name="object 3"/>
          <p:cNvSpPr txBox="1"/>
          <p:nvPr/>
        </p:nvSpPr>
        <p:spPr>
          <a:xfrm>
            <a:off x="1216025" y="471586"/>
            <a:ext cx="4572000" cy="208279"/>
          </a:xfrm>
          <a:prstGeom prst="rect">
            <a:avLst/>
          </a:prstGeom>
        </p:spPr>
        <p:txBody>
          <a:bodyPr wrap="square" lIns="0" tIns="12700" rIns="0" bIns="0" rtlCol="0" vert="horz">
            <a:spAutoFit/>
          </a:bodyPr>
          <a:lstStyle/>
          <a:p>
            <a:pPr marL="12700">
              <a:lnSpc>
                <a:spcPct val="100000"/>
              </a:lnSpc>
              <a:spcBef>
                <a:spcPts val="100"/>
              </a:spcBef>
            </a:pPr>
            <a:r>
              <a:rPr dirty="0" sz="1200" b="1">
                <a:solidFill>
                  <a:srgbClr val="B8933F"/>
                </a:solidFill>
                <a:latin typeface="Roboto"/>
                <a:cs typeface="Roboto"/>
              </a:rPr>
              <a:t>HOW</a:t>
            </a:r>
            <a:r>
              <a:rPr dirty="0" sz="1200" spc="-60" b="1">
                <a:solidFill>
                  <a:srgbClr val="B8933F"/>
                </a:solidFill>
                <a:latin typeface="Roboto"/>
                <a:cs typeface="Roboto"/>
              </a:rPr>
              <a:t> </a:t>
            </a:r>
            <a:r>
              <a:rPr dirty="0" sz="1200" b="1">
                <a:solidFill>
                  <a:srgbClr val="B8933F"/>
                </a:solidFill>
                <a:latin typeface="Roboto"/>
                <a:cs typeface="Roboto"/>
              </a:rPr>
              <a:t>IT'S</a:t>
            </a:r>
            <a:r>
              <a:rPr dirty="0" sz="1200" spc="-20" b="1">
                <a:solidFill>
                  <a:srgbClr val="B8933F"/>
                </a:solidFill>
                <a:latin typeface="Roboto"/>
                <a:cs typeface="Roboto"/>
              </a:rPr>
              <a:t> BUILT</a:t>
            </a:r>
            <a:endParaRPr sz="1200">
              <a:latin typeface="Roboto"/>
              <a:cs typeface="Roboto"/>
            </a:endParaRPr>
          </a:p>
        </p:txBody>
      </p:sp>
      <p:sp>
        <p:nvSpPr>
          <p:cNvPr id="4" name="object 4" descr="$PPTXTitle"/>
          <p:cNvSpPr txBox="1">
            <a:spLocks noGrp="1"/>
          </p:cNvSpPr>
          <p:nvPr>
            <p:ph type="title"/>
          </p:nvPr>
        </p:nvSpPr>
        <p:spPr>
          <a:xfrm>
            <a:ext cx="8046720" cy="0"/>
          </a:xfrm>
          <a:prstGeom prst="rect"/>
        </p:spPr>
        <p:txBody>
          <a:bodyPr wrap="square" lIns="0" tIns="12700" rIns="0" bIns="0" rtlCol="0" vert="horz">
            <a:spAutoFit/>
          </a:bodyPr>
          <a:lstStyle/>
          <a:p>
            <a:pPr marL="12700">
              <a:lnSpc>
                <a:spcPct val="100000"/>
              </a:lnSpc>
              <a:spcBef>
                <a:spcPts val="100"/>
              </a:spcBef>
            </a:pPr>
            <a:r>
              <a:rPr dirty="0"/>
              <a:t>Tech </a:t>
            </a:r>
            <a:r>
              <a:rPr dirty="0" spc="-20"/>
              <a:t>Stack</a:t>
            </a:r>
          </a:p>
        </p:txBody>
      </p:sp>
      <p:grpSp>
        <p:nvGrpSpPr>
          <p:cNvPr id="5" name="object 5"/>
          <p:cNvGrpSpPr/>
          <p:nvPr/>
        </p:nvGrpSpPr>
        <p:grpSpPr>
          <a:xfrm>
            <a:off x="542925" y="1366837"/>
            <a:ext cx="11058525" cy="9525"/>
            <a:chOff x="542925" y="1366837"/>
            <a:chExt cx="11058525" cy="9525"/>
          </a:xfrm>
        </p:grpSpPr>
        <p:sp>
          <p:nvSpPr>
            <p:cNvPr id="6" name="object 6"/>
            <p:cNvSpPr/>
            <p:nvPr/>
          </p:nvSpPr>
          <p:spPr>
            <a:xfrm>
              <a:off x="542925" y="1371600"/>
              <a:ext cx="11058525" cy="0"/>
            </a:xfrm>
            <a:custGeom>
              <a:avLst/>
              <a:gdLst/>
              <a:ahLst/>
              <a:cxnLst/>
              <a:rect l="l" t="t" r="r" b="b"/>
              <a:pathLst>
                <a:path w="11058525" h="0">
                  <a:moveTo>
                    <a:pt x="11058525" y="0"/>
                  </a:moveTo>
                  <a:lnTo>
                    <a:pt x="0" y="0"/>
                  </a:lnTo>
                </a:path>
              </a:pathLst>
            </a:custGeom>
            <a:solidFill>
              <a:srgbClr val="D8DCE3"/>
            </a:solidFill>
          </p:spPr>
          <p:txBody>
            <a:bodyPr wrap="square" lIns="0" tIns="0" rIns="0" bIns="0" rtlCol="0"/>
            <a:lstStyle/>
            <a:p/>
          </p:txBody>
        </p:sp>
        <p:sp>
          <p:nvSpPr>
            <p:cNvPr id="7" name="object 7"/>
            <p:cNvSpPr/>
            <p:nvPr/>
          </p:nvSpPr>
          <p:spPr>
            <a:xfrm>
              <a:off x="542925" y="1371600"/>
              <a:ext cx="11058525" cy="0"/>
            </a:xfrm>
            <a:custGeom>
              <a:avLst/>
              <a:gdLst/>
              <a:ahLst/>
              <a:cxnLst/>
              <a:rect l="l" t="t" r="r" b="b"/>
              <a:pathLst>
                <a:path w="11058525" h="0">
                  <a:moveTo>
                    <a:pt x="0" y="0"/>
                  </a:moveTo>
                  <a:lnTo>
                    <a:pt x="11058525" y="0"/>
                  </a:lnTo>
                </a:path>
              </a:pathLst>
            </a:custGeom>
            <a:ln w="9525">
              <a:solidFill>
                <a:srgbClr val="D8DCE3"/>
              </a:solidFill>
            </a:ln>
          </p:spPr>
          <p:txBody>
            <a:bodyPr wrap="square" lIns="0" tIns="0" rIns="0" bIns="0" rtlCol="0"/>
            <a:lstStyle/>
            <a:p/>
          </p:txBody>
        </p:sp>
      </p:grpSp>
      <p:grpSp>
        <p:nvGrpSpPr>
          <p:cNvPr id="8" name="object 8"/>
          <p:cNvGrpSpPr/>
          <p:nvPr/>
        </p:nvGrpSpPr>
        <p:grpSpPr>
          <a:xfrm>
            <a:off x="538162" y="1681162"/>
            <a:ext cx="11096625" cy="1971675"/>
            <a:chOff x="538162" y="1681162"/>
            <a:chExt cx="11096625" cy="1971675"/>
          </a:xfrm>
        </p:grpSpPr>
        <p:sp>
          <p:nvSpPr>
            <p:cNvPr id="9" name="object 9"/>
            <p:cNvSpPr/>
            <p:nvPr/>
          </p:nvSpPr>
          <p:spPr>
            <a:xfrm>
              <a:off x="542925" y="1685925"/>
              <a:ext cx="11087100" cy="1962150"/>
            </a:xfrm>
            <a:custGeom>
              <a:avLst/>
              <a:gdLst/>
              <a:ahLst/>
              <a:cxnLst/>
              <a:rect l="l" t="t" r="r" b="b"/>
              <a:pathLst>
                <a:path w="11087100" h="1962150">
                  <a:moveTo>
                    <a:pt x="11014088" y="1962150"/>
                  </a:moveTo>
                  <a:lnTo>
                    <a:pt x="73011" y="1962150"/>
                  </a:lnTo>
                  <a:lnTo>
                    <a:pt x="58444" y="1960813"/>
                  </a:lnTo>
                  <a:lnTo>
                    <a:pt x="21384" y="1940765"/>
                  </a:lnTo>
                  <a:lnTo>
                    <a:pt x="1336" y="1903706"/>
                  </a:lnTo>
                  <a:lnTo>
                    <a:pt x="0" y="1889138"/>
                  </a:lnTo>
                  <a:lnTo>
                    <a:pt x="0" y="73011"/>
                  </a:lnTo>
                  <a:lnTo>
                    <a:pt x="12028" y="32630"/>
                  </a:lnTo>
                  <a:lnTo>
                    <a:pt x="44983" y="5346"/>
                  </a:lnTo>
                  <a:lnTo>
                    <a:pt x="73011" y="0"/>
                  </a:lnTo>
                  <a:lnTo>
                    <a:pt x="11014088" y="0"/>
                  </a:lnTo>
                  <a:lnTo>
                    <a:pt x="11054468" y="12028"/>
                  </a:lnTo>
                  <a:lnTo>
                    <a:pt x="11081753" y="44983"/>
                  </a:lnTo>
                  <a:lnTo>
                    <a:pt x="11087100" y="73011"/>
                  </a:lnTo>
                  <a:lnTo>
                    <a:pt x="11087100" y="1889138"/>
                  </a:lnTo>
                  <a:lnTo>
                    <a:pt x="11075071" y="1929519"/>
                  </a:lnTo>
                  <a:lnTo>
                    <a:pt x="11042116" y="1956803"/>
                  </a:lnTo>
                  <a:lnTo>
                    <a:pt x="11014088" y="1962150"/>
                  </a:lnTo>
                  <a:close/>
                </a:path>
              </a:pathLst>
            </a:custGeom>
            <a:solidFill>
              <a:srgbClr val="FFFFFF"/>
            </a:solidFill>
          </p:spPr>
          <p:txBody>
            <a:bodyPr wrap="square" lIns="0" tIns="0" rIns="0" bIns="0" rtlCol="0"/>
            <a:lstStyle/>
            <a:p/>
          </p:txBody>
        </p:sp>
        <p:sp>
          <p:nvSpPr>
            <p:cNvPr id="10" name="object 10"/>
            <p:cNvSpPr/>
            <p:nvPr/>
          </p:nvSpPr>
          <p:spPr>
            <a:xfrm>
              <a:off x="542925" y="1685925"/>
              <a:ext cx="11087100" cy="1962150"/>
            </a:xfrm>
            <a:custGeom>
              <a:avLst/>
              <a:gdLst/>
              <a:ahLst/>
              <a:cxnLst/>
              <a:rect l="l" t="t" r="r" b="b"/>
              <a:pathLst>
                <a:path w="11087100" h="1962150">
                  <a:moveTo>
                    <a:pt x="0" y="73011"/>
                  </a:moveTo>
                  <a:lnTo>
                    <a:pt x="12028" y="32630"/>
                  </a:lnTo>
                  <a:lnTo>
                    <a:pt x="44983" y="5346"/>
                  </a:lnTo>
                  <a:lnTo>
                    <a:pt x="73011" y="0"/>
                  </a:lnTo>
                  <a:lnTo>
                    <a:pt x="11014088" y="0"/>
                  </a:lnTo>
                  <a:lnTo>
                    <a:pt x="11054468" y="12028"/>
                  </a:lnTo>
                  <a:lnTo>
                    <a:pt x="11081753" y="44983"/>
                  </a:lnTo>
                  <a:lnTo>
                    <a:pt x="11087100" y="73011"/>
                  </a:lnTo>
                  <a:lnTo>
                    <a:pt x="11087100" y="1889138"/>
                  </a:lnTo>
                  <a:lnTo>
                    <a:pt x="11075071" y="1929519"/>
                  </a:lnTo>
                  <a:lnTo>
                    <a:pt x="11042116" y="1956803"/>
                  </a:lnTo>
                  <a:lnTo>
                    <a:pt x="11014088" y="1962150"/>
                  </a:lnTo>
                  <a:lnTo>
                    <a:pt x="73011" y="1962150"/>
                  </a:lnTo>
                  <a:lnTo>
                    <a:pt x="32630" y="1950120"/>
                  </a:lnTo>
                  <a:lnTo>
                    <a:pt x="5346" y="1917166"/>
                  </a:lnTo>
                  <a:lnTo>
                    <a:pt x="0" y="1889138"/>
                  </a:lnTo>
                  <a:lnTo>
                    <a:pt x="0" y="73011"/>
                  </a:lnTo>
                  <a:close/>
                </a:path>
                <a:path w="11087100" h="1962150">
                  <a:moveTo>
                    <a:pt x="0" y="73011"/>
                  </a:moveTo>
                  <a:lnTo>
                    <a:pt x="12028" y="32630"/>
                  </a:lnTo>
                  <a:lnTo>
                    <a:pt x="44983" y="5346"/>
                  </a:lnTo>
                  <a:lnTo>
                    <a:pt x="73011" y="0"/>
                  </a:lnTo>
                  <a:lnTo>
                    <a:pt x="11014088" y="0"/>
                  </a:lnTo>
                  <a:lnTo>
                    <a:pt x="11054468" y="12028"/>
                  </a:lnTo>
                  <a:lnTo>
                    <a:pt x="11081753" y="44983"/>
                  </a:lnTo>
                  <a:lnTo>
                    <a:pt x="11087100" y="73011"/>
                  </a:lnTo>
                  <a:lnTo>
                    <a:pt x="11087100" y="1889138"/>
                  </a:lnTo>
                  <a:lnTo>
                    <a:pt x="11075071" y="1929519"/>
                  </a:lnTo>
                  <a:lnTo>
                    <a:pt x="11042116" y="1956803"/>
                  </a:lnTo>
                  <a:lnTo>
                    <a:pt x="11014088" y="1962150"/>
                  </a:lnTo>
                  <a:lnTo>
                    <a:pt x="73011" y="1962150"/>
                  </a:lnTo>
                  <a:lnTo>
                    <a:pt x="32630" y="1950120"/>
                  </a:lnTo>
                  <a:lnTo>
                    <a:pt x="5346" y="1917166"/>
                  </a:lnTo>
                  <a:lnTo>
                    <a:pt x="0" y="1889138"/>
                  </a:lnTo>
                  <a:lnTo>
                    <a:pt x="0" y="73011"/>
                  </a:lnTo>
                  <a:close/>
                </a:path>
              </a:pathLst>
            </a:custGeom>
            <a:ln w="9525">
              <a:solidFill>
                <a:srgbClr val="D8DCE3"/>
              </a:solidFill>
            </a:ln>
          </p:spPr>
          <p:txBody>
            <a:bodyPr wrap="square" lIns="0" tIns="0" rIns="0" bIns="0" rtlCol="0"/>
            <a:lstStyle/>
            <a:p/>
          </p:txBody>
        </p:sp>
      </p:grpSp>
      <p:sp>
        <p:nvSpPr>
          <p:cNvPr id="11" name="object 11"/>
          <p:cNvSpPr txBox="1"/>
          <p:nvPr/>
        </p:nvSpPr>
        <p:spPr>
          <a:xfrm>
            <a:off x="758825" y="1766843"/>
            <a:ext cx="10561320" cy="565785"/>
          </a:xfrm>
          <a:prstGeom prst="rect">
            <a:avLst/>
          </a:prstGeom>
        </p:spPr>
        <p:txBody>
          <a:bodyPr wrap="square" lIns="0" tIns="106680" rIns="0" bIns="0" rtlCol="0" vert="horz">
            <a:spAutoFit/>
          </a:bodyPr>
          <a:lstStyle/>
          <a:p>
            <a:pPr marL="12700">
              <a:lnSpc>
                <a:spcPct val="100000"/>
              </a:lnSpc>
              <a:spcBef>
                <a:spcPts val="840"/>
              </a:spcBef>
            </a:pPr>
            <a:r>
              <a:rPr dirty="0" sz="1300" b="1">
                <a:solidFill>
                  <a:srgbClr val="1E2A4A"/>
                </a:solidFill>
                <a:latin typeface="Roboto"/>
                <a:cs typeface="Roboto"/>
              </a:rPr>
              <a:t>Technologies used</a:t>
            </a:r>
            <a:endParaRPr sz="1300">
              <a:latin typeface="Roboto"/>
              <a:cs typeface="Roboto"/>
            </a:endParaRPr>
          </a:p>
          <a:p>
            <a:pPr marL="12700">
              <a:lnSpc>
                <a:spcPct val="100000"/>
              </a:lnSpc>
              <a:spcBef>
                <a:spcPts val="630"/>
              </a:spcBef>
            </a:pPr>
            <a:r>
              <a:rPr dirty="0" sz="1100" spc="-10">
                <a:solidFill>
                  <a:srgbClr val="5B6472"/>
                </a:solidFill>
                <a:latin typeface="Roboto"/>
                <a:cs typeface="Roboto"/>
              </a:rPr>
              <a:t>Python 3.12 — numpy, scipy, networkx, pydantic, pytest, pinned to the versions every number in this deck was generated with, because a results table that cannot be reproduced is not evidence. The simulator, the Hawkes fitter, the near-miss miner and the counterfactual search are all first-party: no ML framework, and no LLM anywhere in the decision path. The console is vanilla ES5 with WebGL through three.js, vendored into the repo so the demo needs no network — a venue's wifi is not part of the demo — with a 2D fallback beside it for a projector that cannot give us a GL context.</a:t>
            </a:r>
            <a:endParaRPr sz="1100">
              <a:latin typeface="Roboto"/>
              <a:cs typeface="Roboto"/>
            </a:endParaRPr>
          </a:p>
        </p:txBody>
      </p:sp>
      <p:grpSp>
        <p:nvGrpSpPr>
          <p:cNvPr id="12" name="object 12"/>
          <p:cNvGrpSpPr/>
          <p:nvPr/>
        </p:nvGrpSpPr>
        <p:grpSpPr>
          <a:xfrm>
            <a:off x="538162" y="3786187"/>
            <a:ext cx="5400675" cy="2152650"/>
            <a:chOff x="538162" y="3786187"/>
            <a:chExt cx="5400675" cy="2152650"/>
          </a:xfrm>
        </p:grpSpPr>
        <p:sp>
          <p:nvSpPr>
            <p:cNvPr id="13" name="object 13"/>
            <p:cNvSpPr/>
            <p:nvPr/>
          </p:nvSpPr>
          <p:spPr>
            <a:xfrm>
              <a:off x="542925" y="3790950"/>
              <a:ext cx="5391150" cy="2143125"/>
            </a:xfrm>
            <a:custGeom>
              <a:avLst/>
              <a:gdLst/>
              <a:ahLst/>
              <a:cxnLst/>
              <a:rect l="l" t="t" r="r" b="b"/>
              <a:pathLst>
                <a:path w="5391150" h="2143125">
                  <a:moveTo>
                    <a:pt x="5318198" y="2143125"/>
                  </a:moveTo>
                  <a:lnTo>
                    <a:pt x="72951" y="2143125"/>
                  </a:lnTo>
                  <a:lnTo>
                    <a:pt x="58396" y="2141789"/>
                  </a:lnTo>
                  <a:lnTo>
                    <a:pt x="21367" y="2121757"/>
                  </a:lnTo>
                  <a:lnTo>
                    <a:pt x="1335" y="2084728"/>
                  </a:lnTo>
                  <a:lnTo>
                    <a:pt x="0" y="2070173"/>
                  </a:lnTo>
                  <a:lnTo>
                    <a:pt x="0" y="72952"/>
                  </a:lnTo>
                  <a:lnTo>
                    <a:pt x="12018" y="32603"/>
                  </a:lnTo>
                  <a:lnTo>
                    <a:pt x="44946" y="5341"/>
                  </a:lnTo>
                  <a:lnTo>
                    <a:pt x="72951" y="0"/>
                  </a:lnTo>
                  <a:lnTo>
                    <a:pt x="5318198" y="0"/>
                  </a:lnTo>
                  <a:lnTo>
                    <a:pt x="5358545" y="12019"/>
                  </a:lnTo>
                  <a:lnTo>
                    <a:pt x="5385808" y="44946"/>
                  </a:lnTo>
                  <a:lnTo>
                    <a:pt x="5391150" y="72952"/>
                  </a:lnTo>
                  <a:lnTo>
                    <a:pt x="5391150" y="2070173"/>
                  </a:lnTo>
                  <a:lnTo>
                    <a:pt x="5379130" y="2110520"/>
                  </a:lnTo>
                  <a:lnTo>
                    <a:pt x="5346202" y="2137783"/>
                  </a:lnTo>
                  <a:lnTo>
                    <a:pt x="5318198" y="2143125"/>
                  </a:lnTo>
                  <a:close/>
                </a:path>
              </a:pathLst>
            </a:custGeom>
            <a:solidFill>
              <a:srgbClr val="FFFFFF"/>
            </a:solidFill>
          </p:spPr>
          <p:txBody>
            <a:bodyPr wrap="square" lIns="0" tIns="0" rIns="0" bIns="0" rtlCol="0"/>
            <a:lstStyle/>
            <a:p/>
          </p:txBody>
        </p:sp>
        <p:sp>
          <p:nvSpPr>
            <p:cNvPr id="14" name="object 14"/>
            <p:cNvSpPr/>
            <p:nvPr/>
          </p:nvSpPr>
          <p:spPr>
            <a:xfrm>
              <a:off x="542925" y="3790950"/>
              <a:ext cx="5391150" cy="2143125"/>
            </a:xfrm>
            <a:custGeom>
              <a:avLst/>
              <a:gdLst/>
              <a:ahLst/>
              <a:cxnLst/>
              <a:rect l="l" t="t" r="r" b="b"/>
              <a:pathLst>
                <a:path w="5391150" h="2143125">
                  <a:moveTo>
                    <a:pt x="0" y="72952"/>
                  </a:moveTo>
                  <a:lnTo>
                    <a:pt x="12018" y="32603"/>
                  </a:lnTo>
                  <a:lnTo>
                    <a:pt x="44946" y="5341"/>
                  </a:lnTo>
                  <a:lnTo>
                    <a:pt x="72951" y="0"/>
                  </a:lnTo>
                  <a:lnTo>
                    <a:pt x="5318198" y="0"/>
                  </a:lnTo>
                  <a:lnTo>
                    <a:pt x="5358545" y="12019"/>
                  </a:lnTo>
                  <a:lnTo>
                    <a:pt x="5385808" y="44946"/>
                  </a:lnTo>
                  <a:lnTo>
                    <a:pt x="5391150" y="72952"/>
                  </a:lnTo>
                  <a:lnTo>
                    <a:pt x="5391150" y="2070173"/>
                  </a:lnTo>
                  <a:lnTo>
                    <a:pt x="5379130" y="2110520"/>
                  </a:lnTo>
                  <a:lnTo>
                    <a:pt x="5346202" y="2137783"/>
                  </a:lnTo>
                  <a:lnTo>
                    <a:pt x="5318198" y="2143125"/>
                  </a:lnTo>
                  <a:lnTo>
                    <a:pt x="72951" y="2143125"/>
                  </a:lnTo>
                  <a:lnTo>
                    <a:pt x="32603" y="2131105"/>
                  </a:lnTo>
                  <a:lnTo>
                    <a:pt x="5341" y="2098177"/>
                  </a:lnTo>
                  <a:lnTo>
                    <a:pt x="0" y="2070173"/>
                  </a:lnTo>
                  <a:lnTo>
                    <a:pt x="0" y="72952"/>
                  </a:lnTo>
                  <a:close/>
                </a:path>
                <a:path w="5391150" h="2143125">
                  <a:moveTo>
                    <a:pt x="0" y="72952"/>
                  </a:moveTo>
                  <a:lnTo>
                    <a:pt x="12018" y="32603"/>
                  </a:lnTo>
                  <a:lnTo>
                    <a:pt x="44946" y="5341"/>
                  </a:lnTo>
                  <a:lnTo>
                    <a:pt x="72951" y="0"/>
                  </a:lnTo>
                  <a:lnTo>
                    <a:pt x="5318198" y="0"/>
                  </a:lnTo>
                  <a:lnTo>
                    <a:pt x="5358545" y="12019"/>
                  </a:lnTo>
                  <a:lnTo>
                    <a:pt x="5385808" y="44946"/>
                  </a:lnTo>
                  <a:lnTo>
                    <a:pt x="5391150" y="72952"/>
                  </a:lnTo>
                  <a:lnTo>
                    <a:pt x="5391150" y="2070173"/>
                  </a:lnTo>
                  <a:lnTo>
                    <a:pt x="5379130" y="2110520"/>
                  </a:lnTo>
                  <a:lnTo>
                    <a:pt x="5346202" y="2137783"/>
                  </a:lnTo>
                  <a:lnTo>
                    <a:pt x="5318198" y="2143125"/>
                  </a:lnTo>
                  <a:lnTo>
                    <a:pt x="72951" y="2143125"/>
                  </a:lnTo>
                  <a:lnTo>
                    <a:pt x="32603" y="2131105"/>
                  </a:lnTo>
                  <a:lnTo>
                    <a:pt x="5341" y="2098177"/>
                  </a:lnTo>
                  <a:lnTo>
                    <a:pt x="0" y="2070173"/>
                  </a:lnTo>
                  <a:lnTo>
                    <a:pt x="0" y="72952"/>
                  </a:lnTo>
                  <a:close/>
                </a:path>
              </a:pathLst>
            </a:custGeom>
            <a:ln w="9525">
              <a:solidFill>
                <a:srgbClr val="D8DCE3"/>
              </a:solidFill>
            </a:ln>
          </p:spPr>
          <p:txBody>
            <a:bodyPr wrap="square" lIns="0" tIns="0" rIns="0" bIns="0" rtlCol="0"/>
            <a:lstStyle/>
            <a:p/>
          </p:txBody>
        </p:sp>
      </p:grpSp>
      <p:sp>
        <p:nvSpPr>
          <p:cNvPr id="15" name="object 15"/>
          <p:cNvSpPr txBox="1"/>
          <p:nvPr/>
        </p:nvSpPr>
        <p:spPr>
          <a:xfrm>
            <a:off x="758825" y="3851087"/>
            <a:ext cx="4956048" cy="586740"/>
          </a:xfrm>
          <a:prstGeom prst="rect">
            <a:avLst/>
          </a:prstGeom>
        </p:spPr>
        <p:txBody>
          <a:bodyPr wrap="square" lIns="0" tIns="118110" rIns="0" bIns="0" rtlCol="0" vert="horz">
            <a:spAutoFit/>
          </a:bodyPr>
          <a:lstStyle/>
          <a:p>
            <a:pPr marL="12700">
              <a:lnSpc>
                <a:spcPct val="100000"/>
              </a:lnSpc>
              <a:spcBef>
                <a:spcPts val="930"/>
              </a:spcBef>
            </a:pPr>
            <a:r>
              <a:rPr dirty="0" sz="1300" b="1">
                <a:solidFill>
                  <a:srgbClr val="1E2A4A"/>
                </a:solidFill>
                <a:latin typeface="Roboto"/>
                <a:cs typeface="Roboto"/>
              </a:rPr>
              <a:t>APIs &amp; integrations</a:t>
            </a:r>
            <a:endParaRPr sz="1300">
              <a:latin typeface="Roboto"/>
              <a:cs typeface="Roboto"/>
            </a:endParaRPr>
          </a:p>
          <a:p>
            <a:pPr marL="12700">
              <a:lnSpc>
                <a:spcPct val="100000"/>
              </a:lnSpc>
              <a:spcBef>
                <a:spcPts val="705"/>
              </a:spcBef>
            </a:pPr>
            <a:r>
              <a:rPr dirty="0" sz="1100">
                <a:solidFill>
                  <a:srgbClr val="5B6472"/>
                </a:solidFill>
                <a:latin typeface="Roboto"/>
                <a:cs typeface="Roboto"/>
              </a:rPr>
              <a:t>None at runtime, deliberately: the decision loop has to run with the uplink cut. What we stand on is declared instead — InfraRisk (BSD-3) for interdependent water–power–transport failure, the Hawkes/ETAS kernel from seismology, and NASA's ASRS precursor work as the licence for mining near-misses. I³ (Tsinghua, arXiv 2503.02890) is the intended SOTA baseline and we did not reproduce it on our hardware: published numbers only, said in the arms table where the row would be rather than quietly dropped.</a:t>
            </a:r>
            <a:endParaRPr sz="1100">
              <a:latin typeface="Roboto"/>
              <a:cs typeface="Roboto"/>
            </a:endParaRPr>
          </a:p>
        </p:txBody>
      </p:sp>
      <p:grpSp>
        <p:nvGrpSpPr>
          <p:cNvPr id="16" name="object 16"/>
          <p:cNvGrpSpPr/>
          <p:nvPr/>
        </p:nvGrpSpPr>
        <p:grpSpPr>
          <a:xfrm>
            <a:off x="6234112" y="3786187"/>
            <a:ext cx="5400675" cy="2152650"/>
            <a:chOff x="6234112" y="3786187"/>
            <a:chExt cx="5400675" cy="2152650"/>
          </a:xfrm>
        </p:grpSpPr>
        <p:sp>
          <p:nvSpPr>
            <p:cNvPr id="17" name="object 17"/>
            <p:cNvSpPr/>
            <p:nvPr/>
          </p:nvSpPr>
          <p:spPr>
            <a:xfrm>
              <a:off x="6238875" y="3790950"/>
              <a:ext cx="5391150" cy="2143125"/>
            </a:xfrm>
            <a:custGeom>
              <a:avLst/>
              <a:gdLst/>
              <a:ahLst/>
              <a:cxnLst/>
              <a:rect l="l" t="t" r="r" b="b"/>
              <a:pathLst>
                <a:path w="5391150" h="2143125">
                  <a:moveTo>
                    <a:pt x="5318198" y="2143125"/>
                  </a:moveTo>
                  <a:lnTo>
                    <a:pt x="72952" y="2143125"/>
                  </a:lnTo>
                  <a:lnTo>
                    <a:pt x="58396" y="2141789"/>
                  </a:lnTo>
                  <a:lnTo>
                    <a:pt x="21366" y="2121757"/>
                  </a:lnTo>
                  <a:lnTo>
                    <a:pt x="1335" y="2084728"/>
                  </a:lnTo>
                  <a:lnTo>
                    <a:pt x="0" y="2070173"/>
                  </a:lnTo>
                  <a:lnTo>
                    <a:pt x="0" y="72952"/>
                  </a:lnTo>
                  <a:lnTo>
                    <a:pt x="12018" y="32603"/>
                  </a:lnTo>
                  <a:lnTo>
                    <a:pt x="44946" y="5341"/>
                  </a:lnTo>
                  <a:lnTo>
                    <a:pt x="72952" y="0"/>
                  </a:lnTo>
                  <a:lnTo>
                    <a:pt x="5318198" y="0"/>
                  </a:lnTo>
                  <a:lnTo>
                    <a:pt x="5358545" y="12019"/>
                  </a:lnTo>
                  <a:lnTo>
                    <a:pt x="5385808" y="44946"/>
                  </a:lnTo>
                  <a:lnTo>
                    <a:pt x="5391150" y="72952"/>
                  </a:lnTo>
                  <a:lnTo>
                    <a:pt x="5391150" y="2070173"/>
                  </a:lnTo>
                  <a:lnTo>
                    <a:pt x="5379130" y="2110520"/>
                  </a:lnTo>
                  <a:lnTo>
                    <a:pt x="5346202" y="2137783"/>
                  </a:lnTo>
                  <a:lnTo>
                    <a:pt x="5318198" y="2143125"/>
                  </a:lnTo>
                  <a:close/>
                </a:path>
              </a:pathLst>
            </a:custGeom>
            <a:solidFill>
              <a:srgbClr val="FFFFFF"/>
            </a:solidFill>
          </p:spPr>
          <p:txBody>
            <a:bodyPr wrap="square" lIns="0" tIns="0" rIns="0" bIns="0" rtlCol="0"/>
            <a:lstStyle/>
            <a:p/>
          </p:txBody>
        </p:sp>
        <p:sp>
          <p:nvSpPr>
            <p:cNvPr id="18" name="object 18"/>
            <p:cNvSpPr/>
            <p:nvPr/>
          </p:nvSpPr>
          <p:spPr>
            <a:xfrm>
              <a:off x="6238875" y="3790950"/>
              <a:ext cx="5391150" cy="2143125"/>
            </a:xfrm>
            <a:custGeom>
              <a:avLst/>
              <a:gdLst/>
              <a:ahLst/>
              <a:cxnLst/>
              <a:rect l="l" t="t" r="r" b="b"/>
              <a:pathLst>
                <a:path w="5391150" h="2143125">
                  <a:moveTo>
                    <a:pt x="0" y="72952"/>
                  </a:moveTo>
                  <a:lnTo>
                    <a:pt x="12018" y="32603"/>
                  </a:lnTo>
                  <a:lnTo>
                    <a:pt x="44946" y="5341"/>
                  </a:lnTo>
                  <a:lnTo>
                    <a:pt x="72952" y="0"/>
                  </a:lnTo>
                  <a:lnTo>
                    <a:pt x="5318198" y="0"/>
                  </a:lnTo>
                  <a:lnTo>
                    <a:pt x="5358545" y="12019"/>
                  </a:lnTo>
                  <a:lnTo>
                    <a:pt x="5385808" y="44946"/>
                  </a:lnTo>
                  <a:lnTo>
                    <a:pt x="5391150" y="72952"/>
                  </a:lnTo>
                  <a:lnTo>
                    <a:pt x="5391150" y="2070173"/>
                  </a:lnTo>
                  <a:lnTo>
                    <a:pt x="5379130" y="2110520"/>
                  </a:lnTo>
                  <a:lnTo>
                    <a:pt x="5346202" y="2137783"/>
                  </a:lnTo>
                  <a:lnTo>
                    <a:pt x="5318198" y="2143125"/>
                  </a:lnTo>
                  <a:lnTo>
                    <a:pt x="72952" y="2143125"/>
                  </a:lnTo>
                  <a:lnTo>
                    <a:pt x="32603" y="2131105"/>
                  </a:lnTo>
                  <a:lnTo>
                    <a:pt x="5341" y="2098177"/>
                  </a:lnTo>
                  <a:lnTo>
                    <a:pt x="0" y="2070173"/>
                  </a:lnTo>
                  <a:lnTo>
                    <a:pt x="0" y="72952"/>
                  </a:lnTo>
                  <a:close/>
                </a:path>
                <a:path w="5391150" h="2143125">
                  <a:moveTo>
                    <a:pt x="0" y="72952"/>
                  </a:moveTo>
                  <a:lnTo>
                    <a:pt x="12018" y="32603"/>
                  </a:lnTo>
                  <a:lnTo>
                    <a:pt x="44946" y="5341"/>
                  </a:lnTo>
                  <a:lnTo>
                    <a:pt x="72952" y="0"/>
                  </a:lnTo>
                  <a:lnTo>
                    <a:pt x="5318198" y="0"/>
                  </a:lnTo>
                  <a:lnTo>
                    <a:pt x="5358545" y="12019"/>
                  </a:lnTo>
                  <a:lnTo>
                    <a:pt x="5385808" y="44946"/>
                  </a:lnTo>
                  <a:lnTo>
                    <a:pt x="5391150" y="72952"/>
                  </a:lnTo>
                  <a:lnTo>
                    <a:pt x="5391150" y="2070173"/>
                  </a:lnTo>
                  <a:lnTo>
                    <a:pt x="5379130" y="2110520"/>
                  </a:lnTo>
                  <a:lnTo>
                    <a:pt x="5346202" y="2137783"/>
                  </a:lnTo>
                  <a:lnTo>
                    <a:pt x="5318198" y="2143125"/>
                  </a:lnTo>
                  <a:lnTo>
                    <a:pt x="72952" y="2143125"/>
                  </a:lnTo>
                  <a:lnTo>
                    <a:pt x="32603" y="2131105"/>
                  </a:lnTo>
                  <a:lnTo>
                    <a:pt x="5341" y="2098177"/>
                  </a:lnTo>
                  <a:lnTo>
                    <a:pt x="0" y="2070173"/>
                  </a:lnTo>
                  <a:lnTo>
                    <a:pt x="0" y="72952"/>
                  </a:lnTo>
                  <a:close/>
                </a:path>
              </a:pathLst>
            </a:custGeom>
            <a:ln w="9525">
              <a:solidFill>
                <a:srgbClr val="D8DCE3"/>
              </a:solidFill>
            </a:ln>
          </p:spPr>
          <p:txBody>
            <a:bodyPr wrap="square" lIns="0" tIns="0" rIns="0" bIns="0" rtlCol="0"/>
            <a:lstStyle/>
            <a:p/>
          </p:txBody>
        </p:sp>
      </p:grpSp>
      <p:sp>
        <p:nvSpPr>
          <p:cNvPr id="19" name="object 19"/>
          <p:cNvSpPr txBox="1"/>
          <p:nvPr/>
        </p:nvSpPr>
        <p:spPr>
          <a:xfrm>
            <a:off x="6454775" y="3851087"/>
            <a:ext cx="4956048" cy="586740"/>
          </a:xfrm>
          <a:prstGeom prst="rect">
            <a:avLst/>
          </a:prstGeom>
        </p:spPr>
        <p:txBody>
          <a:bodyPr wrap="square" lIns="0" tIns="118110" rIns="0" bIns="0" rtlCol="0" vert="horz">
            <a:spAutoFit/>
          </a:bodyPr>
          <a:lstStyle/>
          <a:p>
            <a:pPr marL="12700">
              <a:lnSpc>
                <a:spcPct val="100000"/>
              </a:lnSpc>
              <a:spcBef>
                <a:spcPts val="930"/>
              </a:spcBef>
            </a:pPr>
            <a:r>
              <a:rPr dirty="0" sz="1300" b="1">
                <a:solidFill>
                  <a:srgbClr val="1E2A4A"/>
                </a:solidFill>
                <a:latin typeface="Roboto"/>
                <a:cs typeface="Roboto"/>
              </a:rPr>
              <a:t>Data &amp; infrastructure</a:t>
            </a:r>
            <a:endParaRPr sz="1300">
              <a:latin typeface="Roboto"/>
              <a:cs typeface="Roboto"/>
            </a:endParaRPr>
          </a:p>
          <a:p>
            <a:pPr marL="12700">
              <a:lnSpc>
                <a:spcPct val="100000"/>
              </a:lnSpc>
              <a:spcBef>
                <a:spcPts val="705"/>
              </a:spcBef>
            </a:pPr>
            <a:r>
              <a:rPr dirty="0" sz="1100" spc="-10">
                <a:solidFill>
                  <a:srgbClr val="5B6472"/>
                </a:solidFill>
                <a:latin typeface="Roboto"/>
                <a:cs typeface="Roboto"/>
              </a:rPr>
              <a:t>A five-layer geo-anchored Chennai twin — 1,069 assets, 281 declared dependencies, hazard fields for monsoon, heat, cyber and equipment age. Same seed gives a byte-identical run, or the ablation means nothing. GitHub Actions runs the invariants, the leakage tests and the six demo beats, including the assertion that beat 5 still fails; GitHub Pages serves the write-up and the console as static files. The decision loop itself needs neither.</a:t>
            </a:r>
            <a:endParaRPr sz="1100">
              <a:latin typeface="Roboto"/>
              <a:cs typeface="Roboto"/>
            </a:endParaRPr>
          </a:p>
        </p:txBody>
      </p:sp>
      <p:grpSp>
        <p:nvGrpSpPr>
          <p:cNvPr id="20" name="object 20"/>
          <p:cNvGrpSpPr/>
          <p:nvPr/>
        </p:nvGrpSpPr>
        <p:grpSpPr>
          <a:xfrm>
            <a:off x="0" y="6381750"/>
            <a:ext cx="12182475" cy="466725"/>
            <a:chOff x="0" y="6381750"/>
            <a:chExt cx="12182475" cy="466725"/>
          </a:xfrm>
        </p:grpSpPr>
        <p:sp>
          <p:nvSpPr>
            <p:cNvPr id="21" name="object 21"/>
            <p:cNvSpPr/>
            <p:nvPr/>
          </p:nvSpPr>
          <p:spPr>
            <a:xfrm>
              <a:off x="0" y="6381750"/>
              <a:ext cx="12182475" cy="466725"/>
            </a:xfrm>
            <a:custGeom>
              <a:avLst/>
              <a:gdLst/>
              <a:ahLst/>
              <a:cxnLst/>
              <a:rect l="l" t="t" r="r" b="b"/>
              <a:pathLst>
                <a:path w="12182475" h="466725">
                  <a:moveTo>
                    <a:pt x="12182475" y="466725"/>
                  </a:moveTo>
                  <a:lnTo>
                    <a:pt x="0" y="466725"/>
                  </a:lnTo>
                  <a:lnTo>
                    <a:pt x="0" y="0"/>
                  </a:lnTo>
                  <a:lnTo>
                    <a:pt x="12182475" y="0"/>
                  </a:lnTo>
                  <a:lnTo>
                    <a:pt x="12182475" y="466725"/>
                  </a:lnTo>
                  <a:close/>
                </a:path>
              </a:pathLst>
            </a:custGeom>
            <a:solidFill>
              <a:srgbClr val="FFFFFF"/>
            </a:solidFill>
          </p:spPr>
          <p:txBody>
            <a:bodyPr wrap="square" lIns="0" tIns="0" rIns="0" bIns="0" rtlCol="0"/>
            <a:lstStyle/>
            <a:p/>
          </p:txBody>
        </p:sp>
        <p:pic>
          <p:nvPicPr>
            <p:cNvPr id="22" name="object 22"/>
            <p:cNvPicPr/>
            <p:nvPr/>
          </p:nvPicPr>
          <p:blipFill>
            <a:blip r:embed="rId2" cstate="print"/>
            <a:stretch>
              <a:fillRect/>
            </a:stretch>
          </p:blipFill>
          <p:spPr>
            <a:xfrm>
              <a:off x="457200" y="6438900"/>
              <a:ext cx="3286125" cy="266700"/>
            </a:xfrm>
            <a:prstGeom prst="rect">
              <a:avLst/>
            </a:prstGeom>
          </p:spPr>
        </p:pic>
      </p:grpSp>
      <p:sp>
        <p:nvSpPr>
          <p:cNvPr id="23" name="object 23"/>
          <p:cNvSpPr txBox="1">
            <a:spLocks noGrp="1"/>
          </p:cNvSpPr>
          <p:nvPr>
            <p:ph type="ftr" idx="5" sz="quarter"/>
          </p:nvPr>
        </p:nvSpPr>
        <p:spPr>
          <a:xfrm>
            <a:off x="8531352" y="6528816"/>
            <a:ext cx="3200400" cy="173736"/>
          </a:xfrm>
          <a:prstGeom prst="rect"/>
        </p:spPr>
        <p:txBody>
          <a:bodyPr wrap="square" lIns="0" tIns="3175" rIns="0" bIns="0" rtlCol="0" vert="horz">
            <a:spAutoFit/>
          </a:body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5475" y="559494"/>
            <a:ext cx="314325" cy="330200"/>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FFFFFF"/>
                </a:solidFill>
                <a:latin typeface="Roboto"/>
                <a:cs typeface="Roboto"/>
              </a:rPr>
              <a:t>05</a:t>
            </a:r>
            <a:endParaRPr sz="2000">
              <a:latin typeface="Roboto"/>
              <a:cs typeface="Roboto"/>
            </a:endParaRPr>
          </a:p>
        </p:txBody>
      </p:sp>
      <p:sp>
        <p:nvSpPr>
          <p:cNvPr id="3" name="object 3"/>
          <p:cNvSpPr txBox="1"/>
          <p:nvPr/>
        </p:nvSpPr>
        <p:spPr>
          <a:xfrm>
            <a:off x="1216025" y="471586"/>
            <a:ext cx="4572000" cy="208279"/>
          </a:xfrm>
          <a:prstGeom prst="rect">
            <a:avLst/>
          </a:prstGeom>
        </p:spPr>
        <p:txBody>
          <a:bodyPr wrap="square" lIns="0" tIns="12700" rIns="0" bIns="0" rtlCol="0" vert="horz">
            <a:spAutoFit/>
          </a:bodyPr>
          <a:lstStyle/>
          <a:p>
            <a:pPr marL="12700">
              <a:lnSpc>
                <a:spcPct val="100000"/>
              </a:lnSpc>
              <a:spcBef>
                <a:spcPts val="100"/>
              </a:spcBef>
            </a:pPr>
            <a:r>
              <a:rPr dirty="0" sz="1200" b="1">
                <a:solidFill>
                  <a:srgbClr val="B8933F"/>
                </a:solidFill>
                <a:latin typeface="Roboto"/>
                <a:cs typeface="Roboto"/>
              </a:rPr>
              <a:t>HOW</a:t>
            </a:r>
            <a:r>
              <a:rPr dirty="0" sz="1200" spc="-25" b="1">
                <a:solidFill>
                  <a:srgbClr val="B8933F"/>
                </a:solidFill>
                <a:latin typeface="Roboto"/>
                <a:cs typeface="Roboto"/>
              </a:rPr>
              <a:t> </a:t>
            </a:r>
            <a:r>
              <a:rPr dirty="0" sz="1200" b="1">
                <a:solidFill>
                  <a:srgbClr val="B8933F"/>
                </a:solidFill>
                <a:latin typeface="Roboto"/>
                <a:cs typeface="Roboto"/>
              </a:rPr>
              <a:t>IT</a:t>
            </a:r>
            <a:r>
              <a:rPr dirty="0" sz="1200" spc="25" b="1">
                <a:solidFill>
                  <a:srgbClr val="B8933F"/>
                </a:solidFill>
                <a:latin typeface="Roboto"/>
                <a:cs typeface="Roboto"/>
              </a:rPr>
              <a:t> </a:t>
            </a:r>
            <a:r>
              <a:rPr dirty="0" sz="1200" b="1">
                <a:solidFill>
                  <a:srgbClr val="B8933F"/>
                </a:solidFill>
                <a:latin typeface="Roboto"/>
                <a:cs typeface="Roboto"/>
              </a:rPr>
              <a:t>ALL</a:t>
            </a:r>
            <a:r>
              <a:rPr dirty="0" sz="1200" spc="-5" b="1">
                <a:solidFill>
                  <a:srgbClr val="B8933F"/>
                </a:solidFill>
                <a:latin typeface="Roboto"/>
                <a:cs typeface="Roboto"/>
              </a:rPr>
              <a:t> </a:t>
            </a:r>
            <a:r>
              <a:rPr dirty="0" sz="1200" spc="-10" b="1">
                <a:solidFill>
                  <a:srgbClr val="B8933F"/>
                </a:solidFill>
                <a:latin typeface="Roboto"/>
                <a:cs typeface="Roboto"/>
              </a:rPr>
              <a:t>CONNECTS</a:t>
            </a:r>
            <a:endParaRPr sz="1200">
              <a:latin typeface="Roboto"/>
              <a:cs typeface="Roboto"/>
            </a:endParaRPr>
          </a:p>
        </p:txBody>
      </p:sp>
      <p:sp>
        <p:nvSpPr>
          <p:cNvPr id="4" name="object 4" descr="$PPTXTitle"/>
          <p:cNvSpPr txBox="1">
            <a:spLocks noGrp="1"/>
          </p:cNvSpPr>
          <p:nvPr>
            <p:ph type="title"/>
          </p:nvPr>
        </p:nvSpPr>
        <p:spPr>
          <a:xfrm>
            <a:ext cx="8046720" cy="0"/>
          </a:xfrm>
          <a:prstGeom prst="rect"/>
        </p:spPr>
        <p:txBody>
          <a:bodyPr wrap="square" lIns="0" tIns="12700" rIns="0" bIns="0" rtlCol="0" vert="horz">
            <a:spAutoFit/>
          </a:bodyPr>
          <a:lstStyle/>
          <a:p>
            <a:pPr marL="12700">
              <a:lnSpc>
                <a:spcPct val="100000"/>
              </a:lnSpc>
              <a:spcBef>
                <a:spcPts val="100"/>
              </a:spcBef>
            </a:pPr>
            <a:r>
              <a:rPr dirty="0"/>
              <a:t>System</a:t>
            </a:r>
            <a:r>
              <a:rPr dirty="0" spc="-80"/>
              <a:t> </a:t>
            </a:r>
            <a:r>
              <a:rPr dirty="0" spc="-10"/>
              <a:t>Architecture</a:t>
            </a:r>
          </a:p>
        </p:txBody>
      </p:sp>
      <p:grpSp>
        <p:nvGrpSpPr>
          <p:cNvPr id="5" name="object 5"/>
          <p:cNvGrpSpPr/>
          <p:nvPr/>
        </p:nvGrpSpPr>
        <p:grpSpPr>
          <a:xfrm>
            <a:off x="542925" y="1366837"/>
            <a:ext cx="11058525" cy="9525"/>
            <a:chOff x="542925" y="1366837"/>
            <a:chExt cx="11058525" cy="9525"/>
          </a:xfrm>
        </p:grpSpPr>
        <p:sp>
          <p:nvSpPr>
            <p:cNvPr id="6" name="object 6"/>
            <p:cNvSpPr/>
            <p:nvPr/>
          </p:nvSpPr>
          <p:spPr>
            <a:xfrm>
              <a:off x="542925" y="1371600"/>
              <a:ext cx="11058525" cy="0"/>
            </a:xfrm>
            <a:custGeom>
              <a:avLst/>
              <a:gdLst/>
              <a:ahLst/>
              <a:cxnLst/>
              <a:rect l="l" t="t" r="r" b="b"/>
              <a:pathLst>
                <a:path w="11058525" h="0">
                  <a:moveTo>
                    <a:pt x="11058525" y="0"/>
                  </a:moveTo>
                  <a:lnTo>
                    <a:pt x="0" y="0"/>
                  </a:lnTo>
                </a:path>
              </a:pathLst>
            </a:custGeom>
            <a:solidFill>
              <a:srgbClr val="D8DCE3"/>
            </a:solidFill>
          </p:spPr>
          <p:txBody>
            <a:bodyPr wrap="square" lIns="0" tIns="0" rIns="0" bIns="0" rtlCol="0"/>
            <a:lstStyle/>
            <a:p/>
          </p:txBody>
        </p:sp>
        <p:sp>
          <p:nvSpPr>
            <p:cNvPr id="7" name="object 7"/>
            <p:cNvSpPr/>
            <p:nvPr/>
          </p:nvSpPr>
          <p:spPr>
            <a:xfrm>
              <a:off x="542925" y="1371600"/>
              <a:ext cx="11058525" cy="0"/>
            </a:xfrm>
            <a:custGeom>
              <a:avLst/>
              <a:gdLst/>
              <a:ahLst/>
              <a:cxnLst/>
              <a:rect l="l" t="t" r="r" b="b"/>
              <a:pathLst>
                <a:path w="11058525" h="0">
                  <a:moveTo>
                    <a:pt x="0" y="0"/>
                  </a:moveTo>
                  <a:lnTo>
                    <a:pt x="11058525" y="0"/>
                  </a:lnTo>
                </a:path>
              </a:pathLst>
            </a:custGeom>
            <a:ln w="9525">
              <a:solidFill>
                <a:srgbClr val="D8DCE3"/>
              </a:solidFill>
            </a:ln>
          </p:spPr>
          <p:txBody>
            <a:bodyPr wrap="square" lIns="0" tIns="0" rIns="0" bIns="0" rtlCol="0"/>
            <a:lstStyle/>
            <a:p/>
          </p:txBody>
        </p:sp>
      </p:grpSp>
      <p:grpSp>
        <p:nvGrpSpPr>
          <p:cNvPr id="8" name="object 8"/>
          <p:cNvGrpSpPr/>
          <p:nvPr/>
        </p:nvGrpSpPr>
        <p:grpSpPr>
          <a:xfrm>
            <a:off x="533400" y="1676400"/>
            <a:ext cx="11106150" cy="4267200"/>
            <a:chOff x="533400" y="1676400"/>
            <a:chExt cx="11106150" cy="4267200"/>
          </a:xfrm>
        </p:grpSpPr>
        <p:sp>
          <p:nvSpPr>
            <p:cNvPr id="9" name="object 9"/>
            <p:cNvSpPr/>
            <p:nvPr/>
          </p:nvSpPr>
          <p:spPr>
            <a:xfrm>
              <a:off x="542925" y="1685925"/>
              <a:ext cx="11087100" cy="4248150"/>
            </a:xfrm>
            <a:custGeom>
              <a:avLst/>
              <a:gdLst/>
              <a:ahLst/>
              <a:cxnLst/>
              <a:rect l="l" t="t" r="r" b="b"/>
              <a:pathLst>
                <a:path w="11087100" h="4248150">
                  <a:moveTo>
                    <a:pt x="11014032" y="4248150"/>
                  </a:moveTo>
                  <a:lnTo>
                    <a:pt x="73068" y="4248150"/>
                  </a:lnTo>
                  <a:lnTo>
                    <a:pt x="58489" y="4246812"/>
                  </a:lnTo>
                  <a:lnTo>
                    <a:pt x="21401" y="4226748"/>
                  </a:lnTo>
                  <a:lnTo>
                    <a:pt x="1337" y="4189660"/>
                  </a:lnTo>
                  <a:lnTo>
                    <a:pt x="0" y="4175081"/>
                  </a:lnTo>
                  <a:lnTo>
                    <a:pt x="0" y="73068"/>
                  </a:lnTo>
                  <a:lnTo>
                    <a:pt x="12038" y="32655"/>
                  </a:lnTo>
                  <a:lnTo>
                    <a:pt x="45018" y="5350"/>
                  </a:lnTo>
                  <a:lnTo>
                    <a:pt x="73068" y="0"/>
                  </a:lnTo>
                  <a:lnTo>
                    <a:pt x="11014032" y="0"/>
                  </a:lnTo>
                  <a:lnTo>
                    <a:pt x="11054443" y="12038"/>
                  </a:lnTo>
                  <a:lnTo>
                    <a:pt x="11081749" y="45018"/>
                  </a:lnTo>
                  <a:lnTo>
                    <a:pt x="11087100" y="73068"/>
                  </a:lnTo>
                  <a:lnTo>
                    <a:pt x="11087100" y="4175081"/>
                  </a:lnTo>
                  <a:lnTo>
                    <a:pt x="11075062" y="4215493"/>
                  </a:lnTo>
                  <a:lnTo>
                    <a:pt x="11042082" y="4242799"/>
                  </a:lnTo>
                  <a:lnTo>
                    <a:pt x="11014032" y="4248150"/>
                  </a:lnTo>
                  <a:close/>
                </a:path>
              </a:pathLst>
            </a:custGeom>
            <a:solidFill>
              <a:srgbClr val="FFFFFF"/>
            </a:solidFill>
          </p:spPr>
          <p:txBody>
            <a:bodyPr wrap="square" lIns="0" tIns="0" rIns="0" bIns="0" rtlCol="0"/>
            <a:lstStyle/>
            <a:p/>
          </p:txBody>
        </p:sp>
        <p:sp>
          <p:nvSpPr>
            <p:cNvPr id="10" name="object 10"/>
            <p:cNvSpPr/>
            <p:nvPr/>
          </p:nvSpPr>
          <p:spPr>
            <a:xfrm>
              <a:off x="542925" y="1685925"/>
              <a:ext cx="11087100" cy="4248150"/>
            </a:xfrm>
            <a:custGeom>
              <a:avLst/>
              <a:gdLst/>
              <a:ahLst/>
              <a:cxnLst/>
              <a:rect l="l" t="t" r="r" b="b"/>
              <a:pathLst>
                <a:path w="11087100" h="4248150">
                  <a:moveTo>
                    <a:pt x="0" y="73068"/>
                  </a:moveTo>
                  <a:lnTo>
                    <a:pt x="12038" y="32655"/>
                  </a:lnTo>
                  <a:lnTo>
                    <a:pt x="45018" y="5350"/>
                  </a:lnTo>
                  <a:lnTo>
                    <a:pt x="73068" y="0"/>
                  </a:lnTo>
                  <a:lnTo>
                    <a:pt x="11014032" y="0"/>
                  </a:lnTo>
                  <a:lnTo>
                    <a:pt x="11054443" y="12038"/>
                  </a:lnTo>
                  <a:lnTo>
                    <a:pt x="11081749" y="45018"/>
                  </a:lnTo>
                  <a:lnTo>
                    <a:pt x="11087100" y="73068"/>
                  </a:lnTo>
                  <a:lnTo>
                    <a:pt x="11087100" y="4175081"/>
                  </a:lnTo>
                  <a:lnTo>
                    <a:pt x="11075062" y="4215493"/>
                  </a:lnTo>
                  <a:lnTo>
                    <a:pt x="11042082" y="4242799"/>
                  </a:lnTo>
                  <a:lnTo>
                    <a:pt x="11014032" y="4248150"/>
                  </a:lnTo>
                  <a:lnTo>
                    <a:pt x="73068" y="4248150"/>
                  </a:lnTo>
                  <a:lnTo>
                    <a:pt x="32655" y="4236111"/>
                  </a:lnTo>
                  <a:lnTo>
                    <a:pt x="5350" y="4203131"/>
                  </a:lnTo>
                  <a:lnTo>
                    <a:pt x="0" y="4175081"/>
                  </a:lnTo>
                  <a:lnTo>
                    <a:pt x="0" y="73068"/>
                  </a:lnTo>
                  <a:close/>
                </a:path>
                <a:path w="11087100" h="4248150">
                  <a:moveTo>
                    <a:pt x="0" y="73068"/>
                  </a:moveTo>
                  <a:lnTo>
                    <a:pt x="12038" y="32655"/>
                  </a:lnTo>
                  <a:lnTo>
                    <a:pt x="45018" y="5350"/>
                  </a:lnTo>
                  <a:lnTo>
                    <a:pt x="73068" y="0"/>
                  </a:lnTo>
                  <a:lnTo>
                    <a:pt x="11014032" y="0"/>
                  </a:lnTo>
                  <a:lnTo>
                    <a:pt x="11054443" y="12038"/>
                  </a:lnTo>
                  <a:lnTo>
                    <a:pt x="11081749" y="45018"/>
                  </a:lnTo>
                  <a:lnTo>
                    <a:pt x="11087100" y="73068"/>
                  </a:lnTo>
                  <a:lnTo>
                    <a:pt x="11087100" y="4175081"/>
                  </a:lnTo>
                  <a:lnTo>
                    <a:pt x="11075062" y="4215493"/>
                  </a:lnTo>
                  <a:lnTo>
                    <a:pt x="11042082" y="4242799"/>
                  </a:lnTo>
                  <a:lnTo>
                    <a:pt x="11014032" y="4248150"/>
                  </a:lnTo>
                  <a:lnTo>
                    <a:pt x="73068" y="4248150"/>
                  </a:lnTo>
                  <a:lnTo>
                    <a:pt x="32655" y="4236111"/>
                  </a:lnTo>
                  <a:lnTo>
                    <a:pt x="5350" y="4203131"/>
                  </a:lnTo>
                  <a:lnTo>
                    <a:pt x="0" y="4175081"/>
                  </a:lnTo>
                  <a:lnTo>
                    <a:pt x="0" y="73068"/>
                  </a:lnTo>
                  <a:close/>
                </a:path>
              </a:pathLst>
            </a:custGeom>
            <a:ln w="19050">
              <a:solidFill>
                <a:srgbClr val="D8DCE3"/>
              </a:solidFill>
            </a:ln>
          </p:spPr>
          <p:txBody>
            <a:bodyPr wrap="square" lIns="0" tIns="0" rIns="0" bIns="0" rtlCol="0"/>
            <a:lstStyle/>
            <a:p/>
          </p:txBody>
        </p:sp>
      </p:grpSp>
      <p:sp>
        <p:nvSpPr>
          <p:cNvPr id="11" name="object 11"/>
          <p:cNvSpPr txBox="1"/>
          <p:nvPr/>
        </p:nvSpPr>
        <p:spPr>
          <a:xfrm>
            <a:off x="806450" y="1899418"/>
            <a:ext cx="8229600" cy="223520"/>
          </a:xfrm>
          <a:prstGeom prst="rect">
            <a:avLst/>
          </a:prstGeom>
        </p:spPr>
        <p:txBody>
          <a:bodyPr wrap="square" lIns="0" tIns="12700" rIns="0" bIns="0" rtlCol="0" vert="horz">
            <a:spAutoFit/>
          </a:bodyPr>
          <a:lstStyle/>
          <a:p>
            <a:pPr marL="12700">
              <a:lnSpc>
                <a:spcPct val="100000"/>
              </a:lnSpc>
              <a:spcBef>
                <a:spcPts val="100"/>
              </a:spcBef>
            </a:pPr>
            <a:r>
              <a:rPr dirty="0" sz="1300" b="1">
                <a:solidFill>
                  <a:srgbClr val="1E2A4A"/>
                </a:solidFill>
                <a:latin typeface="Roboto"/>
                <a:cs typeface="Roboto"/>
              </a:rPr>
              <a:t>Architecture / data flow — the cloud trains, the edge decides</a:t>
            </a:r>
            <a:endParaRPr sz="1300">
              <a:latin typeface="Roboto"/>
              <a:cs typeface="Roboto"/>
            </a:endParaRPr>
          </a:p>
        </p:txBody>
      </p:sp>
      <p:grpSp>
        <p:nvGrpSpPr>
          <p:cNvPr id="13" name="object 13"/>
          <p:cNvGrpSpPr/>
          <p:nvPr/>
        </p:nvGrpSpPr>
        <p:grpSpPr>
          <a:xfrm>
            <a:off x="0" y="6381750"/>
            <a:ext cx="12182475" cy="466725"/>
            <a:chOff x="0" y="6381750"/>
            <a:chExt cx="12182475" cy="466725"/>
          </a:xfrm>
        </p:grpSpPr>
        <p:sp>
          <p:nvSpPr>
            <p:cNvPr id="14" name="object 14"/>
            <p:cNvSpPr/>
            <p:nvPr/>
          </p:nvSpPr>
          <p:spPr>
            <a:xfrm>
              <a:off x="0" y="6381750"/>
              <a:ext cx="12182475" cy="466725"/>
            </a:xfrm>
            <a:custGeom>
              <a:avLst/>
              <a:gdLst/>
              <a:ahLst/>
              <a:cxnLst/>
              <a:rect l="l" t="t" r="r" b="b"/>
              <a:pathLst>
                <a:path w="12182475" h="466725">
                  <a:moveTo>
                    <a:pt x="12182475" y="466725"/>
                  </a:moveTo>
                  <a:lnTo>
                    <a:pt x="0" y="466725"/>
                  </a:lnTo>
                  <a:lnTo>
                    <a:pt x="0" y="0"/>
                  </a:lnTo>
                  <a:lnTo>
                    <a:pt x="12182475" y="0"/>
                  </a:lnTo>
                  <a:lnTo>
                    <a:pt x="12182475" y="466725"/>
                  </a:lnTo>
                  <a:close/>
                </a:path>
              </a:pathLst>
            </a:custGeom>
            <a:solidFill>
              <a:srgbClr val="FFFFFF"/>
            </a:solidFill>
          </p:spPr>
          <p:txBody>
            <a:bodyPr wrap="square" lIns="0" tIns="0" rIns="0" bIns="0" rtlCol="0"/>
            <a:lstStyle/>
            <a:p/>
          </p:txBody>
        </p:sp>
        <p:pic>
          <p:nvPicPr>
            <p:cNvPr id="15" name="object 15"/>
            <p:cNvPicPr/>
            <p:nvPr/>
          </p:nvPicPr>
          <p:blipFill>
            <a:blip r:embed="rId2" cstate="print"/>
            <a:stretch>
              <a:fillRect/>
            </a:stretch>
          </p:blipFill>
          <p:spPr>
            <a:xfrm>
              <a:off x="457200" y="6438900"/>
              <a:ext cx="3286125" cy="266700"/>
            </a:xfrm>
            <a:prstGeom prst="rect">
              <a:avLst/>
            </a:prstGeom>
          </p:spPr>
        </p:pic>
      </p:grpSp>
      <p:sp>
        <p:nvSpPr>
          <p:cNvPr id="16" name="object 16"/>
          <p:cNvSpPr txBox="1">
            <a:spLocks noGrp="1"/>
          </p:cNvSpPr>
          <p:nvPr>
            <p:ph type="ftr" idx="5" sz="quarter"/>
          </p:nvPr>
        </p:nvSpPr>
        <p:spPr>
          <a:xfrm>
            <a:off x="8531352" y="6528816"/>
            <a:ext cx="3200400" cy="173736"/>
          </a:xfrm>
          <a:prstGeom prst="rect"/>
        </p:spPr>
        <p:txBody>
          <a:bodyPr wrap="square" lIns="0" tIns="3175" rIns="0" bIns="0" rtlCol="0" vert="horz">
            <a:spAutoFit/>
          </a:body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pic>
        <p:nvPicPr>
          <p:cNvPr id="17" name="arch diagram" descr="arch.png"/>
          <p:cNvPicPr>
            <a:picLocks noChangeAspect="1"/>
          </p:cNvPicPr>
          <p:nvPr/>
        </p:nvPicPr>
        <p:blipFill>
          <a:blip r:embed="rId3"/>
          <a:stretch>
            <a:fillRect/>
          </a:stretch>
        </p:blipFill>
        <p:spPr>
          <a:xfrm>
            <a:off x="1051560" y="2240280"/>
            <a:ext cx="10058400" cy="358533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5475" y="559494"/>
            <a:ext cx="314325" cy="330200"/>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FFFFFF"/>
                </a:solidFill>
                <a:latin typeface="Roboto"/>
                <a:cs typeface="Roboto"/>
              </a:rPr>
              <a:t>06</a:t>
            </a:r>
            <a:endParaRPr sz="2000">
              <a:latin typeface="Roboto"/>
              <a:cs typeface="Roboto"/>
            </a:endParaRPr>
          </a:p>
        </p:txBody>
      </p:sp>
      <p:sp>
        <p:nvSpPr>
          <p:cNvPr id="3" name="object 3"/>
          <p:cNvSpPr txBox="1"/>
          <p:nvPr/>
        </p:nvSpPr>
        <p:spPr>
          <a:xfrm>
            <a:off x="1216025" y="471586"/>
            <a:ext cx="4572000" cy="208279"/>
          </a:xfrm>
          <a:prstGeom prst="rect">
            <a:avLst/>
          </a:prstGeom>
        </p:spPr>
        <p:txBody>
          <a:bodyPr wrap="square" lIns="0" tIns="12700" rIns="0" bIns="0" rtlCol="0" vert="horz">
            <a:spAutoFit/>
          </a:bodyPr>
          <a:lstStyle/>
          <a:p>
            <a:pPr marL="12700">
              <a:lnSpc>
                <a:spcPct val="100000"/>
              </a:lnSpc>
              <a:spcBef>
                <a:spcPts val="100"/>
              </a:spcBef>
            </a:pPr>
            <a:r>
              <a:rPr dirty="0" sz="1200" b="1">
                <a:solidFill>
                  <a:srgbClr val="B8933F"/>
                </a:solidFill>
                <a:latin typeface="Roboto"/>
                <a:cs typeface="Roboto"/>
              </a:rPr>
              <a:t>SEE</a:t>
            </a:r>
            <a:r>
              <a:rPr dirty="0" sz="1200" spc="-5" b="1">
                <a:solidFill>
                  <a:srgbClr val="B8933F"/>
                </a:solidFill>
                <a:latin typeface="Roboto"/>
                <a:cs typeface="Roboto"/>
              </a:rPr>
              <a:t> </a:t>
            </a:r>
            <a:r>
              <a:rPr dirty="0" sz="1200" b="1">
                <a:solidFill>
                  <a:srgbClr val="B8933F"/>
                </a:solidFill>
                <a:latin typeface="Roboto"/>
                <a:cs typeface="Roboto"/>
              </a:rPr>
              <a:t>IT</a:t>
            </a:r>
            <a:r>
              <a:rPr dirty="0" sz="1200" spc="30" b="1">
                <a:solidFill>
                  <a:srgbClr val="B8933F"/>
                </a:solidFill>
                <a:latin typeface="Roboto"/>
                <a:cs typeface="Roboto"/>
              </a:rPr>
              <a:t> </a:t>
            </a:r>
            <a:r>
              <a:rPr dirty="0" sz="1200" b="1">
                <a:solidFill>
                  <a:srgbClr val="B8933F"/>
                </a:solidFill>
                <a:latin typeface="Roboto"/>
                <a:cs typeface="Roboto"/>
              </a:rPr>
              <a:t>IN</a:t>
            </a:r>
            <a:r>
              <a:rPr dirty="0" sz="1200" spc="-5" b="1">
                <a:solidFill>
                  <a:srgbClr val="B8933F"/>
                </a:solidFill>
                <a:latin typeface="Roboto"/>
                <a:cs typeface="Roboto"/>
              </a:rPr>
              <a:t> </a:t>
            </a:r>
            <a:r>
              <a:rPr dirty="0" sz="1200" spc="-10" b="1">
                <a:solidFill>
                  <a:srgbClr val="B8933F"/>
                </a:solidFill>
                <a:latin typeface="Roboto"/>
                <a:cs typeface="Roboto"/>
              </a:rPr>
              <a:t>ACTION</a:t>
            </a:r>
            <a:endParaRPr sz="1200">
              <a:latin typeface="Roboto"/>
              <a:cs typeface="Roboto"/>
            </a:endParaRPr>
          </a:p>
        </p:txBody>
      </p:sp>
      <p:sp>
        <p:nvSpPr>
          <p:cNvPr id="4" name="object 4" descr="$PPTXTitle"/>
          <p:cNvSpPr txBox="1">
            <a:spLocks noGrp="1"/>
          </p:cNvSpPr>
          <p:nvPr>
            <p:ph type="title"/>
          </p:nvPr>
        </p:nvSpPr>
        <p:spPr>
          <a:xfrm>
            <a:ext cx="8046720" cy="0"/>
          </a:xfrm>
          <a:prstGeom prst="rect"/>
        </p:spPr>
        <p:txBody>
          <a:bodyPr wrap="square" lIns="0" tIns="12700" rIns="0" bIns="0" rtlCol="0" vert="horz">
            <a:spAutoFit/>
          </a:bodyPr>
          <a:lstStyle/>
          <a:p>
            <a:pPr marL="12700">
              <a:lnSpc>
                <a:spcPct val="100000"/>
              </a:lnSpc>
              <a:spcBef>
                <a:spcPts val="100"/>
              </a:spcBef>
            </a:pPr>
            <a:r>
              <a:rPr dirty="0"/>
              <a:t>Prototype</a:t>
            </a:r>
            <a:r>
              <a:rPr dirty="0" spc="-114"/>
              <a:t> </a:t>
            </a:r>
            <a:r>
              <a:rPr dirty="0"/>
              <a:t>&amp;</a:t>
            </a:r>
            <a:r>
              <a:rPr dirty="0" spc="-50"/>
              <a:t> </a:t>
            </a:r>
            <a:r>
              <a:rPr dirty="0" spc="-20"/>
              <a:t>Links</a:t>
            </a:r>
          </a:p>
        </p:txBody>
      </p:sp>
      <p:grpSp>
        <p:nvGrpSpPr>
          <p:cNvPr id="5" name="object 5"/>
          <p:cNvGrpSpPr/>
          <p:nvPr/>
        </p:nvGrpSpPr>
        <p:grpSpPr>
          <a:xfrm>
            <a:off x="542925" y="1366837"/>
            <a:ext cx="11058525" cy="9525"/>
            <a:chOff x="542925" y="1366837"/>
            <a:chExt cx="11058525" cy="9525"/>
          </a:xfrm>
        </p:grpSpPr>
        <p:sp>
          <p:nvSpPr>
            <p:cNvPr id="6" name="object 6"/>
            <p:cNvSpPr/>
            <p:nvPr/>
          </p:nvSpPr>
          <p:spPr>
            <a:xfrm>
              <a:off x="542925" y="1371600"/>
              <a:ext cx="11058525" cy="0"/>
            </a:xfrm>
            <a:custGeom>
              <a:avLst/>
              <a:gdLst/>
              <a:ahLst/>
              <a:cxnLst/>
              <a:rect l="l" t="t" r="r" b="b"/>
              <a:pathLst>
                <a:path w="11058525" h="0">
                  <a:moveTo>
                    <a:pt x="11058525" y="0"/>
                  </a:moveTo>
                  <a:lnTo>
                    <a:pt x="0" y="0"/>
                  </a:lnTo>
                </a:path>
              </a:pathLst>
            </a:custGeom>
            <a:solidFill>
              <a:srgbClr val="D8DCE3"/>
            </a:solidFill>
          </p:spPr>
          <p:txBody>
            <a:bodyPr wrap="square" lIns="0" tIns="0" rIns="0" bIns="0" rtlCol="0"/>
            <a:lstStyle/>
            <a:p/>
          </p:txBody>
        </p:sp>
        <p:sp>
          <p:nvSpPr>
            <p:cNvPr id="7" name="object 7"/>
            <p:cNvSpPr/>
            <p:nvPr/>
          </p:nvSpPr>
          <p:spPr>
            <a:xfrm>
              <a:off x="542925" y="1371600"/>
              <a:ext cx="11058525" cy="0"/>
            </a:xfrm>
            <a:custGeom>
              <a:avLst/>
              <a:gdLst/>
              <a:ahLst/>
              <a:cxnLst/>
              <a:rect l="l" t="t" r="r" b="b"/>
              <a:pathLst>
                <a:path w="11058525" h="0">
                  <a:moveTo>
                    <a:pt x="0" y="0"/>
                  </a:moveTo>
                  <a:lnTo>
                    <a:pt x="11058525" y="0"/>
                  </a:lnTo>
                </a:path>
              </a:pathLst>
            </a:custGeom>
            <a:ln w="9525">
              <a:solidFill>
                <a:srgbClr val="D8DCE3"/>
              </a:solidFill>
            </a:ln>
          </p:spPr>
          <p:txBody>
            <a:bodyPr wrap="square" lIns="0" tIns="0" rIns="0" bIns="0" rtlCol="0"/>
            <a:lstStyle/>
            <a:p/>
          </p:txBody>
        </p:sp>
      </p:grpSp>
      <p:grpSp>
        <p:nvGrpSpPr>
          <p:cNvPr id="8" name="object 8"/>
          <p:cNvGrpSpPr/>
          <p:nvPr/>
        </p:nvGrpSpPr>
        <p:grpSpPr>
          <a:xfrm>
            <a:off x="533400" y="1676400"/>
            <a:ext cx="6505575" cy="4267200"/>
            <a:chOff x="533400" y="1676400"/>
            <a:chExt cx="6505575" cy="4267200"/>
          </a:xfrm>
        </p:grpSpPr>
        <p:sp>
          <p:nvSpPr>
            <p:cNvPr id="9" name="object 9"/>
            <p:cNvSpPr/>
            <p:nvPr/>
          </p:nvSpPr>
          <p:spPr>
            <a:xfrm>
              <a:off x="542925" y="1685925"/>
              <a:ext cx="6486525" cy="4248150"/>
            </a:xfrm>
            <a:custGeom>
              <a:avLst/>
              <a:gdLst/>
              <a:ahLst/>
              <a:cxnLst/>
              <a:rect l="l" t="t" r="r" b="b"/>
              <a:pathLst>
                <a:path w="6486525" h="4248150">
                  <a:moveTo>
                    <a:pt x="6413456" y="4248150"/>
                  </a:moveTo>
                  <a:lnTo>
                    <a:pt x="73068" y="4248150"/>
                  </a:lnTo>
                  <a:lnTo>
                    <a:pt x="58489" y="4246812"/>
                  </a:lnTo>
                  <a:lnTo>
                    <a:pt x="21401" y="4226748"/>
                  </a:lnTo>
                  <a:lnTo>
                    <a:pt x="1337" y="4189660"/>
                  </a:lnTo>
                  <a:lnTo>
                    <a:pt x="0" y="4175081"/>
                  </a:lnTo>
                  <a:lnTo>
                    <a:pt x="0" y="73068"/>
                  </a:lnTo>
                  <a:lnTo>
                    <a:pt x="12038" y="32655"/>
                  </a:lnTo>
                  <a:lnTo>
                    <a:pt x="45018" y="5350"/>
                  </a:lnTo>
                  <a:lnTo>
                    <a:pt x="73068" y="0"/>
                  </a:lnTo>
                  <a:lnTo>
                    <a:pt x="6413456" y="0"/>
                  </a:lnTo>
                  <a:lnTo>
                    <a:pt x="6453868" y="12038"/>
                  </a:lnTo>
                  <a:lnTo>
                    <a:pt x="6481174" y="45018"/>
                  </a:lnTo>
                  <a:lnTo>
                    <a:pt x="6486525" y="73068"/>
                  </a:lnTo>
                  <a:lnTo>
                    <a:pt x="6486525" y="4175081"/>
                  </a:lnTo>
                  <a:lnTo>
                    <a:pt x="6474486" y="4215493"/>
                  </a:lnTo>
                  <a:lnTo>
                    <a:pt x="6441505" y="4242799"/>
                  </a:lnTo>
                  <a:lnTo>
                    <a:pt x="6413456" y="4248150"/>
                  </a:lnTo>
                  <a:close/>
                </a:path>
              </a:pathLst>
            </a:custGeom>
            <a:solidFill>
              <a:srgbClr val="FFFFFF"/>
            </a:solidFill>
          </p:spPr>
          <p:txBody>
            <a:bodyPr wrap="square" lIns="0" tIns="0" rIns="0" bIns="0" rtlCol="0"/>
            <a:lstStyle/>
            <a:p/>
          </p:txBody>
        </p:sp>
        <p:sp>
          <p:nvSpPr>
            <p:cNvPr id="10" name="object 10"/>
            <p:cNvSpPr/>
            <p:nvPr/>
          </p:nvSpPr>
          <p:spPr>
            <a:xfrm>
              <a:off x="542925" y="1685925"/>
              <a:ext cx="6486525" cy="4248150"/>
            </a:xfrm>
            <a:custGeom>
              <a:avLst/>
              <a:gdLst/>
              <a:ahLst/>
              <a:cxnLst/>
              <a:rect l="l" t="t" r="r" b="b"/>
              <a:pathLst>
                <a:path w="6486525" h="4248150">
                  <a:moveTo>
                    <a:pt x="0" y="73068"/>
                  </a:moveTo>
                  <a:lnTo>
                    <a:pt x="12038" y="32655"/>
                  </a:lnTo>
                  <a:lnTo>
                    <a:pt x="45018" y="5350"/>
                  </a:lnTo>
                  <a:lnTo>
                    <a:pt x="73068" y="0"/>
                  </a:lnTo>
                  <a:lnTo>
                    <a:pt x="6413456" y="0"/>
                  </a:lnTo>
                  <a:lnTo>
                    <a:pt x="6453868" y="12038"/>
                  </a:lnTo>
                  <a:lnTo>
                    <a:pt x="6481174" y="45018"/>
                  </a:lnTo>
                  <a:lnTo>
                    <a:pt x="6486525" y="73068"/>
                  </a:lnTo>
                  <a:lnTo>
                    <a:pt x="6486525" y="4175081"/>
                  </a:lnTo>
                  <a:lnTo>
                    <a:pt x="6474486" y="4215493"/>
                  </a:lnTo>
                  <a:lnTo>
                    <a:pt x="6441505" y="4242799"/>
                  </a:lnTo>
                  <a:lnTo>
                    <a:pt x="6413456" y="4248150"/>
                  </a:lnTo>
                  <a:lnTo>
                    <a:pt x="73068" y="4248150"/>
                  </a:lnTo>
                  <a:lnTo>
                    <a:pt x="32655" y="4236111"/>
                  </a:lnTo>
                  <a:lnTo>
                    <a:pt x="5350" y="4203131"/>
                  </a:lnTo>
                  <a:lnTo>
                    <a:pt x="0" y="4175081"/>
                  </a:lnTo>
                  <a:lnTo>
                    <a:pt x="0" y="73068"/>
                  </a:lnTo>
                  <a:close/>
                </a:path>
                <a:path w="6486525" h="4248150">
                  <a:moveTo>
                    <a:pt x="0" y="73068"/>
                  </a:moveTo>
                  <a:lnTo>
                    <a:pt x="12038" y="32655"/>
                  </a:lnTo>
                  <a:lnTo>
                    <a:pt x="45018" y="5350"/>
                  </a:lnTo>
                  <a:lnTo>
                    <a:pt x="73068" y="0"/>
                  </a:lnTo>
                  <a:lnTo>
                    <a:pt x="6413456" y="0"/>
                  </a:lnTo>
                  <a:lnTo>
                    <a:pt x="6453868" y="12038"/>
                  </a:lnTo>
                  <a:lnTo>
                    <a:pt x="6481174" y="45018"/>
                  </a:lnTo>
                  <a:lnTo>
                    <a:pt x="6486525" y="73068"/>
                  </a:lnTo>
                  <a:lnTo>
                    <a:pt x="6486525" y="4175081"/>
                  </a:lnTo>
                  <a:lnTo>
                    <a:pt x="6474486" y="4215493"/>
                  </a:lnTo>
                  <a:lnTo>
                    <a:pt x="6441505" y="4242799"/>
                  </a:lnTo>
                  <a:lnTo>
                    <a:pt x="6413456" y="4248150"/>
                  </a:lnTo>
                  <a:lnTo>
                    <a:pt x="73068" y="4248150"/>
                  </a:lnTo>
                  <a:lnTo>
                    <a:pt x="32655" y="4236111"/>
                  </a:lnTo>
                  <a:lnTo>
                    <a:pt x="5350" y="4203131"/>
                  </a:lnTo>
                  <a:lnTo>
                    <a:pt x="0" y="4175081"/>
                  </a:lnTo>
                  <a:lnTo>
                    <a:pt x="0" y="73068"/>
                  </a:lnTo>
                  <a:close/>
                </a:path>
              </a:pathLst>
            </a:custGeom>
            <a:ln w="19050">
              <a:solidFill>
                <a:srgbClr val="D8DCE3"/>
              </a:solidFill>
            </a:ln>
          </p:spPr>
          <p:txBody>
            <a:bodyPr wrap="square" lIns="0" tIns="0" rIns="0" bIns="0" rtlCol="0"/>
            <a:lstStyle/>
            <a:p/>
          </p:txBody>
        </p:sp>
      </p:grpSp>
      <p:sp>
        <p:nvSpPr>
          <p:cNvPr id="11" name="object 11"/>
          <p:cNvSpPr txBox="1"/>
          <p:nvPr/>
        </p:nvSpPr>
        <p:spPr>
          <a:xfrm>
            <a:off x="806450" y="1899418"/>
            <a:ext cx="5852160" cy="223520"/>
          </a:xfrm>
          <a:prstGeom prst="rect">
            <a:avLst/>
          </a:prstGeom>
        </p:spPr>
        <p:txBody>
          <a:bodyPr wrap="square" lIns="0" tIns="12700" rIns="0" bIns="0" rtlCol="0" vert="horz">
            <a:spAutoFit/>
          </a:bodyPr>
          <a:lstStyle/>
          <a:p>
            <a:pPr marL="12700">
              <a:lnSpc>
                <a:spcPct val="100000"/>
              </a:lnSpc>
              <a:spcBef>
                <a:spcPts val="100"/>
              </a:spcBef>
            </a:pPr>
            <a:r>
              <a:rPr dirty="0" sz="1300" b="1">
                <a:solidFill>
                  <a:srgbClr val="1E2A4A"/>
                </a:solidFill>
                <a:latin typeface="Roboto"/>
                <a:cs typeface="Roboto"/>
              </a:rPr>
              <a:t>Prototype preview — Chennai at hour 33, doing nothing</a:t>
            </a:r>
            <a:endParaRPr sz="1300">
              <a:latin typeface="Roboto"/>
              <a:cs typeface="Roboto"/>
            </a:endParaRPr>
          </a:p>
        </p:txBody>
      </p:sp>
      <p:grpSp>
        <p:nvGrpSpPr>
          <p:cNvPr id="13" name="object 13"/>
          <p:cNvGrpSpPr/>
          <p:nvPr/>
        </p:nvGrpSpPr>
        <p:grpSpPr>
          <a:xfrm>
            <a:off x="7243762" y="1681162"/>
            <a:ext cx="4391025" cy="1333500"/>
            <a:chOff x="7243762" y="1681162"/>
            <a:chExt cx="4391025" cy="1333500"/>
          </a:xfrm>
        </p:grpSpPr>
        <p:sp>
          <p:nvSpPr>
            <p:cNvPr id="14" name="object 14"/>
            <p:cNvSpPr/>
            <p:nvPr/>
          </p:nvSpPr>
          <p:spPr>
            <a:xfrm>
              <a:off x="7248525" y="1685925"/>
              <a:ext cx="4381500" cy="1323975"/>
            </a:xfrm>
            <a:custGeom>
              <a:avLst/>
              <a:gdLst/>
              <a:ahLst/>
              <a:cxnLst/>
              <a:rect l="l" t="t" r="r" b="b"/>
              <a:pathLst>
                <a:path w="4381500" h="1323975">
                  <a:moveTo>
                    <a:pt x="4308456" y="1323975"/>
                  </a:moveTo>
                  <a:lnTo>
                    <a:pt x="73043" y="1323975"/>
                  </a:lnTo>
                  <a:lnTo>
                    <a:pt x="58469" y="1322637"/>
                  </a:lnTo>
                  <a:lnTo>
                    <a:pt x="21394" y="1302580"/>
                  </a:lnTo>
                  <a:lnTo>
                    <a:pt x="1336" y="1265505"/>
                  </a:lnTo>
                  <a:lnTo>
                    <a:pt x="0" y="1250931"/>
                  </a:lnTo>
                  <a:lnTo>
                    <a:pt x="0" y="73043"/>
                  </a:lnTo>
                  <a:lnTo>
                    <a:pt x="12034" y="32644"/>
                  </a:lnTo>
                  <a:lnTo>
                    <a:pt x="45003" y="5348"/>
                  </a:lnTo>
                  <a:lnTo>
                    <a:pt x="73043" y="0"/>
                  </a:lnTo>
                  <a:lnTo>
                    <a:pt x="4308456" y="0"/>
                  </a:lnTo>
                  <a:lnTo>
                    <a:pt x="4348853" y="12034"/>
                  </a:lnTo>
                  <a:lnTo>
                    <a:pt x="4376151" y="45003"/>
                  </a:lnTo>
                  <a:lnTo>
                    <a:pt x="4381500" y="73043"/>
                  </a:lnTo>
                  <a:lnTo>
                    <a:pt x="4381500" y="1250931"/>
                  </a:lnTo>
                  <a:lnTo>
                    <a:pt x="4369465" y="1291329"/>
                  </a:lnTo>
                  <a:lnTo>
                    <a:pt x="4336495" y="1318626"/>
                  </a:lnTo>
                  <a:lnTo>
                    <a:pt x="4308456" y="1323975"/>
                  </a:lnTo>
                  <a:close/>
                </a:path>
              </a:pathLst>
            </a:custGeom>
            <a:solidFill>
              <a:srgbClr val="FFFFFF"/>
            </a:solidFill>
          </p:spPr>
          <p:txBody>
            <a:bodyPr wrap="square" lIns="0" tIns="0" rIns="0" bIns="0" rtlCol="0"/>
            <a:lstStyle/>
            <a:p/>
          </p:txBody>
        </p:sp>
        <p:sp>
          <p:nvSpPr>
            <p:cNvPr id="15" name="object 15"/>
            <p:cNvSpPr/>
            <p:nvPr/>
          </p:nvSpPr>
          <p:spPr>
            <a:xfrm>
              <a:off x="7248525" y="1685925"/>
              <a:ext cx="4381500" cy="1323975"/>
            </a:xfrm>
            <a:custGeom>
              <a:avLst/>
              <a:gdLst/>
              <a:ahLst/>
              <a:cxnLst/>
              <a:rect l="l" t="t" r="r" b="b"/>
              <a:pathLst>
                <a:path w="4381500" h="1323975">
                  <a:moveTo>
                    <a:pt x="0" y="73043"/>
                  </a:moveTo>
                  <a:lnTo>
                    <a:pt x="12034" y="32644"/>
                  </a:lnTo>
                  <a:lnTo>
                    <a:pt x="45003" y="5348"/>
                  </a:lnTo>
                  <a:lnTo>
                    <a:pt x="73043" y="0"/>
                  </a:lnTo>
                  <a:lnTo>
                    <a:pt x="4308456" y="0"/>
                  </a:lnTo>
                  <a:lnTo>
                    <a:pt x="4348853" y="12034"/>
                  </a:lnTo>
                  <a:lnTo>
                    <a:pt x="4376151" y="45003"/>
                  </a:lnTo>
                  <a:lnTo>
                    <a:pt x="4381500" y="73043"/>
                  </a:lnTo>
                  <a:lnTo>
                    <a:pt x="4381500" y="1250931"/>
                  </a:lnTo>
                  <a:lnTo>
                    <a:pt x="4369465" y="1291329"/>
                  </a:lnTo>
                  <a:lnTo>
                    <a:pt x="4336495" y="1318626"/>
                  </a:lnTo>
                  <a:lnTo>
                    <a:pt x="4308456" y="1323975"/>
                  </a:lnTo>
                  <a:lnTo>
                    <a:pt x="73043" y="1323975"/>
                  </a:lnTo>
                  <a:lnTo>
                    <a:pt x="32644" y="1311940"/>
                  </a:lnTo>
                  <a:lnTo>
                    <a:pt x="5348" y="1278971"/>
                  </a:lnTo>
                  <a:lnTo>
                    <a:pt x="0" y="1250931"/>
                  </a:lnTo>
                  <a:lnTo>
                    <a:pt x="0" y="73043"/>
                  </a:lnTo>
                  <a:close/>
                </a:path>
                <a:path w="4381500" h="1323975">
                  <a:moveTo>
                    <a:pt x="0" y="73043"/>
                  </a:moveTo>
                  <a:lnTo>
                    <a:pt x="12034" y="32644"/>
                  </a:lnTo>
                  <a:lnTo>
                    <a:pt x="45003" y="5348"/>
                  </a:lnTo>
                  <a:lnTo>
                    <a:pt x="73043" y="0"/>
                  </a:lnTo>
                  <a:lnTo>
                    <a:pt x="4308456" y="0"/>
                  </a:lnTo>
                  <a:lnTo>
                    <a:pt x="4348853" y="12034"/>
                  </a:lnTo>
                  <a:lnTo>
                    <a:pt x="4376151" y="45003"/>
                  </a:lnTo>
                  <a:lnTo>
                    <a:pt x="4381500" y="73043"/>
                  </a:lnTo>
                  <a:lnTo>
                    <a:pt x="4381500" y="1250931"/>
                  </a:lnTo>
                  <a:lnTo>
                    <a:pt x="4369465" y="1291329"/>
                  </a:lnTo>
                  <a:lnTo>
                    <a:pt x="4336495" y="1318626"/>
                  </a:lnTo>
                  <a:lnTo>
                    <a:pt x="4308456" y="1323975"/>
                  </a:lnTo>
                  <a:lnTo>
                    <a:pt x="73043" y="1323975"/>
                  </a:lnTo>
                  <a:lnTo>
                    <a:pt x="32644" y="1311940"/>
                  </a:lnTo>
                  <a:lnTo>
                    <a:pt x="5348" y="1278971"/>
                  </a:lnTo>
                  <a:lnTo>
                    <a:pt x="0" y="1250931"/>
                  </a:lnTo>
                  <a:lnTo>
                    <a:pt x="0" y="73043"/>
                  </a:lnTo>
                  <a:close/>
                </a:path>
              </a:pathLst>
            </a:custGeom>
            <a:ln w="9525">
              <a:solidFill>
                <a:srgbClr val="D8DCE3"/>
              </a:solidFill>
            </a:ln>
          </p:spPr>
          <p:txBody>
            <a:bodyPr wrap="square" lIns="0" tIns="0" rIns="0" bIns="0" rtlCol="0"/>
            <a:lstStyle/>
            <a:p/>
          </p:txBody>
        </p:sp>
      </p:grpSp>
      <p:sp>
        <p:nvSpPr>
          <p:cNvPr id="16" name="object 16"/>
          <p:cNvSpPr txBox="1"/>
          <p:nvPr/>
        </p:nvSpPr>
        <p:spPr>
          <a:xfrm>
            <a:off x="7464425" y="1766843"/>
            <a:ext cx="3950208" cy="565785"/>
          </a:xfrm>
          <a:prstGeom prst="rect">
            <a:avLst/>
          </a:prstGeom>
        </p:spPr>
        <p:txBody>
          <a:bodyPr wrap="square" lIns="0" tIns="106680" rIns="0" bIns="0" rtlCol="0" vert="horz">
            <a:spAutoFit/>
          </a:bodyPr>
          <a:lstStyle/>
          <a:p>
            <a:pPr marL="12700">
              <a:lnSpc>
                <a:spcPct val="100000"/>
              </a:lnSpc>
              <a:spcBef>
                <a:spcPts val="840"/>
              </a:spcBef>
            </a:pPr>
            <a:r>
              <a:rPr dirty="0" sz="1300" b="1">
                <a:solidFill>
                  <a:srgbClr val="1E2A4A"/>
                </a:solidFill>
                <a:latin typeface="Roboto"/>
                <a:cs typeface="Roboto"/>
              </a:rPr>
              <a:t>GitHub Repository</a:t>
            </a:r>
            <a:endParaRPr sz="1300">
              <a:latin typeface="Roboto"/>
              <a:cs typeface="Roboto"/>
            </a:endParaRPr>
          </a:p>
          <a:p>
            <a:pPr marL="12700">
              <a:lnSpc>
                <a:spcPct val="100000"/>
              </a:lnSpc>
              <a:spcBef>
                <a:spcPts val="630"/>
              </a:spcBef>
            </a:pPr>
            <a:r>
              <a:rPr dirty="0" sz="1100">
                <a:solidFill>
                  <a:srgbClr val="5B6472"/>
                </a:solidFill>
                <a:latin typeface="Roboto"/>
                <a:cs typeface="Roboto"/>
              </a:rPr>
              <a:t>github.com/swetank18/firebreak</a:t>
            </a:r>
            <a:endParaRPr sz="1100">
              <a:latin typeface="Roboto"/>
              <a:cs typeface="Roboto"/>
            </a:endParaRPr>
          </a:p>
        </p:txBody>
      </p:sp>
      <p:grpSp>
        <p:nvGrpSpPr>
          <p:cNvPr id="17" name="object 17"/>
          <p:cNvGrpSpPr/>
          <p:nvPr/>
        </p:nvGrpSpPr>
        <p:grpSpPr>
          <a:xfrm>
            <a:off x="7243762" y="3148012"/>
            <a:ext cx="4391025" cy="1333500"/>
            <a:chOff x="7243762" y="3148012"/>
            <a:chExt cx="4391025" cy="1333500"/>
          </a:xfrm>
        </p:grpSpPr>
        <p:sp>
          <p:nvSpPr>
            <p:cNvPr id="18" name="object 18"/>
            <p:cNvSpPr/>
            <p:nvPr/>
          </p:nvSpPr>
          <p:spPr>
            <a:xfrm>
              <a:off x="7248525" y="3152775"/>
              <a:ext cx="4381500" cy="1323975"/>
            </a:xfrm>
            <a:custGeom>
              <a:avLst/>
              <a:gdLst/>
              <a:ahLst/>
              <a:cxnLst/>
              <a:rect l="l" t="t" r="r" b="b"/>
              <a:pathLst>
                <a:path w="4381500" h="1323975">
                  <a:moveTo>
                    <a:pt x="4308456" y="1323975"/>
                  </a:moveTo>
                  <a:lnTo>
                    <a:pt x="73043" y="1323975"/>
                  </a:lnTo>
                  <a:lnTo>
                    <a:pt x="58469" y="1322637"/>
                  </a:lnTo>
                  <a:lnTo>
                    <a:pt x="21394" y="1302580"/>
                  </a:lnTo>
                  <a:lnTo>
                    <a:pt x="1336" y="1265505"/>
                  </a:lnTo>
                  <a:lnTo>
                    <a:pt x="0" y="1250931"/>
                  </a:lnTo>
                  <a:lnTo>
                    <a:pt x="0" y="73043"/>
                  </a:lnTo>
                  <a:lnTo>
                    <a:pt x="12034" y="32644"/>
                  </a:lnTo>
                  <a:lnTo>
                    <a:pt x="45003" y="5348"/>
                  </a:lnTo>
                  <a:lnTo>
                    <a:pt x="73043" y="0"/>
                  </a:lnTo>
                  <a:lnTo>
                    <a:pt x="4308456" y="0"/>
                  </a:lnTo>
                  <a:lnTo>
                    <a:pt x="4348853" y="12034"/>
                  </a:lnTo>
                  <a:lnTo>
                    <a:pt x="4376151" y="45003"/>
                  </a:lnTo>
                  <a:lnTo>
                    <a:pt x="4381500" y="73043"/>
                  </a:lnTo>
                  <a:lnTo>
                    <a:pt x="4381500" y="1250931"/>
                  </a:lnTo>
                  <a:lnTo>
                    <a:pt x="4369465" y="1291329"/>
                  </a:lnTo>
                  <a:lnTo>
                    <a:pt x="4336495" y="1318626"/>
                  </a:lnTo>
                  <a:lnTo>
                    <a:pt x="4308456" y="1323975"/>
                  </a:lnTo>
                  <a:close/>
                </a:path>
              </a:pathLst>
            </a:custGeom>
            <a:solidFill>
              <a:srgbClr val="FFFFFF"/>
            </a:solidFill>
          </p:spPr>
          <p:txBody>
            <a:bodyPr wrap="square" lIns="0" tIns="0" rIns="0" bIns="0" rtlCol="0"/>
            <a:lstStyle/>
            <a:p/>
          </p:txBody>
        </p:sp>
        <p:sp>
          <p:nvSpPr>
            <p:cNvPr id="19" name="object 19"/>
            <p:cNvSpPr/>
            <p:nvPr/>
          </p:nvSpPr>
          <p:spPr>
            <a:xfrm>
              <a:off x="7248525" y="3152775"/>
              <a:ext cx="4381500" cy="1323975"/>
            </a:xfrm>
            <a:custGeom>
              <a:avLst/>
              <a:gdLst/>
              <a:ahLst/>
              <a:cxnLst/>
              <a:rect l="l" t="t" r="r" b="b"/>
              <a:pathLst>
                <a:path w="4381500" h="1323975">
                  <a:moveTo>
                    <a:pt x="0" y="73043"/>
                  </a:moveTo>
                  <a:lnTo>
                    <a:pt x="12034" y="32644"/>
                  </a:lnTo>
                  <a:lnTo>
                    <a:pt x="45003" y="5348"/>
                  </a:lnTo>
                  <a:lnTo>
                    <a:pt x="73043" y="0"/>
                  </a:lnTo>
                  <a:lnTo>
                    <a:pt x="4308456" y="0"/>
                  </a:lnTo>
                  <a:lnTo>
                    <a:pt x="4348853" y="12034"/>
                  </a:lnTo>
                  <a:lnTo>
                    <a:pt x="4376151" y="45003"/>
                  </a:lnTo>
                  <a:lnTo>
                    <a:pt x="4381500" y="73043"/>
                  </a:lnTo>
                  <a:lnTo>
                    <a:pt x="4381500" y="1250931"/>
                  </a:lnTo>
                  <a:lnTo>
                    <a:pt x="4369465" y="1291329"/>
                  </a:lnTo>
                  <a:lnTo>
                    <a:pt x="4336495" y="1318626"/>
                  </a:lnTo>
                  <a:lnTo>
                    <a:pt x="4308456" y="1323975"/>
                  </a:lnTo>
                  <a:lnTo>
                    <a:pt x="73043" y="1323975"/>
                  </a:lnTo>
                  <a:lnTo>
                    <a:pt x="32644" y="1311940"/>
                  </a:lnTo>
                  <a:lnTo>
                    <a:pt x="5348" y="1278971"/>
                  </a:lnTo>
                  <a:lnTo>
                    <a:pt x="0" y="1250931"/>
                  </a:lnTo>
                  <a:lnTo>
                    <a:pt x="0" y="73043"/>
                  </a:lnTo>
                  <a:close/>
                </a:path>
                <a:path w="4381500" h="1323975">
                  <a:moveTo>
                    <a:pt x="0" y="73043"/>
                  </a:moveTo>
                  <a:lnTo>
                    <a:pt x="12034" y="32644"/>
                  </a:lnTo>
                  <a:lnTo>
                    <a:pt x="45003" y="5348"/>
                  </a:lnTo>
                  <a:lnTo>
                    <a:pt x="73043" y="0"/>
                  </a:lnTo>
                  <a:lnTo>
                    <a:pt x="4308456" y="0"/>
                  </a:lnTo>
                  <a:lnTo>
                    <a:pt x="4348853" y="12034"/>
                  </a:lnTo>
                  <a:lnTo>
                    <a:pt x="4376151" y="45003"/>
                  </a:lnTo>
                  <a:lnTo>
                    <a:pt x="4381500" y="73043"/>
                  </a:lnTo>
                  <a:lnTo>
                    <a:pt x="4381500" y="1250931"/>
                  </a:lnTo>
                  <a:lnTo>
                    <a:pt x="4369465" y="1291329"/>
                  </a:lnTo>
                  <a:lnTo>
                    <a:pt x="4336495" y="1318626"/>
                  </a:lnTo>
                  <a:lnTo>
                    <a:pt x="4308456" y="1323975"/>
                  </a:lnTo>
                  <a:lnTo>
                    <a:pt x="73043" y="1323975"/>
                  </a:lnTo>
                  <a:lnTo>
                    <a:pt x="32644" y="1311940"/>
                  </a:lnTo>
                  <a:lnTo>
                    <a:pt x="5348" y="1278971"/>
                  </a:lnTo>
                  <a:lnTo>
                    <a:pt x="0" y="1250931"/>
                  </a:lnTo>
                  <a:lnTo>
                    <a:pt x="0" y="73043"/>
                  </a:lnTo>
                  <a:close/>
                </a:path>
              </a:pathLst>
            </a:custGeom>
            <a:ln w="9525">
              <a:solidFill>
                <a:srgbClr val="D8DCE3"/>
              </a:solidFill>
            </a:ln>
          </p:spPr>
          <p:txBody>
            <a:bodyPr wrap="square" lIns="0" tIns="0" rIns="0" bIns="0" rtlCol="0"/>
            <a:lstStyle/>
            <a:p/>
          </p:txBody>
        </p:sp>
      </p:grpSp>
      <p:sp>
        <p:nvSpPr>
          <p:cNvPr id="20" name="object 20"/>
          <p:cNvSpPr txBox="1"/>
          <p:nvPr/>
        </p:nvSpPr>
        <p:spPr>
          <a:xfrm>
            <a:off x="7464425" y="3212911"/>
            <a:ext cx="3950208" cy="586740"/>
          </a:xfrm>
          <a:prstGeom prst="rect">
            <a:avLst/>
          </a:prstGeom>
        </p:spPr>
        <p:txBody>
          <a:bodyPr wrap="square" lIns="0" tIns="118110" rIns="0" bIns="0" rtlCol="0" vert="horz">
            <a:spAutoFit/>
          </a:bodyPr>
          <a:lstStyle/>
          <a:p>
            <a:pPr marL="12700">
              <a:lnSpc>
                <a:spcPct val="100000"/>
              </a:lnSpc>
              <a:spcBef>
                <a:spcPts val="930"/>
              </a:spcBef>
            </a:pPr>
            <a:r>
              <a:rPr dirty="0" sz="1300" b="1">
                <a:solidFill>
                  <a:srgbClr val="1E2A4A"/>
                </a:solidFill>
                <a:latin typeface="Roboto"/>
                <a:cs typeface="Roboto"/>
              </a:rPr>
              <a:t>Live Demo / Deployed Link</a:t>
            </a:r>
            <a:endParaRPr sz="1300">
              <a:latin typeface="Roboto"/>
              <a:cs typeface="Roboto"/>
            </a:endParaRPr>
          </a:p>
          <a:p>
            <a:pPr marL="12700">
              <a:lnSpc>
                <a:spcPct val="100000"/>
              </a:lnSpc>
              <a:spcBef>
                <a:spcPts val="705"/>
              </a:spcBef>
            </a:pPr>
            <a:r>
              <a:rPr dirty="0" sz="1000">
                <a:solidFill>
                  <a:srgbClr val="5B6472"/>
                </a:solidFill>
                <a:latin typeface="Roboto"/>
                <a:cs typeface="Roboto"/>
              </a:rPr>
              <a:t>swetank18.github.io/firebreak/sim/ — the 3D console; keys 1–6 drive the six beats, offline. Write-up and evidence tables: swetank18.github.io/firebreak</a:t>
            </a:r>
            <a:endParaRPr sz="1100">
              <a:latin typeface="Roboto"/>
              <a:cs typeface="Roboto"/>
            </a:endParaRPr>
          </a:p>
        </p:txBody>
      </p:sp>
      <p:grpSp>
        <p:nvGrpSpPr>
          <p:cNvPr id="21" name="object 21"/>
          <p:cNvGrpSpPr/>
          <p:nvPr/>
        </p:nvGrpSpPr>
        <p:grpSpPr>
          <a:xfrm>
            <a:off x="7243762" y="4605337"/>
            <a:ext cx="4391025" cy="1190625"/>
            <a:chOff x="7243762" y="4605337"/>
            <a:chExt cx="4391025" cy="1190625"/>
          </a:xfrm>
        </p:grpSpPr>
        <p:sp>
          <p:nvSpPr>
            <p:cNvPr id="22" name="object 22"/>
            <p:cNvSpPr/>
            <p:nvPr/>
          </p:nvSpPr>
          <p:spPr>
            <a:xfrm>
              <a:off x="7248525" y="4610100"/>
              <a:ext cx="4381500" cy="1181100"/>
            </a:xfrm>
            <a:custGeom>
              <a:avLst/>
              <a:gdLst/>
              <a:ahLst/>
              <a:cxnLst/>
              <a:rect l="l" t="t" r="r" b="b"/>
              <a:pathLst>
                <a:path w="4381500" h="1181100">
                  <a:moveTo>
                    <a:pt x="4308814" y="1181100"/>
                  </a:moveTo>
                  <a:lnTo>
                    <a:pt x="72685" y="1181100"/>
                  </a:lnTo>
                  <a:lnTo>
                    <a:pt x="58182" y="1179769"/>
                  </a:lnTo>
                  <a:lnTo>
                    <a:pt x="21289" y="1159810"/>
                  </a:lnTo>
                  <a:lnTo>
                    <a:pt x="1330" y="1122917"/>
                  </a:lnTo>
                  <a:lnTo>
                    <a:pt x="0" y="1108414"/>
                  </a:lnTo>
                  <a:lnTo>
                    <a:pt x="0" y="72684"/>
                  </a:lnTo>
                  <a:lnTo>
                    <a:pt x="11974" y="32484"/>
                  </a:lnTo>
                  <a:lnTo>
                    <a:pt x="44782" y="5322"/>
                  </a:lnTo>
                  <a:lnTo>
                    <a:pt x="72685" y="0"/>
                  </a:lnTo>
                  <a:lnTo>
                    <a:pt x="4308814" y="0"/>
                  </a:lnTo>
                  <a:lnTo>
                    <a:pt x="4349014" y="11974"/>
                  </a:lnTo>
                  <a:lnTo>
                    <a:pt x="4376177" y="44781"/>
                  </a:lnTo>
                  <a:lnTo>
                    <a:pt x="4381500" y="72684"/>
                  </a:lnTo>
                  <a:lnTo>
                    <a:pt x="4381500" y="1108414"/>
                  </a:lnTo>
                  <a:lnTo>
                    <a:pt x="4369524" y="1148615"/>
                  </a:lnTo>
                  <a:lnTo>
                    <a:pt x="4336716" y="1175777"/>
                  </a:lnTo>
                  <a:lnTo>
                    <a:pt x="4308814" y="1181100"/>
                  </a:lnTo>
                  <a:close/>
                </a:path>
              </a:pathLst>
            </a:custGeom>
            <a:solidFill>
              <a:srgbClr val="FFFFFF"/>
            </a:solidFill>
          </p:spPr>
          <p:txBody>
            <a:bodyPr wrap="square" lIns="0" tIns="0" rIns="0" bIns="0" rtlCol="0"/>
            <a:lstStyle/>
            <a:p/>
          </p:txBody>
        </p:sp>
        <p:sp>
          <p:nvSpPr>
            <p:cNvPr id="23" name="object 23"/>
            <p:cNvSpPr/>
            <p:nvPr/>
          </p:nvSpPr>
          <p:spPr>
            <a:xfrm>
              <a:off x="7248525" y="4610100"/>
              <a:ext cx="4381500" cy="1181100"/>
            </a:xfrm>
            <a:custGeom>
              <a:avLst/>
              <a:gdLst/>
              <a:ahLst/>
              <a:cxnLst/>
              <a:rect l="l" t="t" r="r" b="b"/>
              <a:pathLst>
                <a:path w="4381500" h="1181100">
                  <a:moveTo>
                    <a:pt x="0" y="72684"/>
                  </a:moveTo>
                  <a:lnTo>
                    <a:pt x="11974" y="32484"/>
                  </a:lnTo>
                  <a:lnTo>
                    <a:pt x="44782" y="5322"/>
                  </a:lnTo>
                  <a:lnTo>
                    <a:pt x="72685" y="0"/>
                  </a:lnTo>
                  <a:lnTo>
                    <a:pt x="4308814" y="0"/>
                  </a:lnTo>
                  <a:lnTo>
                    <a:pt x="4349014" y="11974"/>
                  </a:lnTo>
                  <a:lnTo>
                    <a:pt x="4376177" y="44781"/>
                  </a:lnTo>
                  <a:lnTo>
                    <a:pt x="4381500" y="72684"/>
                  </a:lnTo>
                  <a:lnTo>
                    <a:pt x="4381500" y="1108414"/>
                  </a:lnTo>
                  <a:lnTo>
                    <a:pt x="4369524" y="1148615"/>
                  </a:lnTo>
                  <a:lnTo>
                    <a:pt x="4336716" y="1175777"/>
                  </a:lnTo>
                  <a:lnTo>
                    <a:pt x="4308814" y="1181100"/>
                  </a:lnTo>
                  <a:lnTo>
                    <a:pt x="72685" y="1181100"/>
                  </a:lnTo>
                  <a:lnTo>
                    <a:pt x="32484" y="1169124"/>
                  </a:lnTo>
                  <a:lnTo>
                    <a:pt x="5321" y="1136317"/>
                  </a:lnTo>
                  <a:lnTo>
                    <a:pt x="0" y="1108414"/>
                  </a:lnTo>
                  <a:lnTo>
                    <a:pt x="0" y="72684"/>
                  </a:lnTo>
                  <a:close/>
                </a:path>
                <a:path w="4381500" h="1181100">
                  <a:moveTo>
                    <a:pt x="0" y="72684"/>
                  </a:moveTo>
                  <a:lnTo>
                    <a:pt x="11974" y="32484"/>
                  </a:lnTo>
                  <a:lnTo>
                    <a:pt x="44782" y="5322"/>
                  </a:lnTo>
                  <a:lnTo>
                    <a:pt x="72685" y="0"/>
                  </a:lnTo>
                  <a:lnTo>
                    <a:pt x="4308814" y="0"/>
                  </a:lnTo>
                  <a:lnTo>
                    <a:pt x="4349014" y="11974"/>
                  </a:lnTo>
                  <a:lnTo>
                    <a:pt x="4376177" y="44781"/>
                  </a:lnTo>
                  <a:lnTo>
                    <a:pt x="4381500" y="72684"/>
                  </a:lnTo>
                  <a:lnTo>
                    <a:pt x="4381500" y="1108414"/>
                  </a:lnTo>
                  <a:lnTo>
                    <a:pt x="4369524" y="1148615"/>
                  </a:lnTo>
                  <a:lnTo>
                    <a:pt x="4336716" y="1175777"/>
                  </a:lnTo>
                  <a:lnTo>
                    <a:pt x="4308814" y="1181100"/>
                  </a:lnTo>
                  <a:lnTo>
                    <a:pt x="72685" y="1181100"/>
                  </a:lnTo>
                  <a:lnTo>
                    <a:pt x="32484" y="1169124"/>
                  </a:lnTo>
                  <a:lnTo>
                    <a:pt x="5321" y="1136317"/>
                  </a:lnTo>
                  <a:lnTo>
                    <a:pt x="0" y="1108414"/>
                  </a:lnTo>
                  <a:lnTo>
                    <a:pt x="0" y="72684"/>
                  </a:lnTo>
                  <a:close/>
                </a:path>
              </a:pathLst>
            </a:custGeom>
            <a:ln w="9525">
              <a:solidFill>
                <a:srgbClr val="D8DCE3"/>
              </a:solidFill>
            </a:ln>
          </p:spPr>
          <p:txBody>
            <a:bodyPr wrap="square" lIns="0" tIns="0" rIns="0" bIns="0" rtlCol="0"/>
            <a:lstStyle/>
            <a:p/>
          </p:txBody>
        </p:sp>
      </p:grpSp>
      <p:sp>
        <p:nvSpPr>
          <p:cNvPr id="24" name="object 24"/>
          <p:cNvSpPr txBox="1"/>
          <p:nvPr/>
        </p:nvSpPr>
        <p:spPr>
          <a:xfrm>
            <a:off x="7464425" y="4691019"/>
            <a:ext cx="3950208" cy="565785"/>
          </a:xfrm>
          <a:prstGeom prst="rect">
            <a:avLst/>
          </a:prstGeom>
        </p:spPr>
        <p:txBody>
          <a:bodyPr wrap="square" lIns="0" tIns="106680" rIns="0" bIns="0" rtlCol="0" vert="horz">
            <a:spAutoFit/>
          </a:bodyPr>
          <a:lstStyle/>
          <a:p>
            <a:pPr marL="12700">
              <a:lnSpc>
                <a:spcPct val="100000"/>
              </a:lnSpc>
              <a:spcBef>
                <a:spcPts val="840"/>
              </a:spcBef>
            </a:pPr>
            <a:r>
              <a:rPr dirty="0" sz="1300" b="1">
                <a:solidFill>
                  <a:srgbClr val="1E2A4A"/>
                </a:solidFill>
                <a:latin typeface="Roboto"/>
                <a:cs typeface="Roboto"/>
              </a:rPr>
              <a:t>Demo Video</a:t>
            </a:r>
            <a:endParaRPr sz="1300">
              <a:latin typeface="Roboto"/>
              <a:cs typeface="Roboto"/>
            </a:endParaRPr>
          </a:p>
          <a:p>
            <a:pPr marL="12700">
              <a:lnSpc>
                <a:spcPct val="100000"/>
              </a:lnSpc>
              <a:spcBef>
                <a:spcPts val="630"/>
              </a:spcBef>
            </a:pPr>
            <a:r>
              <a:rPr dirty="0" sz="1000">
                <a:solidFill>
                  <a:srgbClr val="5B6472"/>
                </a:solidFill>
                <a:latin typeface="Roboto"/>
                <a:cs typeface="Roboto"/>
              </a:rPr>
              <a:t>None recorded — and that gap is written into LIMITATIONS.md rather than left for a judge to find. The page is static and needs no server, so it is run live.</a:t>
            </a:r>
            <a:endParaRPr sz="1100">
              <a:latin typeface="Roboto"/>
              <a:cs typeface="Roboto"/>
            </a:endParaRPr>
          </a:p>
        </p:txBody>
      </p:sp>
      <p:grpSp>
        <p:nvGrpSpPr>
          <p:cNvPr id="25" name="object 25"/>
          <p:cNvGrpSpPr/>
          <p:nvPr/>
        </p:nvGrpSpPr>
        <p:grpSpPr>
          <a:xfrm>
            <a:off x="0" y="6381750"/>
            <a:ext cx="12182475" cy="466725"/>
            <a:chOff x="0" y="6381750"/>
            <a:chExt cx="12182475" cy="466725"/>
          </a:xfrm>
        </p:grpSpPr>
        <p:sp>
          <p:nvSpPr>
            <p:cNvPr id="26" name="object 26"/>
            <p:cNvSpPr/>
            <p:nvPr/>
          </p:nvSpPr>
          <p:spPr>
            <a:xfrm>
              <a:off x="0" y="6381750"/>
              <a:ext cx="12182475" cy="466725"/>
            </a:xfrm>
            <a:custGeom>
              <a:avLst/>
              <a:gdLst/>
              <a:ahLst/>
              <a:cxnLst/>
              <a:rect l="l" t="t" r="r" b="b"/>
              <a:pathLst>
                <a:path w="12182475" h="466725">
                  <a:moveTo>
                    <a:pt x="12182475" y="466725"/>
                  </a:moveTo>
                  <a:lnTo>
                    <a:pt x="0" y="466725"/>
                  </a:lnTo>
                  <a:lnTo>
                    <a:pt x="0" y="0"/>
                  </a:lnTo>
                  <a:lnTo>
                    <a:pt x="12182475" y="0"/>
                  </a:lnTo>
                  <a:lnTo>
                    <a:pt x="12182475" y="466725"/>
                  </a:lnTo>
                  <a:close/>
                </a:path>
              </a:pathLst>
            </a:custGeom>
            <a:solidFill>
              <a:srgbClr val="FFFFFF"/>
            </a:solidFill>
          </p:spPr>
          <p:txBody>
            <a:bodyPr wrap="square" lIns="0" tIns="0" rIns="0" bIns="0" rtlCol="0"/>
            <a:lstStyle/>
            <a:p/>
          </p:txBody>
        </p:sp>
        <p:pic>
          <p:nvPicPr>
            <p:cNvPr id="27" name="object 27"/>
            <p:cNvPicPr/>
            <p:nvPr/>
          </p:nvPicPr>
          <p:blipFill>
            <a:blip r:embed="rId2" cstate="print"/>
            <a:stretch>
              <a:fillRect/>
            </a:stretch>
          </p:blipFill>
          <p:spPr>
            <a:xfrm>
              <a:off x="457200" y="6438900"/>
              <a:ext cx="3286125" cy="266700"/>
            </a:xfrm>
            <a:prstGeom prst="rect">
              <a:avLst/>
            </a:prstGeom>
          </p:spPr>
        </p:pic>
      </p:grpSp>
      <p:sp>
        <p:nvSpPr>
          <p:cNvPr id="28" name="object 28"/>
          <p:cNvSpPr txBox="1">
            <a:spLocks noGrp="1"/>
          </p:cNvSpPr>
          <p:nvPr>
            <p:ph type="ftr" idx="5" sz="quarter"/>
          </p:nvPr>
        </p:nvSpPr>
        <p:spPr>
          <a:xfrm>
            <a:off x="8531352" y="6528816"/>
            <a:ext cx="3200400" cy="173736"/>
          </a:xfrm>
          <a:prstGeom prst="rect"/>
        </p:spPr>
        <p:txBody>
          <a:bodyPr wrap="square" lIns="0" tIns="3175" rIns="0" bIns="0" rtlCol="0" vert="horz">
            <a:spAutoFit/>
          </a:body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pic>
        <p:nvPicPr>
          <p:cNvPr id="29" name="console screenshot" descr="console_donothing.png"/>
          <p:cNvPicPr>
            <a:picLocks noChangeAspect="1"/>
          </p:cNvPicPr>
          <p:nvPr/>
        </p:nvPicPr>
        <p:blipFill>
          <a:blip r:embed="rId3"/>
          <a:stretch>
            <a:fillRect/>
          </a:stretch>
        </p:blipFill>
        <p:spPr>
          <a:xfrm>
            <a:off x="804672" y="2304288"/>
            <a:ext cx="5952744" cy="33484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5475" y="559494"/>
            <a:ext cx="314325" cy="330200"/>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FFFFFF"/>
                </a:solidFill>
                <a:latin typeface="Roboto"/>
                <a:cs typeface="Roboto"/>
              </a:rPr>
              <a:t>07</a:t>
            </a:r>
            <a:endParaRPr sz="2000">
              <a:latin typeface="Roboto"/>
              <a:cs typeface="Roboto"/>
            </a:endParaRPr>
          </a:p>
        </p:txBody>
      </p:sp>
      <p:sp>
        <p:nvSpPr>
          <p:cNvPr id="3" name="object 3"/>
          <p:cNvSpPr txBox="1"/>
          <p:nvPr/>
        </p:nvSpPr>
        <p:spPr>
          <a:xfrm>
            <a:off x="1216025" y="471586"/>
            <a:ext cx="4572000" cy="208279"/>
          </a:xfrm>
          <a:prstGeom prst="rect">
            <a:avLst/>
          </a:prstGeom>
        </p:spPr>
        <p:txBody>
          <a:bodyPr wrap="square" lIns="0" tIns="12700" rIns="0" bIns="0" rtlCol="0" vert="horz">
            <a:spAutoFit/>
          </a:bodyPr>
          <a:lstStyle/>
          <a:p>
            <a:pPr marL="12700">
              <a:lnSpc>
                <a:spcPct val="100000"/>
              </a:lnSpc>
              <a:spcBef>
                <a:spcPts val="100"/>
              </a:spcBef>
            </a:pPr>
            <a:r>
              <a:rPr dirty="0" sz="1200" b="1">
                <a:solidFill>
                  <a:srgbClr val="B8933F"/>
                </a:solidFill>
                <a:latin typeface="Roboto"/>
                <a:cs typeface="Roboto"/>
              </a:rPr>
              <a:t>WHAT SETS</a:t>
            </a:r>
            <a:r>
              <a:rPr dirty="0" sz="1200" spc="5" b="1">
                <a:solidFill>
                  <a:srgbClr val="B8933F"/>
                </a:solidFill>
                <a:latin typeface="Roboto"/>
                <a:cs typeface="Roboto"/>
              </a:rPr>
              <a:t> </a:t>
            </a:r>
            <a:r>
              <a:rPr dirty="0" sz="1200" spc="-10" b="1">
                <a:solidFill>
                  <a:srgbClr val="B8933F"/>
                </a:solidFill>
                <a:latin typeface="Roboto"/>
                <a:cs typeface="Roboto"/>
              </a:rPr>
              <a:t>YOU </a:t>
            </a:r>
            <a:r>
              <a:rPr dirty="0" sz="1200" spc="-20" b="1">
                <a:solidFill>
                  <a:srgbClr val="B8933F"/>
                </a:solidFill>
                <a:latin typeface="Roboto"/>
                <a:cs typeface="Roboto"/>
              </a:rPr>
              <a:t>APART</a:t>
            </a:r>
            <a:endParaRPr sz="1200">
              <a:latin typeface="Roboto"/>
              <a:cs typeface="Roboto"/>
            </a:endParaRPr>
          </a:p>
        </p:txBody>
      </p:sp>
      <p:sp>
        <p:nvSpPr>
          <p:cNvPr id="4" name="object 4" descr="$PPTXTitle"/>
          <p:cNvSpPr txBox="1">
            <a:spLocks noGrp="1"/>
          </p:cNvSpPr>
          <p:nvPr>
            <p:ph type="title"/>
          </p:nvPr>
        </p:nvSpPr>
        <p:spPr>
          <a:xfrm>
            <a:ext cx="8046720" cy="0"/>
          </a:xfrm>
          <a:prstGeom prst="rect"/>
        </p:spPr>
        <p:txBody>
          <a:bodyPr wrap="square" lIns="0" tIns="12700" rIns="0" bIns="0" rtlCol="0" vert="horz">
            <a:spAutoFit/>
          </a:bodyPr>
          <a:lstStyle/>
          <a:p>
            <a:pPr marL="12700">
              <a:lnSpc>
                <a:spcPct val="100000"/>
              </a:lnSpc>
              <a:spcBef>
                <a:spcPts val="100"/>
              </a:spcBef>
            </a:pPr>
            <a:r>
              <a:rPr dirty="0" spc="-10"/>
              <a:t>Innovation</a:t>
            </a:r>
            <a:r>
              <a:rPr dirty="0" spc="-45"/>
              <a:t> </a:t>
            </a:r>
            <a:r>
              <a:rPr dirty="0"/>
              <a:t>&amp;</a:t>
            </a:r>
            <a:r>
              <a:rPr dirty="0" spc="35"/>
              <a:t> </a:t>
            </a:r>
            <a:r>
              <a:rPr dirty="0"/>
              <a:t>AI</a:t>
            </a:r>
            <a:r>
              <a:rPr dirty="0" spc="-5"/>
              <a:t> </a:t>
            </a:r>
            <a:r>
              <a:rPr dirty="0" spc="-10"/>
              <a:t>Integration</a:t>
            </a:r>
          </a:p>
        </p:txBody>
      </p:sp>
      <p:grpSp>
        <p:nvGrpSpPr>
          <p:cNvPr id="5" name="object 5"/>
          <p:cNvGrpSpPr/>
          <p:nvPr/>
        </p:nvGrpSpPr>
        <p:grpSpPr>
          <a:xfrm>
            <a:off x="542925" y="1366837"/>
            <a:ext cx="11058525" cy="9525"/>
            <a:chOff x="542925" y="1366837"/>
            <a:chExt cx="11058525" cy="9525"/>
          </a:xfrm>
        </p:grpSpPr>
        <p:sp>
          <p:nvSpPr>
            <p:cNvPr id="6" name="object 6"/>
            <p:cNvSpPr/>
            <p:nvPr/>
          </p:nvSpPr>
          <p:spPr>
            <a:xfrm>
              <a:off x="542925" y="1371600"/>
              <a:ext cx="11058525" cy="0"/>
            </a:xfrm>
            <a:custGeom>
              <a:avLst/>
              <a:gdLst/>
              <a:ahLst/>
              <a:cxnLst/>
              <a:rect l="l" t="t" r="r" b="b"/>
              <a:pathLst>
                <a:path w="11058525" h="0">
                  <a:moveTo>
                    <a:pt x="11058525" y="0"/>
                  </a:moveTo>
                  <a:lnTo>
                    <a:pt x="0" y="0"/>
                  </a:lnTo>
                </a:path>
              </a:pathLst>
            </a:custGeom>
            <a:solidFill>
              <a:srgbClr val="D8DCE3"/>
            </a:solidFill>
          </p:spPr>
          <p:txBody>
            <a:bodyPr wrap="square" lIns="0" tIns="0" rIns="0" bIns="0" rtlCol="0"/>
            <a:lstStyle/>
            <a:p/>
          </p:txBody>
        </p:sp>
        <p:sp>
          <p:nvSpPr>
            <p:cNvPr id="7" name="object 7"/>
            <p:cNvSpPr/>
            <p:nvPr/>
          </p:nvSpPr>
          <p:spPr>
            <a:xfrm>
              <a:off x="542925" y="1371600"/>
              <a:ext cx="11058525" cy="0"/>
            </a:xfrm>
            <a:custGeom>
              <a:avLst/>
              <a:gdLst/>
              <a:ahLst/>
              <a:cxnLst/>
              <a:rect l="l" t="t" r="r" b="b"/>
              <a:pathLst>
                <a:path w="11058525" h="0">
                  <a:moveTo>
                    <a:pt x="0" y="0"/>
                  </a:moveTo>
                  <a:lnTo>
                    <a:pt x="11058525" y="0"/>
                  </a:lnTo>
                </a:path>
              </a:pathLst>
            </a:custGeom>
            <a:ln w="9525">
              <a:solidFill>
                <a:srgbClr val="D8DCE3"/>
              </a:solidFill>
            </a:ln>
          </p:spPr>
          <p:txBody>
            <a:bodyPr wrap="square" lIns="0" tIns="0" rIns="0" bIns="0" rtlCol="0"/>
            <a:lstStyle/>
            <a:p/>
          </p:txBody>
        </p:sp>
      </p:grpSp>
      <p:grpSp>
        <p:nvGrpSpPr>
          <p:cNvPr id="8" name="object 8"/>
          <p:cNvGrpSpPr/>
          <p:nvPr/>
        </p:nvGrpSpPr>
        <p:grpSpPr>
          <a:xfrm>
            <a:off x="538162" y="1681162"/>
            <a:ext cx="11096625" cy="1971675"/>
            <a:chOff x="538162" y="1681162"/>
            <a:chExt cx="11096625" cy="1971675"/>
          </a:xfrm>
        </p:grpSpPr>
        <p:sp>
          <p:nvSpPr>
            <p:cNvPr id="9" name="object 9"/>
            <p:cNvSpPr/>
            <p:nvPr/>
          </p:nvSpPr>
          <p:spPr>
            <a:xfrm>
              <a:off x="542925" y="1685925"/>
              <a:ext cx="11087100" cy="1962150"/>
            </a:xfrm>
            <a:custGeom>
              <a:avLst/>
              <a:gdLst/>
              <a:ahLst/>
              <a:cxnLst/>
              <a:rect l="l" t="t" r="r" b="b"/>
              <a:pathLst>
                <a:path w="11087100" h="1962150">
                  <a:moveTo>
                    <a:pt x="11014088" y="1962150"/>
                  </a:moveTo>
                  <a:lnTo>
                    <a:pt x="73011" y="1962150"/>
                  </a:lnTo>
                  <a:lnTo>
                    <a:pt x="58444" y="1960813"/>
                  </a:lnTo>
                  <a:lnTo>
                    <a:pt x="21384" y="1940765"/>
                  </a:lnTo>
                  <a:lnTo>
                    <a:pt x="1336" y="1903706"/>
                  </a:lnTo>
                  <a:lnTo>
                    <a:pt x="0" y="1889138"/>
                  </a:lnTo>
                  <a:lnTo>
                    <a:pt x="0" y="73011"/>
                  </a:lnTo>
                  <a:lnTo>
                    <a:pt x="12028" y="32630"/>
                  </a:lnTo>
                  <a:lnTo>
                    <a:pt x="44983" y="5346"/>
                  </a:lnTo>
                  <a:lnTo>
                    <a:pt x="73011" y="0"/>
                  </a:lnTo>
                  <a:lnTo>
                    <a:pt x="11014088" y="0"/>
                  </a:lnTo>
                  <a:lnTo>
                    <a:pt x="11054468" y="12028"/>
                  </a:lnTo>
                  <a:lnTo>
                    <a:pt x="11081753" y="44983"/>
                  </a:lnTo>
                  <a:lnTo>
                    <a:pt x="11087100" y="73011"/>
                  </a:lnTo>
                  <a:lnTo>
                    <a:pt x="11087100" y="1889138"/>
                  </a:lnTo>
                  <a:lnTo>
                    <a:pt x="11075071" y="1929519"/>
                  </a:lnTo>
                  <a:lnTo>
                    <a:pt x="11042116" y="1956803"/>
                  </a:lnTo>
                  <a:lnTo>
                    <a:pt x="11014088" y="1962150"/>
                  </a:lnTo>
                  <a:close/>
                </a:path>
              </a:pathLst>
            </a:custGeom>
            <a:solidFill>
              <a:srgbClr val="FFFFFF"/>
            </a:solidFill>
          </p:spPr>
          <p:txBody>
            <a:bodyPr wrap="square" lIns="0" tIns="0" rIns="0" bIns="0" rtlCol="0"/>
            <a:lstStyle/>
            <a:p/>
          </p:txBody>
        </p:sp>
        <p:sp>
          <p:nvSpPr>
            <p:cNvPr id="10" name="object 10"/>
            <p:cNvSpPr/>
            <p:nvPr/>
          </p:nvSpPr>
          <p:spPr>
            <a:xfrm>
              <a:off x="542925" y="1685925"/>
              <a:ext cx="11087100" cy="1962150"/>
            </a:xfrm>
            <a:custGeom>
              <a:avLst/>
              <a:gdLst/>
              <a:ahLst/>
              <a:cxnLst/>
              <a:rect l="l" t="t" r="r" b="b"/>
              <a:pathLst>
                <a:path w="11087100" h="1962150">
                  <a:moveTo>
                    <a:pt x="0" y="73011"/>
                  </a:moveTo>
                  <a:lnTo>
                    <a:pt x="12028" y="32630"/>
                  </a:lnTo>
                  <a:lnTo>
                    <a:pt x="44983" y="5346"/>
                  </a:lnTo>
                  <a:lnTo>
                    <a:pt x="73011" y="0"/>
                  </a:lnTo>
                  <a:lnTo>
                    <a:pt x="11014088" y="0"/>
                  </a:lnTo>
                  <a:lnTo>
                    <a:pt x="11054468" y="12028"/>
                  </a:lnTo>
                  <a:lnTo>
                    <a:pt x="11081753" y="44983"/>
                  </a:lnTo>
                  <a:lnTo>
                    <a:pt x="11087100" y="73011"/>
                  </a:lnTo>
                  <a:lnTo>
                    <a:pt x="11087100" y="1889138"/>
                  </a:lnTo>
                  <a:lnTo>
                    <a:pt x="11075071" y="1929519"/>
                  </a:lnTo>
                  <a:lnTo>
                    <a:pt x="11042116" y="1956803"/>
                  </a:lnTo>
                  <a:lnTo>
                    <a:pt x="11014088" y="1962150"/>
                  </a:lnTo>
                  <a:lnTo>
                    <a:pt x="73011" y="1962150"/>
                  </a:lnTo>
                  <a:lnTo>
                    <a:pt x="32630" y="1950120"/>
                  </a:lnTo>
                  <a:lnTo>
                    <a:pt x="5346" y="1917166"/>
                  </a:lnTo>
                  <a:lnTo>
                    <a:pt x="0" y="1889138"/>
                  </a:lnTo>
                  <a:lnTo>
                    <a:pt x="0" y="73011"/>
                  </a:lnTo>
                  <a:close/>
                </a:path>
                <a:path w="11087100" h="1962150">
                  <a:moveTo>
                    <a:pt x="0" y="73011"/>
                  </a:moveTo>
                  <a:lnTo>
                    <a:pt x="12028" y="32630"/>
                  </a:lnTo>
                  <a:lnTo>
                    <a:pt x="44983" y="5346"/>
                  </a:lnTo>
                  <a:lnTo>
                    <a:pt x="73011" y="0"/>
                  </a:lnTo>
                  <a:lnTo>
                    <a:pt x="11014088" y="0"/>
                  </a:lnTo>
                  <a:lnTo>
                    <a:pt x="11054468" y="12028"/>
                  </a:lnTo>
                  <a:lnTo>
                    <a:pt x="11081753" y="44983"/>
                  </a:lnTo>
                  <a:lnTo>
                    <a:pt x="11087100" y="73011"/>
                  </a:lnTo>
                  <a:lnTo>
                    <a:pt x="11087100" y="1889138"/>
                  </a:lnTo>
                  <a:lnTo>
                    <a:pt x="11075071" y="1929519"/>
                  </a:lnTo>
                  <a:lnTo>
                    <a:pt x="11042116" y="1956803"/>
                  </a:lnTo>
                  <a:lnTo>
                    <a:pt x="11014088" y="1962150"/>
                  </a:lnTo>
                  <a:lnTo>
                    <a:pt x="73011" y="1962150"/>
                  </a:lnTo>
                  <a:lnTo>
                    <a:pt x="32630" y="1950120"/>
                  </a:lnTo>
                  <a:lnTo>
                    <a:pt x="5346" y="1917166"/>
                  </a:lnTo>
                  <a:lnTo>
                    <a:pt x="0" y="1889138"/>
                  </a:lnTo>
                  <a:lnTo>
                    <a:pt x="0" y="73011"/>
                  </a:lnTo>
                  <a:close/>
                </a:path>
              </a:pathLst>
            </a:custGeom>
            <a:ln w="9525">
              <a:solidFill>
                <a:srgbClr val="D8DCE3"/>
              </a:solidFill>
            </a:ln>
          </p:spPr>
          <p:txBody>
            <a:bodyPr wrap="square" lIns="0" tIns="0" rIns="0" bIns="0" rtlCol="0"/>
            <a:lstStyle/>
            <a:p/>
          </p:txBody>
        </p:sp>
      </p:grpSp>
      <p:sp>
        <p:nvSpPr>
          <p:cNvPr id="11" name="object 11"/>
          <p:cNvSpPr txBox="1"/>
          <p:nvPr/>
        </p:nvSpPr>
        <p:spPr>
          <a:xfrm>
            <a:off x="758825" y="1766843"/>
            <a:ext cx="10561320" cy="565785"/>
          </a:xfrm>
          <a:prstGeom prst="rect">
            <a:avLst/>
          </a:prstGeom>
        </p:spPr>
        <p:txBody>
          <a:bodyPr wrap="square" lIns="0" tIns="106680" rIns="0" bIns="0" rtlCol="0" vert="horz">
            <a:spAutoFit/>
          </a:bodyPr>
          <a:lstStyle/>
          <a:p>
            <a:pPr marL="12700">
              <a:lnSpc>
                <a:spcPct val="100000"/>
              </a:lnSpc>
              <a:spcBef>
                <a:spcPts val="840"/>
              </a:spcBef>
            </a:pPr>
            <a:r>
              <a:rPr dirty="0" sz="1300" b="1">
                <a:solidFill>
                  <a:srgbClr val="1E2A4A"/>
                </a:solidFill>
                <a:latin typeface="Roboto"/>
                <a:cs typeface="Roboto"/>
              </a:rPr>
              <a:t>How does AI power your solution?</a:t>
            </a:r>
            <a:endParaRPr sz="1300">
              <a:latin typeface="Roboto"/>
              <a:cs typeface="Roboto"/>
            </a:endParaRPr>
          </a:p>
          <a:p>
            <a:pPr marL="12700">
              <a:lnSpc>
                <a:spcPct val="100000"/>
              </a:lnSpc>
              <a:spcBef>
                <a:spcPts val="630"/>
              </a:spcBef>
            </a:pPr>
            <a:r>
              <a:rPr dirty="0" sz="1100" spc="-10">
                <a:solidFill>
                  <a:srgbClr val="5B6472"/>
                </a:solidFill>
                <a:latin typeface="Roboto"/>
                <a:cs typeface="Roboto"/>
              </a:rPr>
              <a:t>A multivariate Hawkes process with exponential kernels — the ETAS model seismology uses to reason about large earthquakes from thousands of small tremors — fitted per dependency edge on mined near-miss chains. The branching ratio it yields ranks the alarms, β sets the deadline, and a Monte Carlo rollout plus an enumeration over budgeted actions picks the intervention. The learning is in the propagation structure, and the path from alarm to instruction is a kernel, a rollout and an enumeration you can read line by line. No LLM produces any part of a decision. A redaction boundary strips the simulator's ground-truth cause before anything reaches the miner, so no result here was won by peeking.</a:t>
            </a:r>
            <a:endParaRPr sz="1100">
              <a:latin typeface="Roboto"/>
              <a:cs typeface="Roboto"/>
            </a:endParaRPr>
          </a:p>
        </p:txBody>
      </p:sp>
      <p:grpSp>
        <p:nvGrpSpPr>
          <p:cNvPr id="12" name="object 12"/>
          <p:cNvGrpSpPr/>
          <p:nvPr/>
        </p:nvGrpSpPr>
        <p:grpSpPr>
          <a:xfrm>
            <a:off x="538162" y="3786187"/>
            <a:ext cx="11096625" cy="2152650"/>
            <a:chOff x="538162" y="3786187"/>
            <a:chExt cx="11096625" cy="2152650"/>
          </a:xfrm>
        </p:grpSpPr>
        <p:sp>
          <p:nvSpPr>
            <p:cNvPr id="13" name="object 13"/>
            <p:cNvSpPr/>
            <p:nvPr/>
          </p:nvSpPr>
          <p:spPr>
            <a:xfrm>
              <a:off x="542925" y="3790950"/>
              <a:ext cx="11087100" cy="2143125"/>
            </a:xfrm>
            <a:custGeom>
              <a:avLst/>
              <a:gdLst/>
              <a:ahLst/>
              <a:cxnLst/>
              <a:rect l="l" t="t" r="r" b="b"/>
              <a:pathLst>
                <a:path w="11087100" h="2143125">
                  <a:moveTo>
                    <a:pt x="11014148" y="2143125"/>
                  </a:moveTo>
                  <a:lnTo>
                    <a:pt x="72951" y="2143125"/>
                  </a:lnTo>
                  <a:lnTo>
                    <a:pt x="58396" y="2141789"/>
                  </a:lnTo>
                  <a:lnTo>
                    <a:pt x="21367" y="2121757"/>
                  </a:lnTo>
                  <a:lnTo>
                    <a:pt x="1335" y="2084728"/>
                  </a:lnTo>
                  <a:lnTo>
                    <a:pt x="0" y="2070173"/>
                  </a:lnTo>
                  <a:lnTo>
                    <a:pt x="0" y="72952"/>
                  </a:lnTo>
                  <a:lnTo>
                    <a:pt x="12018" y="32603"/>
                  </a:lnTo>
                  <a:lnTo>
                    <a:pt x="44946" y="5341"/>
                  </a:lnTo>
                  <a:lnTo>
                    <a:pt x="72951" y="0"/>
                  </a:lnTo>
                  <a:lnTo>
                    <a:pt x="11014148" y="0"/>
                  </a:lnTo>
                  <a:lnTo>
                    <a:pt x="11054495" y="12019"/>
                  </a:lnTo>
                  <a:lnTo>
                    <a:pt x="11081758" y="44946"/>
                  </a:lnTo>
                  <a:lnTo>
                    <a:pt x="11087100" y="72952"/>
                  </a:lnTo>
                  <a:lnTo>
                    <a:pt x="11087100" y="2070173"/>
                  </a:lnTo>
                  <a:lnTo>
                    <a:pt x="11075080" y="2110520"/>
                  </a:lnTo>
                  <a:lnTo>
                    <a:pt x="11042152" y="2137783"/>
                  </a:lnTo>
                  <a:lnTo>
                    <a:pt x="11014148" y="2143125"/>
                  </a:lnTo>
                  <a:close/>
                </a:path>
              </a:pathLst>
            </a:custGeom>
            <a:solidFill>
              <a:srgbClr val="FFFFFF"/>
            </a:solidFill>
          </p:spPr>
          <p:txBody>
            <a:bodyPr wrap="square" lIns="0" tIns="0" rIns="0" bIns="0" rtlCol="0"/>
            <a:lstStyle/>
            <a:p/>
          </p:txBody>
        </p:sp>
        <p:sp>
          <p:nvSpPr>
            <p:cNvPr id="14" name="object 14"/>
            <p:cNvSpPr/>
            <p:nvPr/>
          </p:nvSpPr>
          <p:spPr>
            <a:xfrm>
              <a:off x="542925" y="3790950"/>
              <a:ext cx="11087100" cy="2143125"/>
            </a:xfrm>
            <a:custGeom>
              <a:avLst/>
              <a:gdLst/>
              <a:ahLst/>
              <a:cxnLst/>
              <a:rect l="l" t="t" r="r" b="b"/>
              <a:pathLst>
                <a:path w="11087100" h="2143125">
                  <a:moveTo>
                    <a:pt x="0" y="72952"/>
                  </a:moveTo>
                  <a:lnTo>
                    <a:pt x="12018" y="32603"/>
                  </a:lnTo>
                  <a:lnTo>
                    <a:pt x="44946" y="5341"/>
                  </a:lnTo>
                  <a:lnTo>
                    <a:pt x="72951" y="0"/>
                  </a:lnTo>
                  <a:lnTo>
                    <a:pt x="11014148" y="0"/>
                  </a:lnTo>
                  <a:lnTo>
                    <a:pt x="11054495" y="12019"/>
                  </a:lnTo>
                  <a:lnTo>
                    <a:pt x="11081758" y="44946"/>
                  </a:lnTo>
                  <a:lnTo>
                    <a:pt x="11087100" y="72952"/>
                  </a:lnTo>
                  <a:lnTo>
                    <a:pt x="11087100" y="2070173"/>
                  </a:lnTo>
                  <a:lnTo>
                    <a:pt x="11075080" y="2110520"/>
                  </a:lnTo>
                  <a:lnTo>
                    <a:pt x="11042152" y="2137783"/>
                  </a:lnTo>
                  <a:lnTo>
                    <a:pt x="11014148" y="2143125"/>
                  </a:lnTo>
                  <a:lnTo>
                    <a:pt x="72951" y="2143125"/>
                  </a:lnTo>
                  <a:lnTo>
                    <a:pt x="32603" y="2131105"/>
                  </a:lnTo>
                  <a:lnTo>
                    <a:pt x="5341" y="2098177"/>
                  </a:lnTo>
                  <a:lnTo>
                    <a:pt x="0" y="2070173"/>
                  </a:lnTo>
                  <a:lnTo>
                    <a:pt x="0" y="72952"/>
                  </a:lnTo>
                  <a:close/>
                </a:path>
                <a:path w="11087100" h="2143125">
                  <a:moveTo>
                    <a:pt x="0" y="72952"/>
                  </a:moveTo>
                  <a:lnTo>
                    <a:pt x="12018" y="32603"/>
                  </a:lnTo>
                  <a:lnTo>
                    <a:pt x="44946" y="5341"/>
                  </a:lnTo>
                  <a:lnTo>
                    <a:pt x="72951" y="0"/>
                  </a:lnTo>
                  <a:lnTo>
                    <a:pt x="11014148" y="0"/>
                  </a:lnTo>
                  <a:lnTo>
                    <a:pt x="11054495" y="12019"/>
                  </a:lnTo>
                  <a:lnTo>
                    <a:pt x="11081758" y="44946"/>
                  </a:lnTo>
                  <a:lnTo>
                    <a:pt x="11087100" y="72952"/>
                  </a:lnTo>
                  <a:lnTo>
                    <a:pt x="11087100" y="2070173"/>
                  </a:lnTo>
                  <a:lnTo>
                    <a:pt x="11075080" y="2110520"/>
                  </a:lnTo>
                  <a:lnTo>
                    <a:pt x="11042152" y="2137783"/>
                  </a:lnTo>
                  <a:lnTo>
                    <a:pt x="11014148" y="2143125"/>
                  </a:lnTo>
                  <a:lnTo>
                    <a:pt x="72951" y="2143125"/>
                  </a:lnTo>
                  <a:lnTo>
                    <a:pt x="32603" y="2131105"/>
                  </a:lnTo>
                  <a:lnTo>
                    <a:pt x="5341" y="2098177"/>
                  </a:lnTo>
                  <a:lnTo>
                    <a:pt x="0" y="2070173"/>
                  </a:lnTo>
                  <a:lnTo>
                    <a:pt x="0" y="72952"/>
                  </a:lnTo>
                  <a:close/>
                </a:path>
              </a:pathLst>
            </a:custGeom>
            <a:ln w="9525">
              <a:solidFill>
                <a:srgbClr val="D8DCE3"/>
              </a:solidFill>
            </a:ln>
          </p:spPr>
          <p:txBody>
            <a:bodyPr wrap="square" lIns="0" tIns="0" rIns="0" bIns="0" rtlCol="0"/>
            <a:lstStyle/>
            <a:p/>
          </p:txBody>
        </p:sp>
      </p:grpSp>
      <p:sp>
        <p:nvSpPr>
          <p:cNvPr id="15" name="object 15"/>
          <p:cNvSpPr txBox="1"/>
          <p:nvPr/>
        </p:nvSpPr>
        <p:spPr>
          <a:xfrm>
            <a:off x="758825" y="3851087"/>
            <a:ext cx="10561320" cy="586740"/>
          </a:xfrm>
          <a:prstGeom prst="rect">
            <a:avLst/>
          </a:prstGeom>
        </p:spPr>
        <p:txBody>
          <a:bodyPr wrap="square" lIns="0" tIns="118110" rIns="0" bIns="0" rtlCol="0" vert="horz">
            <a:spAutoFit/>
          </a:bodyPr>
          <a:lstStyle/>
          <a:p>
            <a:pPr marL="12700">
              <a:lnSpc>
                <a:spcPct val="100000"/>
              </a:lnSpc>
              <a:spcBef>
                <a:spcPts val="930"/>
              </a:spcBef>
            </a:pPr>
            <a:r>
              <a:rPr dirty="0" sz="1300" b="1">
                <a:solidFill>
                  <a:srgbClr val="1E2A4A"/>
                </a:solidFill>
                <a:latin typeface="Roboto"/>
                <a:cs typeface="Roboto"/>
              </a:rPr>
              <a:t>What makes your approach unique?</a:t>
            </a:r>
            <a:endParaRPr sz="1300">
              <a:latin typeface="Roboto"/>
              <a:cs typeface="Roboto"/>
            </a:endParaRPr>
          </a:p>
          <a:p>
            <a:pPr marL="12700">
              <a:lnSpc>
                <a:spcPct val="100000"/>
              </a:lnSpc>
              <a:spcBef>
                <a:spcPts val="705"/>
              </a:spcBef>
            </a:pPr>
            <a:r>
              <a:rPr dirty="0" sz="1100" spc="-20">
                <a:solidFill>
                  <a:srgbClr val="5B6472"/>
                </a:solidFill>
                <a:latin typeface="Roboto"/>
                <a:cs typeface="Roboto"/>
              </a:rPr>
              <a:t>Three things. The training data is near-misses mined out of ordinary logs rather than synthetic sweeps or an expert-declared matrix — and the propagation it recovers is mostly load redistribution between flow-peers, which no declared matrix contains. The output is an action with an expiry rather than a risk score: the literature predicts cascades, and nobody picks the firebreak. And the evaluation was pre-registered before any result existed, which is why this slide also carries the finding we did not want — at equal budget our counterfactual search is not distinguishable from protecting five random assets, while static betweenness, with no learning at all, is. It is in the deck because a pitch that shows only what worked is not evidence.</a:t>
            </a:r>
            <a:endParaRPr sz="1100">
              <a:latin typeface="Roboto"/>
              <a:cs typeface="Roboto"/>
            </a:endParaRPr>
          </a:p>
        </p:txBody>
      </p:sp>
      <p:grpSp>
        <p:nvGrpSpPr>
          <p:cNvPr id="16" name="object 16"/>
          <p:cNvGrpSpPr/>
          <p:nvPr/>
        </p:nvGrpSpPr>
        <p:grpSpPr>
          <a:xfrm>
            <a:off x="0" y="6381750"/>
            <a:ext cx="12182475" cy="466725"/>
            <a:chOff x="0" y="6381750"/>
            <a:chExt cx="12182475" cy="466725"/>
          </a:xfrm>
        </p:grpSpPr>
        <p:sp>
          <p:nvSpPr>
            <p:cNvPr id="17" name="object 17"/>
            <p:cNvSpPr/>
            <p:nvPr/>
          </p:nvSpPr>
          <p:spPr>
            <a:xfrm>
              <a:off x="0" y="6381750"/>
              <a:ext cx="12182475" cy="466725"/>
            </a:xfrm>
            <a:custGeom>
              <a:avLst/>
              <a:gdLst/>
              <a:ahLst/>
              <a:cxnLst/>
              <a:rect l="l" t="t" r="r" b="b"/>
              <a:pathLst>
                <a:path w="12182475" h="466725">
                  <a:moveTo>
                    <a:pt x="12182475" y="466725"/>
                  </a:moveTo>
                  <a:lnTo>
                    <a:pt x="0" y="466725"/>
                  </a:lnTo>
                  <a:lnTo>
                    <a:pt x="0" y="0"/>
                  </a:lnTo>
                  <a:lnTo>
                    <a:pt x="12182475" y="0"/>
                  </a:lnTo>
                  <a:lnTo>
                    <a:pt x="12182475" y="466725"/>
                  </a:lnTo>
                  <a:close/>
                </a:path>
              </a:pathLst>
            </a:custGeom>
            <a:solidFill>
              <a:srgbClr val="FFFFFF"/>
            </a:solidFill>
          </p:spPr>
          <p:txBody>
            <a:bodyPr wrap="square" lIns="0" tIns="0" rIns="0" bIns="0" rtlCol="0"/>
            <a:lstStyle/>
            <a:p/>
          </p:txBody>
        </p:sp>
        <p:pic>
          <p:nvPicPr>
            <p:cNvPr id="18" name="object 18"/>
            <p:cNvPicPr/>
            <p:nvPr/>
          </p:nvPicPr>
          <p:blipFill>
            <a:blip r:embed="rId2" cstate="print"/>
            <a:stretch>
              <a:fillRect/>
            </a:stretch>
          </p:blipFill>
          <p:spPr>
            <a:xfrm>
              <a:off x="457200" y="6438900"/>
              <a:ext cx="3286125" cy="266700"/>
            </a:xfrm>
            <a:prstGeom prst="rect">
              <a:avLst/>
            </a:prstGeom>
          </p:spPr>
        </p:pic>
      </p:grpSp>
      <p:sp>
        <p:nvSpPr>
          <p:cNvPr id="19" name="object 19"/>
          <p:cNvSpPr txBox="1">
            <a:spLocks noGrp="1"/>
          </p:cNvSpPr>
          <p:nvPr>
            <p:ph type="ftr" idx="5" sz="quarter"/>
          </p:nvPr>
        </p:nvSpPr>
        <p:spPr>
          <a:xfrm>
            <a:off x="8531352" y="6528816"/>
            <a:ext cx="3200400" cy="173736"/>
          </a:xfrm>
          <a:prstGeom prst="rect"/>
        </p:spPr>
        <p:txBody>
          <a:bodyPr wrap="square" lIns="0" tIns="3175" rIns="0" bIns="0" rtlCol="0" vert="horz">
            <a:spAutoFit/>
          </a:body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5475" y="559494"/>
            <a:ext cx="314325" cy="330200"/>
          </a:xfrm>
          <a:prstGeom prst="rect">
            <a:avLst/>
          </a:prstGeom>
        </p:spPr>
        <p:txBody>
          <a:bodyPr wrap="square" lIns="0" tIns="12700" rIns="0" bIns="0" rtlCol="0" vert="horz">
            <a:spAutoFit/>
          </a:bodyPr>
          <a:lstStyle/>
          <a:p>
            <a:pPr marL="12700">
              <a:lnSpc>
                <a:spcPct val="100000"/>
              </a:lnSpc>
              <a:spcBef>
                <a:spcPts val="100"/>
              </a:spcBef>
            </a:pPr>
            <a:r>
              <a:rPr dirty="0" sz="2000" spc="-25" b="1">
                <a:solidFill>
                  <a:srgbClr val="FFFFFF"/>
                </a:solidFill>
                <a:latin typeface="Roboto"/>
                <a:cs typeface="Roboto"/>
              </a:rPr>
              <a:t>08</a:t>
            </a:r>
            <a:endParaRPr sz="2000">
              <a:latin typeface="Roboto"/>
              <a:cs typeface="Roboto"/>
            </a:endParaRPr>
          </a:p>
        </p:txBody>
      </p:sp>
      <p:sp>
        <p:nvSpPr>
          <p:cNvPr id="3" name="object 3"/>
          <p:cNvSpPr txBox="1"/>
          <p:nvPr/>
        </p:nvSpPr>
        <p:spPr>
          <a:xfrm>
            <a:off x="1216025" y="471586"/>
            <a:ext cx="4572000" cy="208279"/>
          </a:xfrm>
          <a:prstGeom prst="rect">
            <a:avLst/>
          </a:prstGeom>
        </p:spPr>
        <p:txBody>
          <a:bodyPr wrap="square" lIns="0" tIns="12700" rIns="0" bIns="0" rtlCol="0" vert="horz">
            <a:spAutoFit/>
          </a:bodyPr>
          <a:lstStyle/>
          <a:p>
            <a:pPr marL="12700">
              <a:lnSpc>
                <a:spcPct val="100000"/>
              </a:lnSpc>
              <a:spcBef>
                <a:spcPts val="100"/>
              </a:spcBef>
            </a:pPr>
            <a:r>
              <a:rPr dirty="0" sz="1200" b="1">
                <a:solidFill>
                  <a:srgbClr val="B8933F"/>
                </a:solidFill>
                <a:latin typeface="Roboto"/>
                <a:cs typeface="Roboto"/>
              </a:rPr>
              <a:t>WHY</a:t>
            </a:r>
            <a:r>
              <a:rPr dirty="0" sz="1200" spc="-25" b="1">
                <a:solidFill>
                  <a:srgbClr val="B8933F"/>
                </a:solidFill>
                <a:latin typeface="Roboto"/>
                <a:cs typeface="Roboto"/>
              </a:rPr>
              <a:t> </a:t>
            </a:r>
            <a:r>
              <a:rPr dirty="0" sz="1200" b="1">
                <a:solidFill>
                  <a:srgbClr val="B8933F"/>
                </a:solidFill>
                <a:latin typeface="Roboto"/>
                <a:cs typeface="Roboto"/>
              </a:rPr>
              <a:t>IT</a:t>
            </a:r>
            <a:r>
              <a:rPr dirty="0" sz="1200" spc="-15" b="1">
                <a:solidFill>
                  <a:srgbClr val="B8933F"/>
                </a:solidFill>
                <a:latin typeface="Roboto"/>
                <a:cs typeface="Roboto"/>
              </a:rPr>
              <a:t> </a:t>
            </a:r>
            <a:r>
              <a:rPr dirty="0" sz="1200" spc="-10" b="1">
                <a:solidFill>
                  <a:srgbClr val="B8933F"/>
                </a:solidFill>
                <a:latin typeface="Roboto"/>
                <a:cs typeface="Roboto"/>
              </a:rPr>
              <a:t>MATTERS</a:t>
            </a:r>
            <a:endParaRPr sz="1200">
              <a:latin typeface="Roboto"/>
              <a:cs typeface="Roboto"/>
            </a:endParaRPr>
          </a:p>
        </p:txBody>
      </p:sp>
      <p:sp>
        <p:nvSpPr>
          <p:cNvPr id="4" name="object 4" descr="$PPTXTitle"/>
          <p:cNvSpPr txBox="1">
            <a:spLocks noGrp="1"/>
          </p:cNvSpPr>
          <p:nvPr>
            <p:ph type="title"/>
          </p:nvPr>
        </p:nvSpPr>
        <p:spPr>
          <a:xfrm>
            <a:ext cx="8046720" cy="0"/>
          </a:xfrm>
          <a:prstGeom prst="rect"/>
        </p:spPr>
        <p:txBody>
          <a:bodyPr wrap="square" lIns="0" tIns="12700" rIns="0" bIns="0" rtlCol="0" vert="horz">
            <a:spAutoFit/>
          </a:bodyPr>
          <a:lstStyle/>
          <a:p>
            <a:pPr marL="12700">
              <a:lnSpc>
                <a:spcPct val="100000"/>
              </a:lnSpc>
              <a:spcBef>
                <a:spcPts val="100"/>
              </a:spcBef>
            </a:pPr>
            <a:r>
              <a:rPr dirty="0"/>
              <a:t>Impact,</a:t>
            </a:r>
            <a:r>
              <a:rPr dirty="0" spc="-55"/>
              <a:t> </a:t>
            </a:r>
            <a:r>
              <a:rPr dirty="0" spc="-10"/>
              <a:t>Feasibility</a:t>
            </a:r>
            <a:r>
              <a:rPr dirty="0" spc="-95"/>
              <a:t> </a:t>
            </a:r>
            <a:r>
              <a:rPr dirty="0"/>
              <a:t>&amp;</a:t>
            </a:r>
            <a:r>
              <a:rPr dirty="0" spc="-85"/>
              <a:t> </a:t>
            </a:r>
            <a:r>
              <a:rPr dirty="0" spc="-10"/>
              <a:t>Scalability</a:t>
            </a:r>
          </a:p>
        </p:txBody>
      </p:sp>
      <p:grpSp>
        <p:nvGrpSpPr>
          <p:cNvPr id="5" name="object 5"/>
          <p:cNvGrpSpPr/>
          <p:nvPr/>
        </p:nvGrpSpPr>
        <p:grpSpPr>
          <a:xfrm>
            <a:off x="542925" y="1366837"/>
            <a:ext cx="11058525" cy="9525"/>
            <a:chOff x="542925" y="1366837"/>
            <a:chExt cx="11058525" cy="9525"/>
          </a:xfrm>
        </p:grpSpPr>
        <p:sp>
          <p:nvSpPr>
            <p:cNvPr id="6" name="object 6"/>
            <p:cNvSpPr/>
            <p:nvPr/>
          </p:nvSpPr>
          <p:spPr>
            <a:xfrm>
              <a:off x="542925" y="1371600"/>
              <a:ext cx="11058525" cy="0"/>
            </a:xfrm>
            <a:custGeom>
              <a:avLst/>
              <a:gdLst/>
              <a:ahLst/>
              <a:cxnLst/>
              <a:rect l="l" t="t" r="r" b="b"/>
              <a:pathLst>
                <a:path w="11058525" h="0">
                  <a:moveTo>
                    <a:pt x="11058525" y="0"/>
                  </a:moveTo>
                  <a:lnTo>
                    <a:pt x="0" y="0"/>
                  </a:lnTo>
                </a:path>
              </a:pathLst>
            </a:custGeom>
            <a:solidFill>
              <a:srgbClr val="D8DCE3"/>
            </a:solidFill>
          </p:spPr>
          <p:txBody>
            <a:bodyPr wrap="square" lIns="0" tIns="0" rIns="0" bIns="0" rtlCol="0"/>
            <a:lstStyle/>
            <a:p/>
          </p:txBody>
        </p:sp>
        <p:sp>
          <p:nvSpPr>
            <p:cNvPr id="7" name="object 7"/>
            <p:cNvSpPr/>
            <p:nvPr/>
          </p:nvSpPr>
          <p:spPr>
            <a:xfrm>
              <a:off x="542925" y="1371600"/>
              <a:ext cx="11058525" cy="0"/>
            </a:xfrm>
            <a:custGeom>
              <a:avLst/>
              <a:gdLst/>
              <a:ahLst/>
              <a:cxnLst/>
              <a:rect l="l" t="t" r="r" b="b"/>
              <a:pathLst>
                <a:path w="11058525" h="0">
                  <a:moveTo>
                    <a:pt x="0" y="0"/>
                  </a:moveTo>
                  <a:lnTo>
                    <a:pt x="11058525" y="0"/>
                  </a:lnTo>
                </a:path>
              </a:pathLst>
            </a:custGeom>
            <a:ln w="9525">
              <a:solidFill>
                <a:srgbClr val="D8DCE3"/>
              </a:solidFill>
            </a:ln>
          </p:spPr>
          <p:txBody>
            <a:bodyPr wrap="square" lIns="0" tIns="0" rIns="0" bIns="0" rtlCol="0"/>
            <a:lstStyle/>
            <a:p/>
          </p:txBody>
        </p:sp>
      </p:grpSp>
      <p:grpSp>
        <p:nvGrpSpPr>
          <p:cNvPr id="8" name="object 8"/>
          <p:cNvGrpSpPr/>
          <p:nvPr/>
        </p:nvGrpSpPr>
        <p:grpSpPr>
          <a:xfrm>
            <a:off x="538162" y="1681162"/>
            <a:ext cx="3571875" cy="4257675"/>
            <a:chOff x="538162" y="1681162"/>
            <a:chExt cx="3571875" cy="4257675"/>
          </a:xfrm>
        </p:grpSpPr>
        <p:sp>
          <p:nvSpPr>
            <p:cNvPr id="9" name="object 9"/>
            <p:cNvSpPr/>
            <p:nvPr/>
          </p:nvSpPr>
          <p:spPr>
            <a:xfrm>
              <a:off x="542925" y="1685925"/>
              <a:ext cx="3562350" cy="4248150"/>
            </a:xfrm>
            <a:custGeom>
              <a:avLst/>
              <a:gdLst/>
              <a:ahLst/>
              <a:cxnLst/>
              <a:rect l="l" t="t" r="r" b="b"/>
              <a:pathLst>
                <a:path w="3562350" h="4248150">
                  <a:moveTo>
                    <a:pt x="3489286" y="4248150"/>
                  </a:moveTo>
                  <a:lnTo>
                    <a:pt x="73063" y="4248150"/>
                  </a:lnTo>
                  <a:lnTo>
                    <a:pt x="58485" y="4246812"/>
                  </a:lnTo>
                  <a:lnTo>
                    <a:pt x="21399" y="4226749"/>
                  </a:lnTo>
                  <a:lnTo>
                    <a:pt x="1337" y="4189664"/>
                  </a:lnTo>
                  <a:lnTo>
                    <a:pt x="0" y="4175086"/>
                  </a:lnTo>
                  <a:lnTo>
                    <a:pt x="0" y="73063"/>
                  </a:lnTo>
                  <a:lnTo>
                    <a:pt x="12037" y="32653"/>
                  </a:lnTo>
                  <a:lnTo>
                    <a:pt x="45015" y="5349"/>
                  </a:lnTo>
                  <a:lnTo>
                    <a:pt x="73063" y="0"/>
                  </a:lnTo>
                  <a:lnTo>
                    <a:pt x="3489286" y="0"/>
                  </a:lnTo>
                  <a:lnTo>
                    <a:pt x="3529695" y="12037"/>
                  </a:lnTo>
                  <a:lnTo>
                    <a:pt x="3557000" y="45015"/>
                  </a:lnTo>
                  <a:lnTo>
                    <a:pt x="3562350" y="73063"/>
                  </a:lnTo>
                  <a:lnTo>
                    <a:pt x="3562350" y="4175086"/>
                  </a:lnTo>
                  <a:lnTo>
                    <a:pt x="3550312" y="4215496"/>
                  </a:lnTo>
                  <a:lnTo>
                    <a:pt x="3517334" y="4242800"/>
                  </a:lnTo>
                  <a:lnTo>
                    <a:pt x="3489286" y="4248150"/>
                  </a:lnTo>
                  <a:close/>
                </a:path>
              </a:pathLst>
            </a:custGeom>
            <a:solidFill>
              <a:srgbClr val="FFFFFF"/>
            </a:solidFill>
          </p:spPr>
          <p:txBody>
            <a:bodyPr wrap="square" lIns="0" tIns="0" rIns="0" bIns="0" rtlCol="0"/>
            <a:lstStyle/>
            <a:p/>
          </p:txBody>
        </p:sp>
        <p:sp>
          <p:nvSpPr>
            <p:cNvPr id="10" name="object 10"/>
            <p:cNvSpPr/>
            <p:nvPr/>
          </p:nvSpPr>
          <p:spPr>
            <a:xfrm>
              <a:off x="542925" y="1685925"/>
              <a:ext cx="3562350" cy="4248150"/>
            </a:xfrm>
            <a:custGeom>
              <a:avLst/>
              <a:gdLst/>
              <a:ahLst/>
              <a:cxnLst/>
              <a:rect l="l" t="t" r="r" b="b"/>
              <a:pathLst>
                <a:path w="3562350" h="4248150">
                  <a:moveTo>
                    <a:pt x="0" y="73063"/>
                  </a:moveTo>
                  <a:lnTo>
                    <a:pt x="12037" y="32653"/>
                  </a:lnTo>
                  <a:lnTo>
                    <a:pt x="45015" y="5349"/>
                  </a:lnTo>
                  <a:lnTo>
                    <a:pt x="73063" y="0"/>
                  </a:lnTo>
                  <a:lnTo>
                    <a:pt x="3489286" y="0"/>
                  </a:lnTo>
                  <a:lnTo>
                    <a:pt x="3529695" y="12037"/>
                  </a:lnTo>
                  <a:lnTo>
                    <a:pt x="3557000" y="45015"/>
                  </a:lnTo>
                  <a:lnTo>
                    <a:pt x="3562350" y="73063"/>
                  </a:lnTo>
                  <a:lnTo>
                    <a:pt x="3562350" y="4175086"/>
                  </a:lnTo>
                  <a:lnTo>
                    <a:pt x="3550312" y="4215496"/>
                  </a:lnTo>
                  <a:lnTo>
                    <a:pt x="3517334" y="4242800"/>
                  </a:lnTo>
                  <a:lnTo>
                    <a:pt x="3489286" y="4248150"/>
                  </a:lnTo>
                  <a:lnTo>
                    <a:pt x="73063" y="4248150"/>
                  </a:lnTo>
                  <a:lnTo>
                    <a:pt x="32653" y="4236112"/>
                  </a:lnTo>
                  <a:lnTo>
                    <a:pt x="5349" y="4203134"/>
                  </a:lnTo>
                  <a:lnTo>
                    <a:pt x="0" y="4175086"/>
                  </a:lnTo>
                  <a:lnTo>
                    <a:pt x="0" y="73063"/>
                  </a:lnTo>
                  <a:close/>
                </a:path>
                <a:path w="3562350" h="4248150">
                  <a:moveTo>
                    <a:pt x="0" y="73063"/>
                  </a:moveTo>
                  <a:lnTo>
                    <a:pt x="12037" y="32653"/>
                  </a:lnTo>
                  <a:lnTo>
                    <a:pt x="45015" y="5349"/>
                  </a:lnTo>
                  <a:lnTo>
                    <a:pt x="73063" y="0"/>
                  </a:lnTo>
                  <a:lnTo>
                    <a:pt x="3489286" y="0"/>
                  </a:lnTo>
                  <a:lnTo>
                    <a:pt x="3529695" y="12037"/>
                  </a:lnTo>
                  <a:lnTo>
                    <a:pt x="3557000" y="45015"/>
                  </a:lnTo>
                  <a:lnTo>
                    <a:pt x="3562350" y="73063"/>
                  </a:lnTo>
                  <a:lnTo>
                    <a:pt x="3562350" y="4175086"/>
                  </a:lnTo>
                  <a:lnTo>
                    <a:pt x="3550312" y="4215496"/>
                  </a:lnTo>
                  <a:lnTo>
                    <a:pt x="3517334" y="4242800"/>
                  </a:lnTo>
                  <a:lnTo>
                    <a:pt x="3489286" y="4248150"/>
                  </a:lnTo>
                  <a:lnTo>
                    <a:pt x="73063" y="4248150"/>
                  </a:lnTo>
                  <a:lnTo>
                    <a:pt x="32653" y="4236112"/>
                  </a:lnTo>
                  <a:lnTo>
                    <a:pt x="5349" y="4203134"/>
                  </a:lnTo>
                  <a:lnTo>
                    <a:pt x="0" y="4175086"/>
                  </a:lnTo>
                  <a:lnTo>
                    <a:pt x="0" y="73063"/>
                  </a:lnTo>
                  <a:close/>
                </a:path>
              </a:pathLst>
            </a:custGeom>
            <a:ln w="9525">
              <a:solidFill>
                <a:srgbClr val="D8DCE3"/>
              </a:solidFill>
            </a:ln>
          </p:spPr>
          <p:txBody>
            <a:bodyPr wrap="square" lIns="0" tIns="0" rIns="0" bIns="0" rtlCol="0"/>
            <a:lstStyle/>
            <a:p/>
          </p:txBody>
        </p:sp>
      </p:grpSp>
      <p:sp>
        <p:nvSpPr>
          <p:cNvPr id="11" name="object 11"/>
          <p:cNvSpPr txBox="1"/>
          <p:nvPr/>
        </p:nvSpPr>
        <p:spPr>
          <a:xfrm>
            <a:off x="758825" y="1766843"/>
            <a:ext cx="3136392" cy="737235"/>
          </a:xfrm>
          <a:prstGeom prst="rect">
            <a:avLst/>
          </a:prstGeom>
        </p:spPr>
        <p:txBody>
          <a:bodyPr wrap="square" lIns="0" tIns="106680" rIns="0" bIns="0" rtlCol="0" vert="horz">
            <a:spAutoFit/>
          </a:bodyPr>
          <a:lstStyle/>
          <a:p>
            <a:pPr marL="12700">
              <a:lnSpc>
                <a:spcPct val="100000"/>
              </a:lnSpc>
              <a:spcBef>
                <a:spcPts val="840"/>
              </a:spcBef>
            </a:pPr>
            <a:r>
              <a:rPr dirty="0" sz="1300" spc="-10" b="1">
                <a:solidFill>
                  <a:srgbClr val="1E2A4A"/>
                </a:solidFill>
                <a:latin typeface="Roboto"/>
                <a:cs typeface="Roboto"/>
              </a:rPr>
              <a:t>Impact</a:t>
            </a:r>
            <a:endParaRPr sz="1300">
              <a:latin typeface="Roboto"/>
              <a:cs typeface="Roboto"/>
            </a:endParaRPr>
          </a:p>
          <a:p>
            <a:pPr marL="12700" marR="5080">
              <a:lnSpc>
                <a:spcPct val="102299"/>
              </a:lnSpc>
              <a:spcBef>
                <a:spcPts val="600"/>
              </a:spcBef>
            </a:pPr>
            <a:r>
              <a:rPr dirty="0" sz="1000">
                <a:solidFill>
                  <a:srgbClr val="5B6472"/>
                </a:solidFill>
                <a:latin typeface="Roboto"/>
                <a:cs typeface="Roboto"/>
              </a:rPr>
              <a:t>On the demo seed, doing nothing costs 6,051,611 person-hours of lost lifeline service, 5 hospitals and 1,947,483 people. Firebreak's action — preposition five assets, 12 cost units — spares one hospital, 122,909 people and 546,774 person-hours on the identical seed and the same randomness.</a:t>
            </a:r>
            <a:endParaRPr sz="1100">
              <a:latin typeface="Roboto"/>
              <a:cs typeface="Roboto"/>
            </a:endParaRPr>
          </a:p>
          <a:p>
            <a:pPr marL="12700" marR="5080">
              <a:lnSpc>
                <a:spcPct val="102299"/>
              </a:lnSpc>
              <a:spcBef>
                <a:spcPts val="600"/>
              </a:spcBef>
            </a:pPr>
            <a:r>
              <a:rPr dirty="0" sz="1000">
                <a:solidFill>
                  <a:srgbClr val="5B6472"/>
                </a:solidFill>
                <a:latin typeface="Roboto"/>
                <a:cs typeface="Roboto"/>
              </a:rPr>
              <a:t>The action an experienced operator reaches for, hardening the hospitals at the same budget, moves it by 0.2%: the cascade still arrives. That contrast is beat 5 of the demo, and CI fails if it ever stops being true.</a:t>
            </a:r>
            <a:endParaRPr sz="1100">
              <a:latin typeface="Roboto"/>
              <a:cs typeface="Roboto"/>
            </a:endParaRPr>
          </a:p>
          <a:p>
            <a:pPr marL="12700" marR="5080">
              <a:lnSpc>
                <a:spcPct val="102299"/>
              </a:lnSpc>
              <a:spcBef>
                <a:spcPts val="600"/>
              </a:spcBef>
            </a:pPr>
            <a:r>
              <a:rPr dirty="0" sz="1000">
                <a:solidFill>
                  <a:srgbClr val="5B6472"/>
                </a:solidFill>
                <a:latin typeface="Roboto"/>
                <a:cs typeface="Roboto"/>
              </a:rPr>
              <a:t>Ranking is what is deployable today: 0.732 against 0.483 means the operator triaging by our number looks at the dangerous alarm instead of the loud one.</a:t>
            </a:r>
            <a:endParaRPr sz="1100">
              <a:latin typeface="Roboto"/>
              <a:cs typeface="Roboto"/>
            </a:endParaRPr>
          </a:p>
        </p:txBody>
      </p:sp>
      <p:grpSp>
        <p:nvGrpSpPr>
          <p:cNvPr id="12" name="object 12"/>
          <p:cNvGrpSpPr/>
          <p:nvPr/>
        </p:nvGrpSpPr>
        <p:grpSpPr>
          <a:xfrm>
            <a:off x="4310062" y="1681162"/>
            <a:ext cx="3571875" cy="4257675"/>
            <a:chOff x="4310062" y="1681162"/>
            <a:chExt cx="3571875" cy="4257675"/>
          </a:xfrm>
        </p:grpSpPr>
        <p:sp>
          <p:nvSpPr>
            <p:cNvPr id="13" name="object 13"/>
            <p:cNvSpPr/>
            <p:nvPr/>
          </p:nvSpPr>
          <p:spPr>
            <a:xfrm>
              <a:off x="4314825" y="1685925"/>
              <a:ext cx="3562350" cy="4248150"/>
            </a:xfrm>
            <a:custGeom>
              <a:avLst/>
              <a:gdLst/>
              <a:ahLst/>
              <a:cxnLst/>
              <a:rect l="l" t="t" r="r" b="b"/>
              <a:pathLst>
                <a:path w="3562350" h="4248150">
                  <a:moveTo>
                    <a:pt x="3489286" y="4248150"/>
                  </a:moveTo>
                  <a:lnTo>
                    <a:pt x="73063" y="4248150"/>
                  </a:lnTo>
                  <a:lnTo>
                    <a:pt x="58485" y="4246812"/>
                  </a:lnTo>
                  <a:lnTo>
                    <a:pt x="21399" y="4226749"/>
                  </a:lnTo>
                  <a:lnTo>
                    <a:pt x="1337" y="4189664"/>
                  </a:lnTo>
                  <a:lnTo>
                    <a:pt x="0" y="4175086"/>
                  </a:lnTo>
                  <a:lnTo>
                    <a:pt x="0" y="73063"/>
                  </a:lnTo>
                  <a:lnTo>
                    <a:pt x="12036" y="32653"/>
                  </a:lnTo>
                  <a:lnTo>
                    <a:pt x="45015" y="5349"/>
                  </a:lnTo>
                  <a:lnTo>
                    <a:pt x="73063" y="0"/>
                  </a:lnTo>
                  <a:lnTo>
                    <a:pt x="3489286" y="0"/>
                  </a:lnTo>
                  <a:lnTo>
                    <a:pt x="3529696" y="12037"/>
                  </a:lnTo>
                  <a:lnTo>
                    <a:pt x="3556999" y="45015"/>
                  </a:lnTo>
                  <a:lnTo>
                    <a:pt x="3562350" y="73063"/>
                  </a:lnTo>
                  <a:lnTo>
                    <a:pt x="3562350" y="4175086"/>
                  </a:lnTo>
                  <a:lnTo>
                    <a:pt x="3550312" y="4215496"/>
                  </a:lnTo>
                  <a:lnTo>
                    <a:pt x="3517334" y="4242800"/>
                  </a:lnTo>
                  <a:lnTo>
                    <a:pt x="3489286" y="4248150"/>
                  </a:lnTo>
                  <a:close/>
                </a:path>
              </a:pathLst>
            </a:custGeom>
            <a:solidFill>
              <a:srgbClr val="FFFFFF"/>
            </a:solidFill>
          </p:spPr>
          <p:txBody>
            <a:bodyPr wrap="square" lIns="0" tIns="0" rIns="0" bIns="0" rtlCol="0"/>
            <a:lstStyle/>
            <a:p/>
          </p:txBody>
        </p:sp>
        <p:sp>
          <p:nvSpPr>
            <p:cNvPr id="14" name="object 14"/>
            <p:cNvSpPr/>
            <p:nvPr/>
          </p:nvSpPr>
          <p:spPr>
            <a:xfrm>
              <a:off x="4314825" y="1685925"/>
              <a:ext cx="3562350" cy="4248150"/>
            </a:xfrm>
            <a:custGeom>
              <a:avLst/>
              <a:gdLst/>
              <a:ahLst/>
              <a:cxnLst/>
              <a:rect l="l" t="t" r="r" b="b"/>
              <a:pathLst>
                <a:path w="3562350" h="4248150">
                  <a:moveTo>
                    <a:pt x="0" y="73063"/>
                  </a:moveTo>
                  <a:lnTo>
                    <a:pt x="12036" y="32653"/>
                  </a:lnTo>
                  <a:lnTo>
                    <a:pt x="45015" y="5349"/>
                  </a:lnTo>
                  <a:lnTo>
                    <a:pt x="73063" y="0"/>
                  </a:lnTo>
                  <a:lnTo>
                    <a:pt x="3489286" y="0"/>
                  </a:lnTo>
                  <a:lnTo>
                    <a:pt x="3529696" y="12037"/>
                  </a:lnTo>
                  <a:lnTo>
                    <a:pt x="3556999" y="45015"/>
                  </a:lnTo>
                  <a:lnTo>
                    <a:pt x="3562350" y="73063"/>
                  </a:lnTo>
                  <a:lnTo>
                    <a:pt x="3562350" y="4175086"/>
                  </a:lnTo>
                  <a:lnTo>
                    <a:pt x="3550312" y="4215496"/>
                  </a:lnTo>
                  <a:lnTo>
                    <a:pt x="3517334" y="4242800"/>
                  </a:lnTo>
                  <a:lnTo>
                    <a:pt x="3489286" y="4248150"/>
                  </a:lnTo>
                  <a:lnTo>
                    <a:pt x="73063" y="4248150"/>
                  </a:lnTo>
                  <a:lnTo>
                    <a:pt x="32653" y="4236112"/>
                  </a:lnTo>
                  <a:lnTo>
                    <a:pt x="5349" y="4203134"/>
                  </a:lnTo>
                  <a:lnTo>
                    <a:pt x="0" y="4175086"/>
                  </a:lnTo>
                  <a:lnTo>
                    <a:pt x="0" y="73063"/>
                  </a:lnTo>
                  <a:close/>
                </a:path>
                <a:path w="3562350" h="4248150">
                  <a:moveTo>
                    <a:pt x="0" y="73063"/>
                  </a:moveTo>
                  <a:lnTo>
                    <a:pt x="12036" y="32653"/>
                  </a:lnTo>
                  <a:lnTo>
                    <a:pt x="45015" y="5349"/>
                  </a:lnTo>
                  <a:lnTo>
                    <a:pt x="73063" y="0"/>
                  </a:lnTo>
                  <a:lnTo>
                    <a:pt x="3489286" y="0"/>
                  </a:lnTo>
                  <a:lnTo>
                    <a:pt x="3529696" y="12037"/>
                  </a:lnTo>
                  <a:lnTo>
                    <a:pt x="3556999" y="45015"/>
                  </a:lnTo>
                  <a:lnTo>
                    <a:pt x="3562350" y="73063"/>
                  </a:lnTo>
                  <a:lnTo>
                    <a:pt x="3562350" y="4175086"/>
                  </a:lnTo>
                  <a:lnTo>
                    <a:pt x="3550312" y="4215496"/>
                  </a:lnTo>
                  <a:lnTo>
                    <a:pt x="3517334" y="4242800"/>
                  </a:lnTo>
                  <a:lnTo>
                    <a:pt x="3489286" y="4248150"/>
                  </a:lnTo>
                  <a:lnTo>
                    <a:pt x="73063" y="4248150"/>
                  </a:lnTo>
                  <a:lnTo>
                    <a:pt x="32653" y="4236112"/>
                  </a:lnTo>
                  <a:lnTo>
                    <a:pt x="5349" y="4203134"/>
                  </a:lnTo>
                  <a:lnTo>
                    <a:pt x="0" y="4175086"/>
                  </a:lnTo>
                  <a:lnTo>
                    <a:pt x="0" y="73063"/>
                  </a:lnTo>
                  <a:close/>
                </a:path>
              </a:pathLst>
            </a:custGeom>
            <a:ln w="9525">
              <a:solidFill>
                <a:srgbClr val="D8DCE3"/>
              </a:solidFill>
            </a:ln>
          </p:spPr>
          <p:txBody>
            <a:bodyPr wrap="square" lIns="0" tIns="0" rIns="0" bIns="0" rtlCol="0"/>
            <a:lstStyle/>
            <a:p/>
          </p:txBody>
        </p:sp>
      </p:grpSp>
      <p:sp>
        <p:nvSpPr>
          <p:cNvPr id="15" name="object 15"/>
          <p:cNvSpPr txBox="1"/>
          <p:nvPr/>
        </p:nvSpPr>
        <p:spPr>
          <a:xfrm>
            <a:off x="4530725" y="1766843"/>
            <a:ext cx="3136392" cy="737235"/>
          </a:xfrm>
          <a:prstGeom prst="rect">
            <a:avLst/>
          </a:prstGeom>
        </p:spPr>
        <p:txBody>
          <a:bodyPr wrap="square" lIns="0" tIns="106680" rIns="0" bIns="0" rtlCol="0" vert="horz">
            <a:spAutoFit/>
          </a:bodyPr>
          <a:lstStyle/>
          <a:p>
            <a:pPr marL="12700">
              <a:lnSpc>
                <a:spcPct val="100000"/>
              </a:lnSpc>
              <a:spcBef>
                <a:spcPts val="840"/>
              </a:spcBef>
            </a:pPr>
            <a:r>
              <a:rPr dirty="0" sz="1300" spc="-10" b="1">
                <a:solidFill>
                  <a:srgbClr val="1E2A4A"/>
                </a:solidFill>
                <a:latin typeface="Roboto"/>
                <a:cs typeface="Roboto"/>
              </a:rPr>
              <a:t>Feasibility</a:t>
            </a:r>
            <a:endParaRPr sz="1300">
              <a:latin typeface="Roboto"/>
              <a:cs typeface="Roboto"/>
            </a:endParaRPr>
          </a:p>
          <a:p>
            <a:pPr marL="12700" marR="5080">
              <a:lnSpc>
                <a:spcPct val="102299"/>
              </a:lnSpc>
              <a:spcBef>
                <a:spcPts val="600"/>
              </a:spcBef>
            </a:pPr>
            <a:r>
              <a:rPr dirty="0" sz="1000">
                <a:solidFill>
                  <a:srgbClr val="5B6472"/>
                </a:solidFill>
                <a:latin typeface="Roboto"/>
                <a:cs typeface="Roboto"/>
              </a:rPr>
              <a:t>It runs now, on a laptop. pip install -r requirements.txt, pytest, then one command prints a full Decision as JSON — the alarms above n=1 and why, what happens if nobody acts, the cheapest action that changes it, and the minute it expires. It took 9.5 seconds with no server, no database and no network. That is the whole edge-deployability claim, so it is a command rather than a slide.</a:t>
            </a:r>
            <a:endParaRPr sz="1100">
              <a:latin typeface="Roboto"/>
              <a:cs typeface="Roboto"/>
            </a:endParaRPr>
          </a:p>
          <a:p>
            <a:pPr marL="12700" marR="5080">
              <a:lnSpc>
                <a:spcPct val="102299"/>
              </a:lnSpc>
              <a:spcBef>
                <a:spcPts val="600"/>
              </a:spcBef>
            </a:pPr>
            <a:r>
              <a:rPr dirty="0" sz="1000">
                <a:solidFill>
                  <a:srgbClr val="5B6472"/>
                </a:solidFill>
                <a:latin typeface="Roboto"/>
                <a:cs typeface="Roboto"/>
              </a:rPr>
              <a:t>It is advisory by construction — the system recommends and never actuates, which is what makes it installable in a real utility — and it holds no person-level data: asset IDs, timestamps, and populations aggregated by service area.</a:t>
            </a:r>
            <a:endParaRPr sz="1100">
              <a:latin typeface="Roboto"/>
              <a:cs typeface="Roboto"/>
            </a:endParaRPr>
          </a:p>
        </p:txBody>
      </p:sp>
      <p:grpSp>
        <p:nvGrpSpPr>
          <p:cNvPr id="16" name="object 16"/>
          <p:cNvGrpSpPr/>
          <p:nvPr/>
        </p:nvGrpSpPr>
        <p:grpSpPr>
          <a:xfrm>
            <a:off x="8072437" y="1681162"/>
            <a:ext cx="3571875" cy="4257675"/>
            <a:chOff x="8072437" y="1681162"/>
            <a:chExt cx="3571875" cy="4257675"/>
          </a:xfrm>
        </p:grpSpPr>
        <p:sp>
          <p:nvSpPr>
            <p:cNvPr id="17" name="object 17"/>
            <p:cNvSpPr/>
            <p:nvPr/>
          </p:nvSpPr>
          <p:spPr>
            <a:xfrm>
              <a:off x="8077200" y="1685925"/>
              <a:ext cx="3562350" cy="4248150"/>
            </a:xfrm>
            <a:custGeom>
              <a:avLst/>
              <a:gdLst/>
              <a:ahLst/>
              <a:cxnLst/>
              <a:rect l="l" t="t" r="r" b="b"/>
              <a:pathLst>
                <a:path w="3562350" h="4248150">
                  <a:moveTo>
                    <a:pt x="3489286" y="4248150"/>
                  </a:moveTo>
                  <a:lnTo>
                    <a:pt x="73064" y="4248150"/>
                  </a:lnTo>
                  <a:lnTo>
                    <a:pt x="58485" y="4246812"/>
                  </a:lnTo>
                  <a:lnTo>
                    <a:pt x="21399" y="4226749"/>
                  </a:lnTo>
                  <a:lnTo>
                    <a:pt x="1337" y="4189664"/>
                  </a:lnTo>
                  <a:lnTo>
                    <a:pt x="0" y="4175086"/>
                  </a:lnTo>
                  <a:lnTo>
                    <a:pt x="0" y="73063"/>
                  </a:lnTo>
                  <a:lnTo>
                    <a:pt x="12036" y="32653"/>
                  </a:lnTo>
                  <a:lnTo>
                    <a:pt x="45015" y="5349"/>
                  </a:lnTo>
                  <a:lnTo>
                    <a:pt x="73064" y="0"/>
                  </a:lnTo>
                  <a:lnTo>
                    <a:pt x="3489286" y="0"/>
                  </a:lnTo>
                  <a:lnTo>
                    <a:pt x="3529695" y="12037"/>
                  </a:lnTo>
                  <a:lnTo>
                    <a:pt x="3556999" y="45015"/>
                  </a:lnTo>
                  <a:lnTo>
                    <a:pt x="3562350" y="73063"/>
                  </a:lnTo>
                  <a:lnTo>
                    <a:pt x="3562350" y="4175086"/>
                  </a:lnTo>
                  <a:lnTo>
                    <a:pt x="3550311" y="4215496"/>
                  </a:lnTo>
                  <a:lnTo>
                    <a:pt x="3517334" y="4242800"/>
                  </a:lnTo>
                  <a:lnTo>
                    <a:pt x="3489286" y="4248150"/>
                  </a:lnTo>
                  <a:close/>
                </a:path>
              </a:pathLst>
            </a:custGeom>
            <a:solidFill>
              <a:srgbClr val="FFFFFF"/>
            </a:solidFill>
          </p:spPr>
          <p:txBody>
            <a:bodyPr wrap="square" lIns="0" tIns="0" rIns="0" bIns="0" rtlCol="0"/>
            <a:lstStyle/>
            <a:p/>
          </p:txBody>
        </p:sp>
        <p:sp>
          <p:nvSpPr>
            <p:cNvPr id="18" name="object 18"/>
            <p:cNvSpPr/>
            <p:nvPr/>
          </p:nvSpPr>
          <p:spPr>
            <a:xfrm>
              <a:off x="8077200" y="1685925"/>
              <a:ext cx="3562350" cy="4248150"/>
            </a:xfrm>
            <a:custGeom>
              <a:avLst/>
              <a:gdLst/>
              <a:ahLst/>
              <a:cxnLst/>
              <a:rect l="l" t="t" r="r" b="b"/>
              <a:pathLst>
                <a:path w="3562350" h="4248150">
                  <a:moveTo>
                    <a:pt x="0" y="73063"/>
                  </a:moveTo>
                  <a:lnTo>
                    <a:pt x="12036" y="32653"/>
                  </a:lnTo>
                  <a:lnTo>
                    <a:pt x="45015" y="5349"/>
                  </a:lnTo>
                  <a:lnTo>
                    <a:pt x="73064" y="0"/>
                  </a:lnTo>
                  <a:lnTo>
                    <a:pt x="3489286" y="0"/>
                  </a:lnTo>
                  <a:lnTo>
                    <a:pt x="3529695" y="12037"/>
                  </a:lnTo>
                  <a:lnTo>
                    <a:pt x="3556999" y="45015"/>
                  </a:lnTo>
                  <a:lnTo>
                    <a:pt x="3562350" y="73063"/>
                  </a:lnTo>
                  <a:lnTo>
                    <a:pt x="3562350" y="4175086"/>
                  </a:lnTo>
                  <a:lnTo>
                    <a:pt x="3550311" y="4215496"/>
                  </a:lnTo>
                  <a:lnTo>
                    <a:pt x="3517334" y="4242800"/>
                  </a:lnTo>
                  <a:lnTo>
                    <a:pt x="3489286" y="4248150"/>
                  </a:lnTo>
                  <a:lnTo>
                    <a:pt x="73064" y="4248150"/>
                  </a:lnTo>
                  <a:lnTo>
                    <a:pt x="32653" y="4236112"/>
                  </a:lnTo>
                  <a:lnTo>
                    <a:pt x="5349" y="4203134"/>
                  </a:lnTo>
                  <a:lnTo>
                    <a:pt x="0" y="4175086"/>
                  </a:lnTo>
                  <a:lnTo>
                    <a:pt x="0" y="73063"/>
                  </a:lnTo>
                  <a:close/>
                </a:path>
                <a:path w="3562350" h="4248150">
                  <a:moveTo>
                    <a:pt x="0" y="73063"/>
                  </a:moveTo>
                  <a:lnTo>
                    <a:pt x="12036" y="32653"/>
                  </a:lnTo>
                  <a:lnTo>
                    <a:pt x="45015" y="5349"/>
                  </a:lnTo>
                  <a:lnTo>
                    <a:pt x="73064" y="0"/>
                  </a:lnTo>
                  <a:lnTo>
                    <a:pt x="3489286" y="0"/>
                  </a:lnTo>
                  <a:lnTo>
                    <a:pt x="3529695" y="12037"/>
                  </a:lnTo>
                  <a:lnTo>
                    <a:pt x="3556999" y="45015"/>
                  </a:lnTo>
                  <a:lnTo>
                    <a:pt x="3562350" y="73063"/>
                  </a:lnTo>
                  <a:lnTo>
                    <a:pt x="3562350" y="4175086"/>
                  </a:lnTo>
                  <a:lnTo>
                    <a:pt x="3550311" y="4215496"/>
                  </a:lnTo>
                  <a:lnTo>
                    <a:pt x="3517334" y="4242800"/>
                  </a:lnTo>
                  <a:lnTo>
                    <a:pt x="3489286" y="4248150"/>
                  </a:lnTo>
                  <a:lnTo>
                    <a:pt x="73064" y="4248150"/>
                  </a:lnTo>
                  <a:lnTo>
                    <a:pt x="32653" y="4236112"/>
                  </a:lnTo>
                  <a:lnTo>
                    <a:pt x="5349" y="4203134"/>
                  </a:lnTo>
                  <a:lnTo>
                    <a:pt x="0" y="4175086"/>
                  </a:lnTo>
                  <a:lnTo>
                    <a:pt x="0" y="73063"/>
                  </a:lnTo>
                  <a:close/>
                </a:path>
              </a:pathLst>
            </a:custGeom>
            <a:ln w="9525">
              <a:solidFill>
                <a:srgbClr val="D8DCE3"/>
              </a:solidFill>
            </a:ln>
          </p:spPr>
          <p:txBody>
            <a:bodyPr wrap="square" lIns="0" tIns="0" rIns="0" bIns="0" rtlCol="0"/>
            <a:lstStyle/>
            <a:p/>
          </p:txBody>
        </p:sp>
      </p:grpSp>
      <p:sp>
        <p:nvSpPr>
          <p:cNvPr id="19" name="object 19"/>
          <p:cNvSpPr txBox="1"/>
          <p:nvPr/>
        </p:nvSpPr>
        <p:spPr>
          <a:xfrm>
            <a:off x="8293100" y="1766843"/>
            <a:ext cx="3136392" cy="737235"/>
          </a:xfrm>
          <a:prstGeom prst="rect">
            <a:avLst/>
          </a:prstGeom>
        </p:spPr>
        <p:txBody>
          <a:bodyPr wrap="square" lIns="0" tIns="106680" rIns="0" bIns="0" rtlCol="0" vert="horz">
            <a:spAutoFit/>
          </a:bodyPr>
          <a:lstStyle/>
          <a:p>
            <a:pPr marL="12700">
              <a:lnSpc>
                <a:spcPct val="100000"/>
              </a:lnSpc>
              <a:spcBef>
                <a:spcPts val="840"/>
              </a:spcBef>
            </a:pPr>
            <a:r>
              <a:rPr dirty="0" sz="1300" spc="-10" b="1">
                <a:solidFill>
                  <a:srgbClr val="1E2A4A"/>
                </a:solidFill>
                <a:latin typeface="Roboto"/>
                <a:cs typeface="Roboto"/>
              </a:rPr>
              <a:t>Scalability</a:t>
            </a:r>
            <a:endParaRPr sz="1300">
              <a:latin typeface="Roboto"/>
              <a:cs typeface="Roboto"/>
            </a:endParaRPr>
          </a:p>
          <a:p>
            <a:pPr marL="12700" marR="5080">
              <a:lnSpc>
                <a:spcPct val="102299"/>
              </a:lnSpc>
              <a:spcBef>
                <a:spcPts val="600"/>
              </a:spcBef>
            </a:pPr>
            <a:r>
              <a:rPr dirty="0" sz="1000">
                <a:solidFill>
                  <a:srgbClr val="5B6472"/>
                </a:solidFill>
                <a:latin typeface="Roboto"/>
                <a:cs typeface="Roboto"/>
              </a:rPr>
              <a:t>The kernel is estimated per edge, so a second city is a topology and a log stream, not a retrained monolith. The cloud fits and signs kernels; the edge caches the last good one and says on screen how stale it is. Real hydraulics and power flow (wntr, pandapower) plug in behind city/engine/physics.py — the cascade mechanism is the contribution, not the hydraulics.</a:t>
            </a:r>
            <a:endParaRPr sz="1100">
              <a:latin typeface="Roboto"/>
              <a:cs typeface="Roboto"/>
            </a:endParaRPr>
          </a:p>
          <a:p>
            <a:pPr marL="12700" marR="5080">
              <a:lnSpc>
                <a:spcPct val="102299"/>
              </a:lnSpc>
              <a:spcBef>
                <a:spcPts val="600"/>
              </a:spcBef>
            </a:pPr>
            <a:r>
              <a:rPr dirty="0" sz="1000">
                <a:solidFill>
                  <a:srgbClr val="5B6472"/>
                </a:solidFill>
                <a:latin typeface="Roboto"/>
                <a:cs typeface="Roboto"/>
              </a:rPr>
              <a:t>The honest ceiling: the decision layer has to beat a random pick at equal budget before anyone should trust it to choose where to act, and it does not yet. Ranking ships; intervention is the next thing to earn.</a:t>
            </a:r>
            <a:endParaRPr sz="1100">
              <a:latin typeface="Roboto"/>
              <a:cs typeface="Roboto"/>
            </a:endParaRPr>
          </a:p>
        </p:txBody>
      </p:sp>
      <p:grpSp>
        <p:nvGrpSpPr>
          <p:cNvPr id="20" name="object 20"/>
          <p:cNvGrpSpPr/>
          <p:nvPr/>
        </p:nvGrpSpPr>
        <p:grpSpPr>
          <a:xfrm>
            <a:off x="0" y="6381750"/>
            <a:ext cx="12182475" cy="466725"/>
            <a:chOff x="0" y="6381750"/>
            <a:chExt cx="12182475" cy="466725"/>
          </a:xfrm>
        </p:grpSpPr>
        <p:sp>
          <p:nvSpPr>
            <p:cNvPr id="21" name="object 21"/>
            <p:cNvSpPr/>
            <p:nvPr/>
          </p:nvSpPr>
          <p:spPr>
            <a:xfrm>
              <a:off x="0" y="6381750"/>
              <a:ext cx="12182475" cy="466725"/>
            </a:xfrm>
            <a:custGeom>
              <a:avLst/>
              <a:gdLst/>
              <a:ahLst/>
              <a:cxnLst/>
              <a:rect l="l" t="t" r="r" b="b"/>
              <a:pathLst>
                <a:path w="12182475" h="466725">
                  <a:moveTo>
                    <a:pt x="12182475" y="466725"/>
                  </a:moveTo>
                  <a:lnTo>
                    <a:pt x="0" y="466725"/>
                  </a:lnTo>
                  <a:lnTo>
                    <a:pt x="0" y="0"/>
                  </a:lnTo>
                  <a:lnTo>
                    <a:pt x="12182475" y="0"/>
                  </a:lnTo>
                  <a:lnTo>
                    <a:pt x="12182475" y="466725"/>
                  </a:lnTo>
                  <a:close/>
                </a:path>
              </a:pathLst>
            </a:custGeom>
            <a:solidFill>
              <a:srgbClr val="FFFFFF"/>
            </a:solidFill>
          </p:spPr>
          <p:txBody>
            <a:bodyPr wrap="square" lIns="0" tIns="0" rIns="0" bIns="0" rtlCol="0"/>
            <a:lstStyle/>
            <a:p/>
          </p:txBody>
        </p:sp>
        <p:pic>
          <p:nvPicPr>
            <p:cNvPr id="22" name="object 22"/>
            <p:cNvPicPr/>
            <p:nvPr/>
          </p:nvPicPr>
          <p:blipFill>
            <a:blip r:embed="rId2" cstate="print"/>
            <a:stretch>
              <a:fillRect/>
            </a:stretch>
          </p:blipFill>
          <p:spPr>
            <a:xfrm>
              <a:off x="457200" y="6438900"/>
              <a:ext cx="3286125" cy="266700"/>
            </a:xfrm>
            <a:prstGeom prst="rect">
              <a:avLst/>
            </a:prstGeom>
          </p:spPr>
        </p:pic>
      </p:grpSp>
      <p:sp>
        <p:nvSpPr>
          <p:cNvPr id="23" name="object 23"/>
          <p:cNvSpPr txBox="1">
            <a:spLocks noGrp="1"/>
          </p:cNvSpPr>
          <p:nvPr>
            <p:ph type="ftr" idx="5" sz="quarter"/>
          </p:nvPr>
        </p:nvSpPr>
        <p:spPr>
          <a:xfrm>
            <a:off x="8531352" y="6528816"/>
            <a:ext cx="3200400" cy="173736"/>
          </a:xfrm>
          <a:prstGeom prst="rect"/>
        </p:spPr>
        <p:txBody>
          <a:bodyPr wrap="square" lIns="0" tIns="3175" rIns="0" bIns="0" rtlCol="0" vert="horz">
            <a:spAutoFit/>
          </a:body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61950" y="361950"/>
            <a:ext cx="11449050" cy="5667375"/>
          </a:xfrm>
          <a:custGeom>
            <a:avLst/>
            <a:gdLst/>
            <a:ahLst/>
            <a:cxnLst/>
            <a:rect l="l" t="t" r="r" b="b"/>
            <a:pathLst>
              <a:path w="11449050" h="5667375">
                <a:moveTo>
                  <a:pt x="0" y="0"/>
                </a:moveTo>
                <a:lnTo>
                  <a:pt x="11449050" y="0"/>
                </a:lnTo>
                <a:lnTo>
                  <a:pt x="11449050" y="5667375"/>
                </a:lnTo>
                <a:lnTo>
                  <a:pt x="0" y="5667375"/>
                </a:lnTo>
                <a:lnTo>
                  <a:pt x="0" y="0"/>
                </a:lnTo>
                <a:close/>
              </a:path>
            </a:pathLst>
          </a:custGeom>
          <a:ln w="9525">
            <a:solidFill>
              <a:srgbClr val="B8933F"/>
            </a:solidFill>
          </a:ln>
        </p:spPr>
        <p:txBody>
          <a:bodyPr wrap="square" lIns="0" tIns="0" rIns="0" bIns="0" rtlCol="0"/>
          <a:lstStyle/>
          <a:p/>
        </p:txBody>
      </p:sp>
      <p:sp>
        <p:nvSpPr>
          <p:cNvPr id="3" name="object 3"/>
          <p:cNvSpPr txBox="1"/>
          <p:nvPr/>
        </p:nvSpPr>
        <p:spPr>
          <a:xfrm>
            <a:off x="3810000" y="737368"/>
            <a:ext cx="4572000" cy="223520"/>
          </a:xfrm>
          <a:prstGeom prst="rect">
            <a:avLst/>
          </a:prstGeom>
        </p:spPr>
        <p:txBody>
          <a:bodyPr wrap="square" lIns="0" tIns="12700" rIns="0" bIns="0" rtlCol="0" vert="horz">
            <a:spAutoFit/>
          </a:bodyPr>
          <a:lstStyle/>
          <a:p>
            <a:pPr algn="ctr">
              <a:lnSpc>
                <a:spcPct val="100000"/>
              </a:lnSpc>
              <a:spcBef>
                <a:spcPts val="100"/>
              </a:spcBef>
            </a:pPr>
            <a:r>
              <a:rPr dirty="0" sz="1300" b="1">
                <a:solidFill>
                  <a:srgbClr val="B8933F"/>
                </a:solidFill>
                <a:latin typeface="Roboto"/>
                <a:cs typeface="Roboto"/>
              </a:rPr>
              <a:t>MEET</a:t>
            </a:r>
            <a:r>
              <a:rPr dirty="0" sz="1300" spc="65" b="1">
                <a:solidFill>
                  <a:srgbClr val="B8933F"/>
                </a:solidFill>
                <a:latin typeface="Roboto"/>
                <a:cs typeface="Roboto"/>
              </a:rPr>
              <a:t> </a:t>
            </a:r>
            <a:r>
              <a:rPr dirty="0" sz="1300" b="1">
                <a:solidFill>
                  <a:srgbClr val="B8933F"/>
                </a:solidFill>
                <a:latin typeface="Roboto"/>
                <a:cs typeface="Roboto"/>
              </a:rPr>
              <a:t>THE</a:t>
            </a:r>
            <a:r>
              <a:rPr dirty="0" sz="1300" spc="30" b="1">
                <a:solidFill>
                  <a:srgbClr val="B8933F"/>
                </a:solidFill>
                <a:latin typeface="Roboto"/>
                <a:cs typeface="Roboto"/>
              </a:rPr>
              <a:t> </a:t>
            </a:r>
            <a:r>
              <a:rPr dirty="0" sz="1300" spc="-20" b="1">
                <a:solidFill>
                  <a:srgbClr val="B8933F"/>
                </a:solidFill>
                <a:latin typeface="Roboto"/>
                <a:cs typeface="Roboto"/>
              </a:rPr>
              <a:t>TEAM</a:t>
            </a:r>
            <a:endParaRPr sz="1300">
              <a:latin typeface="Roboto"/>
              <a:cs typeface="Roboto"/>
            </a:endParaRPr>
          </a:p>
        </p:txBody>
      </p:sp>
      <p:sp>
        <p:nvSpPr>
          <p:cNvPr id="4" name="object 4" descr="$PPTXTitle"/>
          <p:cNvSpPr txBox="1">
            <a:spLocks noGrp="1"/>
          </p:cNvSpPr>
          <p:nvPr>
            <p:ph type="title"/>
          </p:nvPr>
        </p:nvSpPr>
        <p:spPr>
          <a:xfrm>
            <a:off x="2438400" y="1055141"/>
            <a:ext cx="7315200" cy="482600"/>
          </a:xfrm>
          <a:prstGeom prst="rect"/>
        </p:spPr>
        <p:txBody>
          <a:bodyPr wrap="square" lIns="0" tIns="12700" rIns="0" bIns="0" rtlCol="0" vert="horz">
            <a:spAutoFit/>
          </a:bodyPr>
          <a:lstStyle/>
          <a:p>
            <a:pPr algn="ctr">
              <a:lnSpc>
                <a:spcPct val="100000"/>
              </a:lnSpc>
              <a:spcBef>
                <a:spcPts val="100"/>
              </a:spcBef>
            </a:pPr>
            <a:r>
              <a:rPr dirty="0">
                <a:solidFill>
                  <a:srgbClr val="1E2A4A"/>
                </a:solidFill>
              </a:rPr>
              <a:t>FIREBREAK</a:t>
            </a:r>
          </a:p>
        </p:txBody>
      </p:sp>
      <p:grpSp>
        <p:nvGrpSpPr>
          <p:cNvPr id="5" name="object 5"/>
          <p:cNvGrpSpPr/>
          <p:nvPr/>
        </p:nvGrpSpPr>
        <p:grpSpPr>
          <a:xfrm>
            <a:off x="919162" y="1957387"/>
            <a:ext cx="2381250" cy="2295525"/>
            <a:chOff x="919162" y="1957387"/>
            <a:chExt cx="2381250" cy="2295525"/>
          </a:xfrm>
        </p:grpSpPr>
        <p:sp>
          <p:nvSpPr>
            <p:cNvPr id="6" name="object 6"/>
            <p:cNvSpPr/>
            <p:nvPr/>
          </p:nvSpPr>
          <p:spPr>
            <a:xfrm>
              <a:off x="923925" y="1962150"/>
              <a:ext cx="2371725" cy="2286000"/>
            </a:xfrm>
            <a:custGeom>
              <a:avLst/>
              <a:gdLst/>
              <a:ahLst/>
              <a:cxnLst/>
              <a:rect l="l" t="t" r="r" b="b"/>
              <a:pathLst>
                <a:path w="2371725" h="2286000">
                  <a:moveTo>
                    <a:pt x="2298573" y="2286000"/>
                  </a:moveTo>
                  <a:lnTo>
                    <a:pt x="73152" y="2286000"/>
                  </a:lnTo>
                  <a:lnTo>
                    <a:pt x="58556" y="2284660"/>
                  </a:lnTo>
                  <a:lnTo>
                    <a:pt x="21425" y="2264574"/>
                  </a:lnTo>
                  <a:lnTo>
                    <a:pt x="1339" y="2227443"/>
                  </a:lnTo>
                  <a:lnTo>
                    <a:pt x="0" y="2212848"/>
                  </a:lnTo>
                  <a:lnTo>
                    <a:pt x="0" y="73151"/>
                  </a:lnTo>
                  <a:lnTo>
                    <a:pt x="12051" y="32693"/>
                  </a:lnTo>
                  <a:lnTo>
                    <a:pt x="45070" y="5356"/>
                  </a:lnTo>
                  <a:lnTo>
                    <a:pt x="73152" y="0"/>
                  </a:lnTo>
                  <a:lnTo>
                    <a:pt x="2298573" y="0"/>
                  </a:lnTo>
                  <a:lnTo>
                    <a:pt x="2339031" y="12052"/>
                  </a:lnTo>
                  <a:lnTo>
                    <a:pt x="2366368" y="45070"/>
                  </a:lnTo>
                  <a:lnTo>
                    <a:pt x="2371725" y="73151"/>
                  </a:lnTo>
                  <a:lnTo>
                    <a:pt x="2371725" y="2212848"/>
                  </a:lnTo>
                  <a:lnTo>
                    <a:pt x="2359672" y="2253306"/>
                  </a:lnTo>
                  <a:lnTo>
                    <a:pt x="2326654" y="2280643"/>
                  </a:lnTo>
                  <a:lnTo>
                    <a:pt x="2298573" y="2286000"/>
                  </a:lnTo>
                  <a:close/>
                </a:path>
              </a:pathLst>
            </a:custGeom>
            <a:solidFill>
              <a:srgbClr val="162039"/>
            </a:solidFill>
          </p:spPr>
          <p:txBody>
            <a:bodyPr wrap="square" lIns="0" tIns="0" rIns="0" bIns="0" rtlCol="0"/>
            <a:lstStyle/>
            <a:p/>
          </p:txBody>
        </p:sp>
        <p:sp>
          <p:nvSpPr>
            <p:cNvPr id="7" name="object 7"/>
            <p:cNvSpPr/>
            <p:nvPr/>
          </p:nvSpPr>
          <p:spPr>
            <a:xfrm>
              <a:off x="923925" y="1962150"/>
              <a:ext cx="2371725" cy="2286000"/>
            </a:xfrm>
            <a:custGeom>
              <a:avLst/>
              <a:gdLst/>
              <a:ahLst/>
              <a:cxnLst/>
              <a:rect l="l" t="t" r="r" b="b"/>
              <a:pathLst>
                <a:path w="2371725" h="2286000">
                  <a:moveTo>
                    <a:pt x="0" y="73151"/>
                  </a:moveTo>
                  <a:lnTo>
                    <a:pt x="12051" y="32693"/>
                  </a:lnTo>
                  <a:lnTo>
                    <a:pt x="45070" y="5356"/>
                  </a:lnTo>
                  <a:lnTo>
                    <a:pt x="73152" y="0"/>
                  </a:lnTo>
                  <a:lnTo>
                    <a:pt x="2298573" y="0"/>
                  </a:lnTo>
                  <a:lnTo>
                    <a:pt x="2339031" y="12052"/>
                  </a:lnTo>
                  <a:lnTo>
                    <a:pt x="2366368" y="45070"/>
                  </a:lnTo>
                  <a:lnTo>
                    <a:pt x="2371725" y="73151"/>
                  </a:lnTo>
                  <a:lnTo>
                    <a:pt x="2371725" y="2212848"/>
                  </a:lnTo>
                  <a:lnTo>
                    <a:pt x="2359672" y="2253306"/>
                  </a:lnTo>
                  <a:lnTo>
                    <a:pt x="2326654" y="2280643"/>
                  </a:lnTo>
                  <a:lnTo>
                    <a:pt x="2298573" y="2286000"/>
                  </a:lnTo>
                  <a:lnTo>
                    <a:pt x="73152" y="2286000"/>
                  </a:lnTo>
                  <a:lnTo>
                    <a:pt x="32693" y="2273947"/>
                  </a:lnTo>
                  <a:lnTo>
                    <a:pt x="5356" y="2240929"/>
                  </a:lnTo>
                  <a:lnTo>
                    <a:pt x="0" y="2212848"/>
                  </a:lnTo>
                  <a:lnTo>
                    <a:pt x="0" y="73151"/>
                  </a:lnTo>
                  <a:close/>
                </a:path>
                <a:path w="2371725" h="2286000">
                  <a:moveTo>
                    <a:pt x="0" y="73151"/>
                  </a:moveTo>
                  <a:lnTo>
                    <a:pt x="12051" y="32693"/>
                  </a:lnTo>
                  <a:lnTo>
                    <a:pt x="45070" y="5356"/>
                  </a:lnTo>
                  <a:lnTo>
                    <a:pt x="73152" y="0"/>
                  </a:lnTo>
                  <a:lnTo>
                    <a:pt x="2298573" y="0"/>
                  </a:lnTo>
                  <a:lnTo>
                    <a:pt x="2339031" y="12052"/>
                  </a:lnTo>
                  <a:lnTo>
                    <a:pt x="2366368" y="45070"/>
                  </a:lnTo>
                  <a:lnTo>
                    <a:pt x="2371725" y="73151"/>
                  </a:lnTo>
                  <a:lnTo>
                    <a:pt x="2371725" y="2212848"/>
                  </a:lnTo>
                  <a:lnTo>
                    <a:pt x="2359672" y="2253306"/>
                  </a:lnTo>
                  <a:lnTo>
                    <a:pt x="2326654" y="2280643"/>
                  </a:lnTo>
                  <a:lnTo>
                    <a:pt x="2298573" y="2286000"/>
                  </a:lnTo>
                  <a:lnTo>
                    <a:pt x="73152" y="2286000"/>
                  </a:lnTo>
                  <a:lnTo>
                    <a:pt x="32693" y="2273947"/>
                  </a:lnTo>
                  <a:lnTo>
                    <a:pt x="5356" y="2240929"/>
                  </a:lnTo>
                  <a:lnTo>
                    <a:pt x="0" y="2212848"/>
                  </a:lnTo>
                  <a:lnTo>
                    <a:pt x="0" y="73151"/>
                  </a:lnTo>
                  <a:close/>
                </a:path>
              </a:pathLst>
            </a:custGeom>
            <a:ln w="9525">
              <a:solidFill>
                <a:srgbClr val="394560"/>
              </a:solidFill>
            </a:ln>
          </p:spPr>
          <p:txBody>
            <a:bodyPr wrap="square" lIns="0" tIns="0" rIns="0" bIns="0" rtlCol="0"/>
            <a:lstStyle/>
            <a:p/>
          </p:txBody>
        </p:sp>
        <p:sp>
          <p:nvSpPr>
            <p:cNvPr id="8" name="object 8"/>
            <p:cNvSpPr/>
            <p:nvPr/>
          </p:nvSpPr>
          <p:spPr>
            <a:xfrm>
              <a:off x="1657350" y="2286000"/>
              <a:ext cx="914400" cy="914400"/>
            </a:xfrm>
            <a:custGeom>
              <a:avLst/>
              <a:gdLst/>
              <a:ahLst/>
              <a:cxnLst/>
              <a:rect l="l" t="t" r="r" b="b"/>
              <a:pathLst>
                <a:path w="914400" h="914400">
                  <a:moveTo>
                    <a:pt x="457200" y="914400"/>
                  </a:moveTo>
                  <a:lnTo>
                    <a:pt x="412161" y="912224"/>
                  </a:lnTo>
                  <a:lnTo>
                    <a:pt x="367987" y="905699"/>
                  </a:lnTo>
                  <a:lnTo>
                    <a:pt x="324679" y="894823"/>
                  </a:lnTo>
                  <a:lnTo>
                    <a:pt x="282236" y="879597"/>
                  </a:lnTo>
                  <a:lnTo>
                    <a:pt x="241458" y="860352"/>
                  </a:lnTo>
                  <a:lnTo>
                    <a:pt x="203145" y="837419"/>
                  </a:lnTo>
                  <a:lnTo>
                    <a:pt x="167295" y="810798"/>
                  </a:lnTo>
                  <a:lnTo>
                    <a:pt x="133910" y="780489"/>
                  </a:lnTo>
                  <a:lnTo>
                    <a:pt x="103601" y="747103"/>
                  </a:lnTo>
                  <a:lnTo>
                    <a:pt x="76980" y="711254"/>
                  </a:lnTo>
                  <a:lnTo>
                    <a:pt x="54047" y="672940"/>
                  </a:lnTo>
                  <a:lnTo>
                    <a:pt x="34802" y="632162"/>
                  </a:lnTo>
                  <a:lnTo>
                    <a:pt x="19576" y="589719"/>
                  </a:lnTo>
                  <a:lnTo>
                    <a:pt x="8700" y="546411"/>
                  </a:lnTo>
                  <a:lnTo>
                    <a:pt x="2175" y="502238"/>
                  </a:lnTo>
                  <a:lnTo>
                    <a:pt x="0" y="457200"/>
                  </a:lnTo>
                  <a:lnTo>
                    <a:pt x="2175" y="412161"/>
                  </a:lnTo>
                  <a:lnTo>
                    <a:pt x="8700" y="367987"/>
                  </a:lnTo>
                  <a:lnTo>
                    <a:pt x="19576" y="324679"/>
                  </a:lnTo>
                  <a:lnTo>
                    <a:pt x="34802" y="282236"/>
                  </a:lnTo>
                  <a:lnTo>
                    <a:pt x="54047" y="241458"/>
                  </a:lnTo>
                  <a:lnTo>
                    <a:pt x="76980" y="203145"/>
                  </a:lnTo>
                  <a:lnTo>
                    <a:pt x="103601" y="167295"/>
                  </a:lnTo>
                  <a:lnTo>
                    <a:pt x="133910" y="133910"/>
                  </a:lnTo>
                  <a:lnTo>
                    <a:pt x="167295" y="103601"/>
                  </a:lnTo>
                  <a:lnTo>
                    <a:pt x="203145" y="76980"/>
                  </a:lnTo>
                  <a:lnTo>
                    <a:pt x="241458" y="54047"/>
                  </a:lnTo>
                  <a:lnTo>
                    <a:pt x="282236" y="34802"/>
                  </a:lnTo>
                  <a:lnTo>
                    <a:pt x="324679" y="19576"/>
                  </a:lnTo>
                  <a:lnTo>
                    <a:pt x="367987" y="8700"/>
                  </a:lnTo>
                  <a:lnTo>
                    <a:pt x="412161" y="2175"/>
                  </a:lnTo>
                  <a:lnTo>
                    <a:pt x="457200" y="0"/>
                  </a:lnTo>
                  <a:lnTo>
                    <a:pt x="502238" y="2175"/>
                  </a:lnTo>
                  <a:lnTo>
                    <a:pt x="546411" y="8700"/>
                  </a:lnTo>
                  <a:lnTo>
                    <a:pt x="589719" y="19576"/>
                  </a:lnTo>
                  <a:lnTo>
                    <a:pt x="632162" y="34801"/>
                  </a:lnTo>
                  <a:lnTo>
                    <a:pt x="672940" y="54047"/>
                  </a:lnTo>
                  <a:lnTo>
                    <a:pt x="711254" y="76980"/>
                  </a:lnTo>
                  <a:lnTo>
                    <a:pt x="747103" y="103601"/>
                  </a:lnTo>
                  <a:lnTo>
                    <a:pt x="780489" y="133910"/>
                  </a:lnTo>
                  <a:lnTo>
                    <a:pt x="810798" y="167295"/>
                  </a:lnTo>
                  <a:lnTo>
                    <a:pt x="837419" y="203145"/>
                  </a:lnTo>
                  <a:lnTo>
                    <a:pt x="860352" y="241458"/>
                  </a:lnTo>
                  <a:lnTo>
                    <a:pt x="879597" y="282236"/>
                  </a:lnTo>
                  <a:lnTo>
                    <a:pt x="894823" y="324679"/>
                  </a:lnTo>
                  <a:lnTo>
                    <a:pt x="905699" y="367987"/>
                  </a:lnTo>
                  <a:lnTo>
                    <a:pt x="912224" y="412161"/>
                  </a:lnTo>
                  <a:lnTo>
                    <a:pt x="914400" y="457200"/>
                  </a:lnTo>
                  <a:lnTo>
                    <a:pt x="912224" y="502238"/>
                  </a:lnTo>
                  <a:lnTo>
                    <a:pt x="905699" y="546411"/>
                  </a:lnTo>
                  <a:lnTo>
                    <a:pt x="894823" y="589719"/>
                  </a:lnTo>
                  <a:lnTo>
                    <a:pt x="879597" y="632162"/>
                  </a:lnTo>
                  <a:lnTo>
                    <a:pt x="860352" y="672940"/>
                  </a:lnTo>
                  <a:lnTo>
                    <a:pt x="837419" y="711254"/>
                  </a:lnTo>
                  <a:lnTo>
                    <a:pt x="810798" y="747103"/>
                  </a:lnTo>
                  <a:lnTo>
                    <a:pt x="780489" y="780489"/>
                  </a:lnTo>
                  <a:lnTo>
                    <a:pt x="747103" y="810798"/>
                  </a:lnTo>
                  <a:lnTo>
                    <a:pt x="711254" y="837419"/>
                  </a:lnTo>
                  <a:lnTo>
                    <a:pt x="672940" y="860352"/>
                  </a:lnTo>
                  <a:lnTo>
                    <a:pt x="632162" y="879597"/>
                  </a:lnTo>
                  <a:lnTo>
                    <a:pt x="589719" y="894823"/>
                  </a:lnTo>
                  <a:lnTo>
                    <a:pt x="546411" y="905699"/>
                  </a:lnTo>
                  <a:lnTo>
                    <a:pt x="502238" y="912224"/>
                  </a:lnTo>
                  <a:lnTo>
                    <a:pt x="457200" y="914400"/>
                  </a:lnTo>
                  <a:close/>
                </a:path>
              </a:pathLst>
            </a:custGeom>
            <a:solidFill>
              <a:srgbClr val="2B3855"/>
            </a:solidFill>
          </p:spPr>
          <p:txBody>
            <a:bodyPr wrap="square" lIns="0" tIns="0" rIns="0" bIns="0" rtlCol="0"/>
            <a:lstStyle/>
            <a:p/>
          </p:txBody>
        </p:sp>
        <p:sp>
          <p:nvSpPr>
            <p:cNvPr id="9" name="object 9"/>
            <p:cNvSpPr/>
            <p:nvPr/>
          </p:nvSpPr>
          <p:spPr>
            <a:xfrm>
              <a:off x="1657350" y="2286000"/>
              <a:ext cx="914400" cy="914400"/>
            </a:xfrm>
            <a:custGeom>
              <a:avLst/>
              <a:gdLst/>
              <a:ahLst/>
              <a:cxnLst/>
              <a:rect l="l" t="t" r="r" b="b"/>
              <a:pathLst>
                <a:path w="914400" h="914400">
                  <a:moveTo>
                    <a:pt x="0" y="457200"/>
                  </a:moveTo>
                  <a:lnTo>
                    <a:pt x="2175" y="412161"/>
                  </a:lnTo>
                  <a:lnTo>
                    <a:pt x="8700" y="367987"/>
                  </a:lnTo>
                  <a:lnTo>
                    <a:pt x="19576" y="324679"/>
                  </a:lnTo>
                  <a:lnTo>
                    <a:pt x="34802" y="282236"/>
                  </a:lnTo>
                  <a:lnTo>
                    <a:pt x="54047" y="241458"/>
                  </a:lnTo>
                  <a:lnTo>
                    <a:pt x="76980" y="203145"/>
                  </a:lnTo>
                  <a:lnTo>
                    <a:pt x="103601" y="167295"/>
                  </a:lnTo>
                  <a:lnTo>
                    <a:pt x="133910" y="133910"/>
                  </a:lnTo>
                  <a:lnTo>
                    <a:pt x="167295" y="103601"/>
                  </a:lnTo>
                  <a:lnTo>
                    <a:pt x="203145" y="76980"/>
                  </a:lnTo>
                  <a:lnTo>
                    <a:pt x="241458" y="54047"/>
                  </a:lnTo>
                  <a:lnTo>
                    <a:pt x="282236" y="34802"/>
                  </a:lnTo>
                  <a:lnTo>
                    <a:pt x="324679" y="19576"/>
                  </a:lnTo>
                  <a:lnTo>
                    <a:pt x="367987" y="8700"/>
                  </a:lnTo>
                  <a:lnTo>
                    <a:pt x="412161" y="2175"/>
                  </a:lnTo>
                  <a:lnTo>
                    <a:pt x="457200" y="0"/>
                  </a:lnTo>
                  <a:lnTo>
                    <a:pt x="502238" y="2175"/>
                  </a:lnTo>
                  <a:lnTo>
                    <a:pt x="546411" y="8700"/>
                  </a:lnTo>
                  <a:lnTo>
                    <a:pt x="589719" y="19576"/>
                  </a:lnTo>
                  <a:lnTo>
                    <a:pt x="632162" y="34801"/>
                  </a:lnTo>
                  <a:lnTo>
                    <a:pt x="672940" y="54047"/>
                  </a:lnTo>
                  <a:lnTo>
                    <a:pt x="711254" y="76980"/>
                  </a:lnTo>
                  <a:lnTo>
                    <a:pt x="747103" y="103601"/>
                  </a:lnTo>
                  <a:lnTo>
                    <a:pt x="780489" y="133910"/>
                  </a:lnTo>
                  <a:lnTo>
                    <a:pt x="810798" y="167295"/>
                  </a:lnTo>
                  <a:lnTo>
                    <a:pt x="837419" y="203145"/>
                  </a:lnTo>
                  <a:lnTo>
                    <a:pt x="860352" y="241458"/>
                  </a:lnTo>
                  <a:lnTo>
                    <a:pt x="879597" y="282236"/>
                  </a:lnTo>
                  <a:lnTo>
                    <a:pt x="894823" y="324679"/>
                  </a:lnTo>
                  <a:lnTo>
                    <a:pt x="905699" y="367987"/>
                  </a:lnTo>
                  <a:lnTo>
                    <a:pt x="912224" y="412161"/>
                  </a:lnTo>
                  <a:lnTo>
                    <a:pt x="914400" y="457200"/>
                  </a:lnTo>
                  <a:lnTo>
                    <a:pt x="912224" y="502238"/>
                  </a:lnTo>
                  <a:lnTo>
                    <a:pt x="905699" y="546411"/>
                  </a:lnTo>
                  <a:lnTo>
                    <a:pt x="894823" y="589719"/>
                  </a:lnTo>
                  <a:lnTo>
                    <a:pt x="879597" y="632162"/>
                  </a:lnTo>
                  <a:lnTo>
                    <a:pt x="860352" y="672940"/>
                  </a:lnTo>
                  <a:lnTo>
                    <a:pt x="837419" y="711254"/>
                  </a:lnTo>
                  <a:lnTo>
                    <a:pt x="810798" y="747103"/>
                  </a:lnTo>
                  <a:lnTo>
                    <a:pt x="780489" y="780489"/>
                  </a:lnTo>
                  <a:lnTo>
                    <a:pt x="747103" y="810798"/>
                  </a:lnTo>
                  <a:lnTo>
                    <a:pt x="711254" y="837419"/>
                  </a:lnTo>
                  <a:lnTo>
                    <a:pt x="672940" y="860352"/>
                  </a:lnTo>
                  <a:lnTo>
                    <a:pt x="632162" y="879597"/>
                  </a:lnTo>
                  <a:lnTo>
                    <a:pt x="589719" y="894823"/>
                  </a:lnTo>
                  <a:lnTo>
                    <a:pt x="546411" y="905699"/>
                  </a:lnTo>
                  <a:lnTo>
                    <a:pt x="502238" y="912224"/>
                  </a:lnTo>
                  <a:lnTo>
                    <a:pt x="457200" y="914400"/>
                  </a:lnTo>
                  <a:lnTo>
                    <a:pt x="412161" y="912224"/>
                  </a:lnTo>
                  <a:lnTo>
                    <a:pt x="367987" y="905699"/>
                  </a:lnTo>
                  <a:lnTo>
                    <a:pt x="324679" y="894823"/>
                  </a:lnTo>
                  <a:lnTo>
                    <a:pt x="282236" y="879597"/>
                  </a:lnTo>
                  <a:lnTo>
                    <a:pt x="241458" y="860352"/>
                  </a:lnTo>
                  <a:lnTo>
                    <a:pt x="203145" y="837419"/>
                  </a:lnTo>
                  <a:lnTo>
                    <a:pt x="167295" y="810798"/>
                  </a:lnTo>
                  <a:lnTo>
                    <a:pt x="133910" y="780489"/>
                  </a:lnTo>
                  <a:lnTo>
                    <a:pt x="103601" y="747103"/>
                  </a:lnTo>
                  <a:lnTo>
                    <a:pt x="76980" y="711254"/>
                  </a:lnTo>
                  <a:lnTo>
                    <a:pt x="54047" y="672940"/>
                  </a:lnTo>
                  <a:lnTo>
                    <a:pt x="34802" y="632162"/>
                  </a:lnTo>
                  <a:lnTo>
                    <a:pt x="19576" y="589719"/>
                  </a:lnTo>
                  <a:lnTo>
                    <a:pt x="8700" y="546411"/>
                  </a:lnTo>
                  <a:lnTo>
                    <a:pt x="2175" y="502238"/>
                  </a:lnTo>
                  <a:lnTo>
                    <a:pt x="0" y="457200"/>
                  </a:lnTo>
                  <a:close/>
                </a:path>
              </a:pathLst>
            </a:custGeom>
            <a:ln w="9525">
              <a:solidFill>
                <a:srgbClr val="B8933F"/>
              </a:solidFill>
            </a:ln>
          </p:spPr>
          <p:txBody>
            <a:bodyPr wrap="square" lIns="0" tIns="0" rIns="0" bIns="0" rtlCol="0"/>
            <a:lstStyle/>
            <a:p/>
          </p:txBody>
        </p:sp>
      </p:grpSp>
      <p:sp>
        <p:nvSpPr>
          <p:cNvPr id="10" name="object 10"/>
          <p:cNvSpPr txBox="1"/>
          <p:nvPr/>
        </p:nvSpPr>
        <p:spPr>
          <a:xfrm>
            <a:off x="934720" y="3413893"/>
            <a:ext cx="2331720" cy="521334"/>
          </a:xfrm>
          <a:prstGeom prst="rect">
            <a:avLst/>
          </a:prstGeom>
        </p:spPr>
        <p:txBody>
          <a:bodyPr wrap="square" lIns="0" tIns="12700" rIns="0" bIns="0" rtlCol="0" vert="horz">
            <a:spAutoFit/>
          </a:bodyPr>
          <a:lstStyle/>
          <a:p>
            <a:pPr algn="ctr">
              <a:lnSpc>
                <a:spcPct val="100000"/>
              </a:lnSpc>
              <a:spcBef>
                <a:spcPts val="100"/>
              </a:spcBef>
            </a:pPr>
            <a:r>
              <a:rPr dirty="0" sz="1300" b="1">
                <a:solidFill>
                  <a:srgbClr val="FFFFFF"/>
                </a:solidFill>
                <a:latin typeface="Roboto"/>
                <a:cs typeface="Roboto"/>
              </a:rPr>
              <a:t>[ Name ]</a:t>
            </a:r>
            <a:endParaRPr sz="1300">
              <a:latin typeface="Roboto"/>
              <a:cs typeface="Roboto"/>
            </a:endParaRPr>
          </a:p>
          <a:p>
            <a:pPr algn="ctr" marL="3810">
              <a:lnSpc>
                <a:spcPct val="100000"/>
              </a:lnSpc>
              <a:spcBef>
                <a:spcPts val="1080"/>
              </a:spcBef>
            </a:pPr>
            <a:r>
              <a:rPr dirty="0" sz="1050" spc="-20">
                <a:solidFill>
                  <a:srgbClr val="9AA4B2"/>
                </a:solidFill>
                <a:latin typeface="Roboto"/>
                <a:cs typeface="Roboto"/>
              </a:rPr>
              <a:t>[ Role ]</a:t>
            </a:r>
            <a:endParaRPr sz="1050">
              <a:latin typeface="Roboto"/>
              <a:cs typeface="Roboto"/>
            </a:endParaRPr>
          </a:p>
        </p:txBody>
      </p:sp>
      <p:grpSp>
        <p:nvGrpSpPr>
          <p:cNvPr id="11" name="object 11"/>
          <p:cNvGrpSpPr/>
          <p:nvPr/>
        </p:nvGrpSpPr>
        <p:grpSpPr>
          <a:xfrm>
            <a:off x="3567112" y="1957387"/>
            <a:ext cx="2381250" cy="2295525"/>
            <a:chOff x="3567112" y="1957387"/>
            <a:chExt cx="2381250" cy="2295525"/>
          </a:xfrm>
        </p:grpSpPr>
        <p:sp>
          <p:nvSpPr>
            <p:cNvPr id="12" name="object 12"/>
            <p:cNvSpPr/>
            <p:nvPr/>
          </p:nvSpPr>
          <p:spPr>
            <a:xfrm>
              <a:off x="3571875" y="1962150"/>
              <a:ext cx="2371725" cy="2286000"/>
            </a:xfrm>
            <a:custGeom>
              <a:avLst/>
              <a:gdLst/>
              <a:ahLst/>
              <a:cxnLst/>
              <a:rect l="l" t="t" r="r" b="b"/>
              <a:pathLst>
                <a:path w="2371725" h="2286000">
                  <a:moveTo>
                    <a:pt x="2298573" y="2286000"/>
                  </a:moveTo>
                  <a:lnTo>
                    <a:pt x="73151" y="2286000"/>
                  </a:lnTo>
                  <a:lnTo>
                    <a:pt x="58556" y="2284660"/>
                  </a:lnTo>
                  <a:lnTo>
                    <a:pt x="21425" y="2264574"/>
                  </a:lnTo>
                  <a:lnTo>
                    <a:pt x="1339" y="2227443"/>
                  </a:lnTo>
                  <a:lnTo>
                    <a:pt x="0" y="2212848"/>
                  </a:lnTo>
                  <a:lnTo>
                    <a:pt x="0" y="73151"/>
                  </a:lnTo>
                  <a:lnTo>
                    <a:pt x="12051" y="32693"/>
                  </a:lnTo>
                  <a:lnTo>
                    <a:pt x="45070" y="5356"/>
                  </a:lnTo>
                  <a:lnTo>
                    <a:pt x="73151" y="0"/>
                  </a:lnTo>
                  <a:lnTo>
                    <a:pt x="2298573" y="0"/>
                  </a:lnTo>
                  <a:lnTo>
                    <a:pt x="2339031" y="12052"/>
                  </a:lnTo>
                  <a:lnTo>
                    <a:pt x="2366368" y="45070"/>
                  </a:lnTo>
                  <a:lnTo>
                    <a:pt x="2371725" y="73151"/>
                  </a:lnTo>
                  <a:lnTo>
                    <a:pt x="2371725" y="2212848"/>
                  </a:lnTo>
                  <a:lnTo>
                    <a:pt x="2359672" y="2253306"/>
                  </a:lnTo>
                  <a:lnTo>
                    <a:pt x="2326654" y="2280643"/>
                  </a:lnTo>
                  <a:lnTo>
                    <a:pt x="2298573" y="2286000"/>
                  </a:lnTo>
                  <a:close/>
                </a:path>
              </a:pathLst>
            </a:custGeom>
            <a:solidFill>
              <a:srgbClr val="162039"/>
            </a:solidFill>
          </p:spPr>
          <p:txBody>
            <a:bodyPr wrap="square" lIns="0" tIns="0" rIns="0" bIns="0" rtlCol="0"/>
            <a:lstStyle/>
            <a:p/>
          </p:txBody>
        </p:sp>
        <p:sp>
          <p:nvSpPr>
            <p:cNvPr id="13" name="object 13"/>
            <p:cNvSpPr/>
            <p:nvPr/>
          </p:nvSpPr>
          <p:spPr>
            <a:xfrm>
              <a:off x="3571875" y="1962150"/>
              <a:ext cx="2371725" cy="2286000"/>
            </a:xfrm>
            <a:custGeom>
              <a:avLst/>
              <a:gdLst/>
              <a:ahLst/>
              <a:cxnLst/>
              <a:rect l="l" t="t" r="r" b="b"/>
              <a:pathLst>
                <a:path w="2371725" h="2286000">
                  <a:moveTo>
                    <a:pt x="0" y="73151"/>
                  </a:moveTo>
                  <a:lnTo>
                    <a:pt x="12051" y="32693"/>
                  </a:lnTo>
                  <a:lnTo>
                    <a:pt x="45070" y="5356"/>
                  </a:lnTo>
                  <a:lnTo>
                    <a:pt x="73151" y="0"/>
                  </a:lnTo>
                  <a:lnTo>
                    <a:pt x="2298573" y="0"/>
                  </a:lnTo>
                  <a:lnTo>
                    <a:pt x="2339031" y="12052"/>
                  </a:lnTo>
                  <a:lnTo>
                    <a:pt x="2366368" y="45070"/>
                  </a:lnTo>
                  <a:lnTo>
                    <a:pt x="2371725" y="73151"/>
                  </a:lnTo>
                  <a:lnTo>
                    <a:pt x="2371725" y="2212848"/>
                  </a:lnTo>
                  <a:lnTo>
                    <a:pt x="2359672" y="2253306"/>
                  </a:lnTo>
                  <a:lnTo>
                    <a:pt x="2326654" y="2280643"/>
                  </a:lnTo>
                  <a:lnTo>
                    <a:pt x="2298573" y="2286000"/>
                  </a:lnTo>
                  <a:lnTo>
                    <a:pt x="73151" y="2286000"/>
                  </a:lnTo>
                  <a:lnTo>
                    <a:pt x="32693" y="2273947"/>
                  </a:lnTo>
                  <a:lnTo>
                    <a:pt x="5356" y="2240929"/>
                  </a:lnTo>
                  <a:lnTo>
                    <a:pt x="0" y="2212848"/>
                  </a:lnTo>
                  <a:lnTo>
                    <a:pt x="0" y="73151"/>
                  </a:lnTo>
                  <a:close/>
                </a:path>
                <a:path w="2371725" h="2286000">
                  <a:moveTo>
                    <a:pt x="0" y="73151"/>
                  </a:moveTo>
                  <a:lnTo>
                    <a:pt x="12051" y="32693"/>
                  </a:lnTo>
                  <a:lnTo>
                    <a:pt x="45070" y="5356"/>
                  </a:lnTo>
                  <a:lnTo>
                    <a:pt x="73151" y="0"/>
                  </a:lnTo>
                  <a:lnTo>
                    <a:pt x="2298573" y="0"/>
                  </a:lnTo>
                  <a:lnTo>
                    <a:pt x="2339031" y="12052"/>
                  </a:lnTo>
                  <a:lnTo>
                    <a:pt x="2366368" y="45070"/>
                  </a:lnTo>
                  <a:lnTo>
                    <a:pt x="2371725" y="73151"/>
                  </a:lnTo>
                  <a:lnTo>
                    <a:pt x="2371725" y="2212848"/>
                  </a:lnTo>
                  <a:lnTo>
                    <a:pt x="2359672" y="2253306"/>
                  </a:lnTo>
                  <a:lnTo>
                    <a:pt x="2326654" y="2280643"/>
                  </a:lnTo>
                  <a:lnTo>
                    <a:pt x="2298573" y="2286000"/>
                  </a:lnTo>
                  <a:lnTo>
                    <a:pt x="73151" y="2286000"/>
                  </a:lnTo>
                  <a:lnTo>
                    <a:pt x="32693" y="2273947"/>
                  </a:lnTo>
                  <a:lnTo>
                    <a:pt x="5356" y="2240929"/>
                  </a:lnTo>
                  <a:lnTo>
                    <a:pt x="0" y="2212848"/>
                  </a:lnTo>
                  <a:lnTo>
                    <a:pt x="0" y="73151"/>
                  </a:lnTo>
                  <a:close/>
                </a:path>
              </a:pathLst>
            </a:custGeom>
            <a:ln w="9525">
              <a:solidFill>
                <a:srgbClr val="394560"/>
              </a:solidFill>
            </a:ln>
          </p:spPr>
          <p:txBody>
            <a:bodyPr wrap="square" lIns="0" tIns="0" rIns="0" bIns="0" rtlCol="0"/>
            <a:lstStyle/>
            <a:p/>
          </p:txBody>
        </p:sp>
        <p:sp>
          <p:nvSpPr>
            <p:cNvPr id="14" name="object 14"/>
            <p:cNvSpPr/>
            <p:nvPr/>
          </p:nvSpPr>
          <p:spPr>
            <a:xfrm>
              <a:off x="4305300" y="2286000"/>
              <a:ext cx="914400" cy="914400"/>
            </a:xfrm>
            <a:custGeom>
              <a:avLst/>
              <a:gdLst/>
              <a:ahLst/>
              <a:cxnLst/>
              <a:rect l="l" t="t" r="r" b="b"/>
              <a:pathLst>
                <a:path w="914400" h="914400">
                  <a:moveTo>
                    <a:pt x="457200" y="914400"/>
                  </a:moveTo>
                  <a:lnTo>
                    <a:pt x="412161" y="912224"/>
                  </a:lnTo>
                  <a:lnTo>
                    <a:pt x="367987" y="905699"/>
                  </a:lnTo>
                  <a:lnTo>
                    <a:pt x="324679" y="894823"/>
                  </a:lnTo>
                  <a:lnTo>
                    <a:pt x="282236" y="879597"/>
                  </a:lnTo>
                  <a:lnTo>
                    <a:pt x="241458" y="860352"/>
                  </a:lnTo>
                  <a:lnTo>
                    <a:pt x="203145" y="837419"/>
                  </a:lnTo>
                  <a:lnTo>
                    <a:pt x="167296" y="810798"/>
                  </a:lnTo>
                  <a:lnTo>
                    <a:pt x="133910" y="780489"/>
                  </a:lnTo>
                  <a:lnTo>
                    <a:pt x="103601" y="747103"/>
                  </a:lnTo>
                  <a:lnTo>
                    <a:pt x="76980" y="711254"/>
                  </a:lnTo>
                  <a:lnTo>
                    <a:pt x="54047" y="672940"/>
                  </a:lnTo>
                  <a:lnTo>
                    <a:pt x="34801" y="632162"/>
                  </a:lnTo>
                  <a:lnTo>
                    <a:pt x="19575" y="589719"/>
                  </a:lnTo>
                  <a:lnTo>
                    <a:pt x="8700" y="546411"/>
                  </a:lnTo>
                  <a:lnTo>
                    <a:pt x="2175" y="502238"/>
                  </a:lnTo>
                  <a:lnTo>
                    <a:pt x="0" y="457200"/>
                  </a:lnTo>
                  <a:lnTo>
                    <a:pt x="2175" y="412161"/>
                  </a:lnTo>
                  <a:lnTo>
                    <a:pt x="8700" y="367987"/>
                  </a:lnTo>
                  <a:lnTo>
                    <a:pt x="19575" y="324679"/>
                  </a:lnTo>
                  <a:lnTo>
                    <a:pt x="34801" y="282236"/>
                  </a:lnTo>
                  <a:lnTo>
                    <a:pt x="54047" y="241458"/>
                  </a:lnTo>
                  <a:lnTo>
                    <a:pt x="76980" y="203145"/>
                  </a:lnTo>
                  <a:lnTo>
                    <a:pt x="103601" y="167295"/>
                  </a:lnTo>
                  <a:lnTo>
                    <a:pt x="133910" y="133910"/>
                  </a:lnTo>
                  <a:lnTo>
                    <a:pt x="167296" y="103601"/>
                  </a:lnTo>
                  <a:lnTo>
                    <a:pt x="203145" y="76980"/>
                  </a:lnTo>
                  <a:lnTo>
                    <a:pt x="241459" y="54047"/>
                  </a:lnTo>
                  <a:lnTo>
                    <a:pt x="282237" y="34802"/>
                  </a:lnTo>
                  <a:lnTo>
                    <a:pt x="324679" y="19576"/>
                  </a:lnTo>
                  <a:lnTo>
                    <a:pt x="367987" y="8700"/>
                  </a:lnTo>
                  <a:lnTo>
                    <a:pt x="412161" y="2175"/>
                  </a:lnTo>
                  <a:lnTo>
                    <a:pt x="457200" y="0"/>
                  </a:lnTo>
                  <a:lnTo>
                    <a:pt x="502238" y="2175"/>
                  </a:lnTo>
                  <a:lnTo>
                    <a:pt x="546411" y="8700"/>
                  </a:lnTo>
                  <a:lnTo>
                    <a:pt x="589719" y="19576"/>
                  </a:lnTo>
                  <a:lnTo>
                    <a:pt x="632162" y="34801"/>
                  </a:lnTo>
                  <a:lnTo>
                    <a:pt x="672940" y="54047"/>
                  </a:lnTo>
                  <a:lnTo>
                    <a:pt x="711254" y="76980"/>
                  </a:lnTo>
                  <a:lnTo>
                    <a:pt x="747103" y="103601"/>
                  </a:lnTo>
                  <a:lnTo>
                    <a:pt x="780488" y="133910"/>
                  </a:lnTo>
                  <a:lnTo>
                    <a:pt x="810797" y="167295"/>
                  </a:lnTo>
                  <a:lnTo>
                    <a:pt x="837418" y="203145"/>
                  </a:lnTo>
                  <a:lnTo>
                    <a:pt x="860351" y="241458"/>
                  </a:lnTo>
                  <a:lnTo>
                    <a:pt x="879596" y="282236"/>
                  </a:lnTo>
                  <a:lnTo>
                    <a:pt x="894822" y="324679"/>
                  </a:lnTo>
                  <a:lnTo>
                    <a:pt x="905698" y="367987"/>
                  </a:lnTo>
                  <a:lnTo>
                    <a:pt x="912224" y="412161"/>
                  </a:lnTo>
                  <a:lnTo>
                    <a:pt x="914400" y="457200"/>
                  </a:lnTo>
                  <a:lnTo>
                    <a:pt x="912224" y="502238"/>
                  </a:lnTo>
                  <a:lnTo>
                    <a:pt x="905698" y="546411"/>
                  </a:lnTo>
                  <a:lnTo>
                    <a:pt x="894822" y="589719"/>
                  </a:lnTo>
                  <a:lnTo>
                    <a:pt x="879596" y="632162"/>
                  </a:lnTo>
                  <a:lnTo>
                    <a:pt x="860351" y="672940"/>
                  </a:lnTo>
                  <a:lnTo>
                    <a:pt x="837418" y="711254"/>
                  </a:lnTo>
                  <a:lnTo>
                    <a:pt x="810797" y="747103"/>
                  </a:lnTo>
                  <a:lnTo>
                    <a:pt x="780488" y="780489"/>
                  </a:lnTo>
                  <a:lnTo>
                    <a:pt x="747103" y="810798"/>
                  </a:lnTo>
                  <a:lnTo>
                    <a:pt x="711254" y="837419"/>
                  </a:lnTo>
                  <a:lnTo>
                    <a:pt x="672940" y="860352"/>
                  </a:lnTo>
                  <a:lnTo>
                    <a:pt x="632162" y="879597"/>
                  </a:lnTo>
                  <a:lnTo>
                    <a:pt x="589719" y="894823"/>
                  </a:lnTo>
                  <a:lnTo>
                    <a:pt x="546411" y="905699"/>
                  </a:lnTo>
                  <a:lnTo>
                    <a:pt x="502238" y="912224"/>
                  </a:lnTo>
                  <a:lnTo>
                    <a:pt x="457200" y="914400"/>
                  </a:lnTo>
                  <a:close/>
                </a:path>
              </a:pathLst>
            </a:custGeom>
            <a:solidFill>
              <a:srgbClr val="2B3855"/>
            </a:solidFill>
          </p:spPr>
          <p:txBody>
            <a:bodyPr wrap="square" lIns="0" tIns="0" rIns="0" bIns="0" rtlCol="0"/>
            <a:lstStyle/>
            <a:p/>
          </p:txBody>
        </p:sp>
        <p:sp>
          <p:nvSpPr>
            <p:cNvPr id="15" name="object 15"/>
            <p:cNvSpPr/>
            <p:nvPr/>
          </p:nvSpPr>
          <p:spPr>
            <a:xfrm>
              <a:off x="4305300" y="2286000"/>
              <a:ext cx="914400" cy="914400"/>
            </a:xfrm>
            <a:custGeom>
              <a:avLst/>
              <a:gdLst/>
              <a:ahLst/>
              <a:cxnLst/>
              <a:rect l="l" t="t" r="r" b="b"/>
              <a:pathLst>
                <a:path w="914400" h="914400">
                  <a:moveTo>
                    <a:pt x="0" y="457200"/>
                  </a:moveTo>
                  <a:lnTo>
                    <a:pt x="2175" y="412161"/>
                  </a:lnTo>
                  <a:lnTo>
                    <a:pt x="8700" y="367987"/>
                  </a:lnTo>
                  <a:lnTo>
                    <a:pt x="19575" y="324679"/>
                  </a:lnTo>
                  <a:lnTo>
                    <a:pt x="34801" y="282236"/>
                  </a:lnTo>
                  <a:lnTo>
                    <a:pt x="54047" y="241458"/>
                  </a:lnTo>
                  <a:lnTo>
                    <a:pt x="76980" y="203145"/>
                  </a:lnTo>
                  <a:lnTo>
                    <a:pt x="103601" y="167295"/>
                  </a:lnTo>
                  <a:lnTo>
                    <a:pt x="133910" y="133910"/>
                  </a:lnTo>
                  <a:lnTo>
                    <a:pt x="167296" y="103601"/>
                  </a:lnTo>
                  <a:lnTo>
                    <a:pt x="203145" y="76980"/>
                  </a:lnTo>
                  <a:lnTo>
                    <a:pt x="241459" y="54047"/>
                  </a:lnTo>
                  <a:lnTo>
                    <a:pt x="282237" y="34802"/>
                  </a:lnTo>
                  <a:lnTo>
                    <a:pt x="324679" y="19576"/>
                  </a:lnTo>
                  <a:lnTo>
                    <a:pt x="367987" y="8700"/>
                  </a:lnTo>
                  <a:lnTo>
                    <a:pt x="412161" y="2175"/>
                  </a:lnTo>
                  <a:lnTo>
                    <a:pt x="457200" y="0"/>
                  </a:lnTo>
                  <a:lnTo>
                    <a:pt x="502238" y="2175"/>
                  </a:lnTo>
                  <a:lnTo>
                    <a:pt x="546411" y="8700"/>
                  </a:lnTo>
                  <a:lnTo>
                    <a:pt x="589719" y="19576"/>
                  </a:lnTo>
                  <a:lnTo>
                    <a:pt x="632162" y="34801"/>
                  </a:lnTo>
                  <a:lnTo>
                    <a:pt x="672940" y="54047"/>
                  </a:lnTo>
                  <a:lnTo>
                    <a:pt x="711254" y="76980"/>
                  </a:lnTo>
                  <a:lnTo>
                    <a:pt x="747103" y="103601"/>
                  </a:lnTo>
                  <a:lnTo>
                    <a:pt x="780488" y="133910"/>
                  </a:lnTo>
                  <a:lnTo>
                    <a:pt x="810797" y="167295"/>
                  </a:lnTo>
                  <a:lnTo>
                    <a:pt x="837418" y="203145"/>
                  </a:lnTo>
                  <a:lnTo>
                    <a:pt x="860351" y="241458"/>
                  </a:lnTo>
                  <a:lnTo>
                    <a:pt x="879596" y="282236"/>
                  </a:lnTo>
                  <a:lnTo>
                    <a:pt x="894822" y="324679"/>
                  </a:lnTo>
                  <a:lnTo>
                    <a:pt x="905698" y="367987"/>
                  </a:lnTo>
                  <a:lnTo>
                    <a:pt x="912224" y="412161"/>
                  </a:lnTo>
                  <a:lnTo>
                    <a:pt x="914400" y="457200"/>
                  </a:lnTo>
                  <a:lnTo>
                    <a:pt x="912224" y="502238"/>
                  </a:lnTo>
                  <a:lnTo>
                    <a:pt x="905698" y="546411"/>
                  </a:lnTo>
                  <a:lnTo>
                    <a:pt x="894822" y="589719"/>
                  </a:lnTo>
                  <a:lnTo>
                    <a:pt x="879596" y="632162"/>
                  </a:lnTo>
                  <a:lnTo>
                    <a:pt x="860351" y="672940"/>
                  </a:lnTo>
                  <a:lnTo>
                    <a:pt x="837418" y="711254"/>
                  </a:lnTo>
                  <a:lnTo>
                    <a:pt x="810797" y="747103"/>
                  </a:lnTo>
                  <a:lnTo>
                    <a:pt x="780488" y="780489"/>
                  </a:lnTo>
                  <a:lnTo>
                    <a:pt x="747103" y="810798"/>
                  </a:lnTo>
                  <a:lnTo>
                    <a:pt x="711254" y="837419"/>
                  </a:lnTo>
                  <a:lnTo>
                    <a:pt x="672940" y="860352"/>
                  </a:lnTo>
                  <a:lnTo>
                    <a:pt x="632162" y="879597"/>
                  </a:lnTo>
                  <a:lnTo>
                    <a:pt x="589719" y="894823"/>
                  </a:lnTo>
                  <a:lnTo>
                    <a:pt x="546411" y="905699"/>
                  </a:lnTo>
                  <a:lnTo>
                    <a:pt x="502238" y="912224"/>
                  </a:lnTo>
                  <a:lnTo>
                    <a:pt x="457200" y="914400"/>
                  </a:lnTo>
                  <a:lnTo>
                    <a:pt x="412161" y="912224"/>
                  </a:lnTo>
                  <a:lnTo>
                    <a:pt x="367987" y="905699"/>
                  </a:lnTo>
                  <a:lnTo>
                    <a:pt x="324679" y="894823"/>
                  </a:lnTo>
                  <a:lnTo>
                    <a:pt x="282236" y="879597"/>
                  </a:lnTo>
                  <a:lnTo>
                    <a:pt x="241458" y="860352"/>
                  </a:lnTo>
                  <a:lnTo>
                    <a:pt x="203145" y="837419"/>
                  </a:lnTo>
                  <a:lnTo>
                    <a:pt x="167296" y="810798"/>
                  </a:lnTo>
                  <a:lnTo>
                    <a:pt x="133910" y="780489"/>
                  </a:lnTo>
                  <a:lnTo>
                    <a:pt x="103601" y="747103"/>
                  </a:lnTo>
                  <a:lnTo>
                    <a:pt x="76980" y="711254"/>
                  </a:lnTo>
                  <a:lnTo>
                    <a:pt x="54047" y="672940"/>
                  </a:lnTo>
                  <a:lnTo>
                    <a:pt x="34801" y="632162"/>
                  </a:lnTo>
                  <a:lnTo>
                    <a:pt x="19575" y="589719"/>
                  </a:lnTo>
                  <a:lnTo>
                    <a:pt x="8700" y="546411"/>
                  </a:lnTo>
                  <a:lnTo>
                    <a:pt x="2175" y="502238"/>
                  </a:lnTo>
                  <a:lnTo>
                    <a:pt x="0" y="457200"/>
                  </a:lnTo>
                  <a:close/>
                </a:path>
              </a:pathLst>
            </a:custGeom>
            <a:ln w="9525">
              <a:solidFill>
                <a:srgbClr val="B8933F"/>
              </a:solidFill>
            </a:ln>
          </p:spPr>
          <p:txBody>
            <a:bodyPr wrap="square" lIns="0" tIns="0" rIns="0" bIns="0" rtlCol="0"/>
            <a:lstStyle/>
            <a:p/>
          </p:txBody>
        </p:sp>
      </p:grpSp>
      <p:sp>
        <p:nvSpPr>
          <p:cNvPr id="16" name="object 16"/>
          <p:cNvSpPr txBox="1"/>
          <p:nvPr/>
        </p:nvSpPr>
        <p:spPr>
          <a:xfrm>
            <a:off x="3582670" y="3413893"/>
            <a:ext cx="2331720" cy="521334"/>
          </a:xfrm>
          <a:prstGeom prst="rect">
            <a:avLst/>
          </a:prstGeom>
        </p:spPr>
        <p:txBody>
          <a:bodyPr wrap="square" lIns="0" tIns="12700" rIns="0" bIns="0" rtlCol="0" vert="horz">
            <a:spAutoFit/>
          </a:bodyPr>
          <a:lstStyle/>
          <a:p>
            <a:pPr algn="ctr">
              <a:lnSpc>
                <a:spcPct val="100000"/>
              </a:lnSpc>
              <a:spcBef>
                <a:spcPts val="100"/>
              </a:spcBef>
            </a:pPr>
            <a:r>
              <a:rPr dirty="0" sz="1300" b="1">
                <a:solidFill>
                  <a:srgbClr val="FFFFFF"/>
                </a:solidFill>
                <a:latin typeface="Roboto"/>
                <a:cs typeface="Roboto"/>
              </a:rPr>
              <a:t>[ Name ]</a:t>
            </a:r>
            <a:endParaRPr sz="1300">
              <a:latin typeface="Roboto"/>
              <a:cs typeface="Roboto"/>
            </a:endParaRPr>
          </a:p>
          <a:p>
            <a:pPr algn="ctr" marL="3810">
              <a:lnSpc>
                <a:spcPct val="100000"/>
              </a:lnSpc>
              <a:spcBef>
                <a:spcPts val="1080"/>
              </a:spcBef>
            </a:pPr>
            <a:r>
              <a:rPr dirty="0" sz="1050" spc="-20">
                <a:solidFill>
                  <a:srgbClr val="9AA4B2"/>
                </a:solidFill>
                <a:latin typeface="Roboto"/>
                <a:cs typeface="Roboto"/>
              </a:rPr>
              <a:t>[ Role ]</a:t>
            </a:r>
            <a:endParaRPr sz="1050">
              <a:latin typeface="Roboto"/>
              <a:cs typeface="Roboto"/>
            </a:endParaRPr>
          </a:p>
        </p:txBody>
      </p:sp>
      <p:grpSp>
        <p:nvGrpSpPr>
          <p:cNvPr id="17" name="object 17"/>
          <p:cNvGrpSpPr/>
          <p:nvPr/>
        </p:nvGrpSpPr>
        <p:grpSpPr>
          <a:xfrm>
            <a:off x="6224587" y="1957387"/>
            <a:ext cx="2381250" cy="2295525"/>
            <a:chOff x="6224587" y="1957387"/>
            <a:chExt cx="2381250" cy="2295525"/>
          </a:xfrm>
        </p:grpSpPr>
        <p:sp>
          <p:nvSpPr>
            <p:cNvPr id="18" name="object 18"/>
            <p:cNvSpPr/>
            <p:nvPr/>
          </p:nvSpPr>
          <p:spPr>
            <a:xfrm>
              <a:off x="6229350" y="1962150"/>
              <a:ext cx="2371725" cy="2286000"/>
            </a:xfrm>
            <a:custGeom>
              <a:avLst/>
              <a:gdLst/>
              <a:ahLst/>
              <a:cxnLst/>
              <a:rect l="l" t="t" r="r" b="b"/>
              <a:pathLst>
                <a:path w="2371725" h="2286000">
                  <a:moveTo>
                    <a:pt x="2298573" y="2286000"/>
                  </a:moveTo>
                  <a:lnTo>
                    <a:pt x="73151" y="2286000"/>
                  </a:lnTo>
                  <a:lnTo>
                    <a:pt x="58556" y="2284660"/>
                  </a:lnTo>
                  <a:lnTo>
                    <a:pt x="21425" y="2264574"/>
                  </a:lnTo>
                  <a:lnTo>
                    <a:pt x="1338" y="2227443"/>
                  </a:lnTo>
                  <a:lnTo>
                    <a:pt x="0" y="2212848"/>
                  </a:lnTo>
                  <a:lnTo>
                    <a:pt x="0" y="73151"/>
                  </a:lnTo>
                  <a:lnTo>
                    <a:pt x="12051" y="32693"/>
                  </a:lnTo>
                  <a:lnTo>
                    <a:pt x="45069" y="5356"/>
                  </a:lnTo>
                  <a:lnTo>
                    <a:pt x="73151" y="0"/>
                  </a:lnTo>
                  <a:lnTo>
                    <a:pt x="2298573" y="0"/>
                  </a:lnTo>
                  <a:lnTo>
                    <a:pt x="2339031" y="12052"/>
                  </a:lnTo>
                  <a:lnTo>
                    <a:pt x="2366368" y="45070"/>
                  </a:lnTo>
                  <a:lnTo>
                    <a:pt x="2371725" y="73151"/>
                  </a:lnTo>
                  <a:lnTo>
                    <a:pt x="2371725" y="2212848"/>
                  </a:lnTo>
                  <a:lnTo>
                    <a:pt x="2359672" y="2253306"/>
                  </a:lnTo>
                  <a:lnTo>
                    <a:pt x="2326654" y="2280643"/>
                  </a:lnTo>
                  <a:lnTo>
                    <a:pt x="2298573" y="2286000"/>
                  </a:lnTo>
                  <a:close/>
                </a:path>
              </a:pathLst>
            </a:custGeom>
            <a:solidFill>
              <a:srgbClr val="162039"/>
            </a:solidFill>
          </p:spPr>
          <p:txBody>
            <a:bodyPr wrap="square" lIns="0" tIns="0" rIns="0" bIns="0" rtlCol="0"/>
            <a:lstStyle/>
            <a:p/>
          </p:txBody>
        </p:sp>
        <p:sp>
          <p:nvSpPr>
            <p:cNvPr id="19" name="object 19"/>
            <p:cNvSpPr/>
            <p:nvPr/>
          </p:nvSpPr>
          <p:spPr>
            <a:xfrm>
              <a:off x="6229350" y="1962150"/>
              <a:ext cx="2371725" cy="2286000"/>
            </a:xfrm>
            <a:custGeom>
              <a:avLst/>
              <a:gdLst/>
              <a:ahLst/>
              <a:cxnLst/>
              <a:rect l="l" t="t" r="r" b="b"/>
              <a:pathLst>
                <a:path w="2371725" h="2286000">
                  <a:moveTo>
                    <a:pt x="0" y="73151"/>
                  </a:moveTo>
                  <a:lnTo>
                    <a:pt x="12051" y="32693"/>
                  </a:lnTo>
                  <a:lnTo>
                    <a:pt x="45069" y="5356"/>
                  </a:lnTo>
                  <a:lnTo>
                    <a:pt x="73151" y="0"/>
                  </a:lnTo>
                  <a:lnTo>
                    <a:pt x="2298573" y="0"/>
                  </a:lnTo>
                  <a:lnTo>
                    <a:pt x="2339031" y="12052"/>
                  </a:lnTo>
                  <a:lnTo>
                    <a:pt x="2366368" y="45070"/>
                  </a:lnTo>
                  <a:lnTo>
                    <a:pt x="2371725" y="73151"/>
                  </a:lnTo>
                  <a:lnTo>
                    <a:pt x="2371725" y="2212848"/>
                  </a:lnTo>
                  <a:lnTo>
                    <a:pt x="2359672" y="2253306"/>
                  </a:lnTo>
                  <a:lnTo>
                    <a:pt x="2326654" y="2280643"/>
                  </a:lnTo>
                  <a:lnTo>
                    <a:pt x="2298573" y="2286000"/>
                  </a:lnTo>
                  <a:lnTo>
                    <a:pt x="73151" y="2286000"/>
                  </a:lnTo>
                  <a:lnTo>
                    <a:pt x="32693" y="2273947"/>
                  </a:lnTo>
                  <a:lnTo>
                    <a:pt x="5356" y="2240929"/>
                  </a:lnTo>
                  <a:lnTo>
                    <a:pt x="0" y="2212848"/>
                  </a:lnTo>
                  <a:lnTo>
                    <a:pt x="0" y="73151"/>
                  </a:lnTo>
                  <a:close/>
                </a:path>
                <a:path w="2371725" h="2286000">
                  <a:moveTo>
                    <a:pt x="0" y="73151"/>
                  </a:moveTo>
                  <a:lnTo>
                    <a:pt x="12051" y="32693"/>
                  </a:lnTo>
                  <a:lnTo>
                    <a:pt x="45069" y="5356"/>
                  </a:lnTo>
                  <a:lnTo>
                    <a:pt x="73151" y="0"/>
                  </a:lnTo>
                  <a:lnTo>
                    <a:pt x="2298573" y="0"/>
                  </a:lnTo>
                  <a:lnTo>
                    <a:pt x="2339031" y="12052"/>
                  </a:lnTo>
                  <a:lnTo>
                    <a:pt x="2366368" y="45070"/>
                  </a:lnTo>
                  <a:lnTo>
                    <a:pt x="2371725" y="73151"/>
                  </a:lnTo>
                  <a:lnTo>
                    <a:pt x="2371725" y="2212848"/>
                  </a:lnTo>
                  <a:lnTo>
                    <a:pt x="2359672" y="2253306"/>
                  </a:lnTo>
                  <a:lnTo>
                    <a:pt x="2326654" y="2280643"/>
                  </a:lnTo>
                  <a:lnTo>
                    <a:pt x="2298573" y="2286000"/>
                  </a:lnTo>
                  <a:lnTo>
                    <a:pt x="73151" y="2286000"/>
                  </a:lnTo>
                  <a:lnTo>
                    <a:pt x="32693" y="2273947"/>
                  </a:lnTo>
                  <a:lnTo>
                    <a:pt x="5356" y="2240929"/>
                  </a:lnTo>
                  <a:lnTo>
                    <a:pt x="0" y="2212848"/>
                  </a:lnTo>
                  <a:lnTo>
                    <a:pt x="0" y="73151"/>
                  </a:lnTo>
                  <a:close/>
                </a:path>
              </a:pathLst>
            </a:custGeom>
            <a:ln w="9525">
              <a:solidFill>
                <a:srgbClr val="394560"/>
              </a:solidFill>
            </a:ln>
          </p:spPr>
          <p:txBody>
            <a:bodyPr wrap="square" lIns="0" tIns="0" rIns="0" bIns="0" rtlCol="0"/>
            <a:lstStyle/>
            <a:p/>
          </p:txBody>
        </p:sp>
        <p:sp>
          <p:nvSpPr>
            <p:cNvPr id="20" name="object 20"/>
            <p:cNvSpPr/>
            <p:nvPr/>
          </p:nvSpPr>
          <p:spPr>
            <a:xfrm>
              <a:off x="6962775" y="2286000"/>
              <a:ext cx="914400" cy="914400"/>
            </a:xfrm>
            <a:custGeom>
              <a:avLst/>
              <a:gdLst/>
              <a:ahLst/>
              <a:cxnLst/>
              <a:rect l="l" t="t" r="r" b="b"/>
              <a:pathLst>
                <a:path w="914400" h="914400">
                  <a:moveTo>
                    <a:pt x="457200" y="914400"/>
                  </a:moveTo>
                  <a:lnTo>
                    <a:pt x="412160" y="912224"/>
                  </a:lnTo>
                  <a:lnTo>
                    <a:pt x="367986" y="905699"/>
                  </a:lnTo>
                  <a:lnTo>
                    <a:pt x="324678" y="894823"/>
                  </a:lnTo>
                  <a:lnTo>
                    <a:pt x="282235" y="879597"/>
                  </a:lnTo>
                  <a:lnTo>
                    <a:pt x="241458" y="860352"/>
                  </a:lnTo>
                  <a:lnTo>
                    <a:pt x="203144" y="837419"/>
                  </a:lnTo>
                  <a:lnTo>
                    <a:pt x="167295" y="810798"/>
                  </a:lnTo>
                  <a:lnTo>
                    <a:pt x="133910" y="780489"/>
                  </a:lnTo>
                  <a:lnTo>
                    <a:pt x="103601" y="747103"/>
                  </a:lnTo>
                  <a:lnTo>
                    <a:pt x="76979" y="711254"/>
                  </a:lnTo>
                  <a:lnTo>
                    <a:pt x="54046" y="672940"/>
                  </a:lnTo>
                  <a:lnTo>
                    <a:pt x="34801" y="632162"/>
                  </a:lnTo>
                  <a:lnTo>
                    <a:pt x="19575" y="589719"/>
                  </a:lnTo>
                  <a:lnTo>
                    <a:pt x="8700" y="546411"/>
                  </a:lnTo>
                  <a:lnTo>
                    <a:pt x="2174" y="502238"/>
                  </a:lnTo>
                  <a:lnTo>
                    <a:pt x="0" y="457200"/>
                  </a:lnTo>
                  <a:lnTo>
                    <a:pt x="2174" y="412161"/>
                  </a:lnTo>
                  <a:lnTo>
                    <a:pt x="8700" y="367987"/>
                  </a:lnTo>
                  <a:lnTo>
                    <a:pt x="19575" y="324679"/>
                  </a:lnTo>
                  <a:lnTo>
                    <a:pt x="34801" y="282236"/>
                  </a:lnTo>
                  <a:lnTo>
                    <a:pt x="54046" y="241458"/>
                  </a:lnTo>
                  <a:lnTo>
                    <a:pt x="76979" y="203145"/>
                  </a:lnTo>
                  <a:lnTo>
                    <a:pt x="103601" y="167295"/>
                  </a:lnTo>
                  <a:lnTo>
                    <a:pt x="133910" y="133910"/>
                  </a:lnTo>
                  <a:lnTo>
                    <a:pt x="167295" y="103601"/>
                  </a:lnTo>
                  <a:lnTo>
                    <a:pt x="203144" y="76980"/>
                  </a:lnTo>
                  <a:lnTo>
                    <a:pt x="241458" y="54047"/>
                  </a:lnTo>
                  <a:lnTo>
                    <a:pt x="282235" y="34802"/>
                  </a:lnTo>
                  <a:lnTo>
                    <a:pt x="324678" y="19576"/>
                  </a:lnTo>
                  <a:lnTo>
                    <a:pt x="367986" y="8700"/>
                  </a:lnTo>
                  <a:lnTo>
                    <a:pt x="412160" y="2175"/>
                  </a:lnTo>
                  <a:lnTo>
                    <a:pt x="457200" y="0"/>
                  </a:lnTo>
                  <a:lnTo>
                    <a:pt x="502238" y="2175"/>
                  </a:lnTo>
                  <a:lnTo>
                    <a:pt x="546411" y="8700"/>
                  </a:lnTo>
                  <a:lnTo>
                    <a:pt x="589719" y="19576"/>
                  </a:lnTo>
                  <a:lnTo>
                    <a:pt x="632162" y="34801"/>
                  </a:lnTo>
                  <a:lnTo>
                    <a:pt x="672940" y="54047"/>
                  </a:lnTo>
                  <a:lnTo>
                    <a:pt x="711253" y="76980"/>
                  </a:lnTo>
                  <a:lnTo>
                    <a:pt x="747103" y="103601"/>
                  </a:lnTo>
                  <a:lnTo>
                    <a:pt x="780488" y="133910"/>
                  </a:lnTo>
                  <a:lnTo>
                    <a:pt x="810797" y="167295"/>
                  </a:lnTo>
                  <a:lnTo>
                    <a:pt x="837418" y="203145"/>
                  </a:lnTo>
                  <a:lnTo>
                    <a:pt x="860351" y="241458"/>
                  </a:lnTo>
                  <a:lnTo>
                    <a:pt x="879596" y="282236"/>
                  </a:lnTo>
                  <a:lnTo>
                    <a:pt x="894823" y="324679"/>
                  </a:lnTo>
                  <a:lnTo>
                    <a:pt x="905698" y="367987"/>
                  </a:lnTo>
                  <a:lnTo>
                    <a:pt x="912224" y="412161"/>
                  </a:lnTo>
                  <a:lnTo>
                    <a:pt x="914400" y="457200"/>
                  </a:lnTo>
                  <a:lnTo>
                    <a:pt x="912224" y="502238"/>
                  </a:lnTo>
                  <a:lnTo>
                    <a:pt x="905698" y="546411"/>
                  </a:lnTo>
                  <a:lnTo>
                    <a:pt x="894823" y="589719"/>
                  </a:lnTo>
                  <a:lnTo>
                    <a:pt x="879596" y="632162"/>
                  </a:lnTo>
                  <a:lnTo>
                    <a:pt x="860351" y="672940"/>
                  </a:lnTo>
                  <a:lnTo>
                    <a:pt x="837418" y="711254"/>
                  </a:lnTo>
                  <a:lnTo>
                    <a:pt x="810797" y="747103"/>
                  </a:lnTo>
                  <a:lnTo>
                    <a:pt x="780488" y="780489"/>
                  </a:lnTo>
                  <a:lnTo>
                    <a:pt x="747103" y="810798"/>
                  </a:lnTo>
                  <a:lnTo>
                    <a:pt x="711253" y="837419"/>
                  </a:lnTo>
                  <a:lnTo>
                    <a:pt x="672940" y="860352"/>
                  </a:lnTo>
                  <a:lnTo>
                    <a:pt x="632162" y="879597"/>
                  </a:lnTo>
                  <a:lnTo>
                    <a:pt x="589719" y="894823"/>
                  </a:lnTo>
                  <a:lnTo>
                    <a:pt x="546411" y="905699"/>
                  </a:lnTo>
                  <a:lnTo>
                    <a:pt x="502238" y="912224"/>
                  </a:lnTo>
                  <a:lnTo>
                    <a:pt x="457200" y="914400"/>
                  </a:lnTo>
                  <a:close/>
                </a:path>
              </a:pathLst>
            </a:custGeom>
            <a:solidFill>
              <a:srgbClr val="2B3855"/>
            </a:solidFill>
          </p:spPr>
          <p:txBody>
            <a:bodyPr wrap="square" lIns="0" tIns="0" rIns="0" bIns="0" rtlCol="0"/>
            <a:lstStyle/>
            <a:p/>
          </p:txBody>
        </p:sp>
        <p:sp>
          <p:nvSpPr>
            <p:cNvPr id="21" name="object 21"/>
            <p:cNvSpPr/>
            <p:nvPr/>
          </p:nvSpPr>
          <p:spPr>
            <a:xfrm>
              <a:off x="6962775" y="2286000"/>
              <a:ext cx="914400" cy="914400"/>
            </a:xfrm>
            <a:custGeom>
              <a:avLst/>
              <a:gdLst/>
              <a:ahLst/>
              <a:cxnLst/>
              <a:rect l="l" t="t" r="r" b="b"/>
              <a:pathLst>
                <a:path w="914400" h="914400">
                  <a:moveTo>
                    <a:pt x="0" y="457200"/>
                  </a:moveTo>
                  <a:lnTo>
                    <a:pt x="2174" y="412161"/>
                  </a:lnTo>
                  <a:lnTo>
                    <a:pt x="8700" y="367987"/>
                  </a:lnTo>
                  <a:lnTo>
                    <a:pt x="19575" y="324679"/>
                  </a:lnTo>
                  <a:lnTo>
                    <a:pt x="34801" y="282236"/>
                  </a:lnTo>
                  <a:lnTo>
                    <a:pt x="54046" y="241458"/>
                  </a:lnTo>
                  <a:lnTo>
                    <a:pt x="76979" y="203145"/>
                  </a:lnTo>
                  <a:lnTo>
                    <a:pt x="103601" y="167295"/>
                  </a:lnTo>
                  <a:lnTo>
                    <a:pt x="133910" y="133910"/>
                  </a:lnTo>
                  <a:lnTo>
                    <a:pt x="167295" y="103601"/>
                  </a:lnTo>
                  <a:lnTo>
                    <a:pt x="203144" y="76980"/>
                  </a:lnTo>
                  <a:lnTo>
                    <a:pt x="241458" y="54047"/>
                  </a:lnTo>
                  <a:lnTo>
                    <a:pt x="282235" y="34802"/>
                  </a:lnTo>
                  <a:lnTo>
                    <a:pt x="324678" y="19576"/>
                  </a:lnTo>
                  <a:lnTo>
                    <a:pt x="367986" y="8700"/>
                  </a:lnTo>
                  <a:lnTo>
                    <a:pt x="412160" y="2175"/>
                  </a:lnTo>
                  <a:lnTo>
                    <a:pt x="457200" y="0"/>
                  </a:lnTo>
                  <a:lnTo>
                    <a:pt x="502238" y="2175"/>
                  </a:lnTo>
                  <a:lnTo>
                    <a:pt x="546411" y="8700"/>
                  </a:lnTo>
                  <a:lnTo>
                    <a:pt x="589719" y="19576"/>
                  </a:lnTo>
                  <a:lnTo>
                    <a:pt x="632162" y="34801"/>
                  </a:lnTo>
                  <a:lnTo>
                    <a:pt x="672940" y="54047"/>
                  </a:lnTo>
                  <a:lnTo>
                    <a:pt x="711253" y="76980"/>
                  </a:lnTo>
                  <a:lnTo>
                    <a:pt x="747103" y="103601"/>
                  </a:lnTo>
                  <a:lnTo>
                    <a:pt x="780488" y="133910"/>
                  </a:lnTo>
                  <a:lnTo>
                    <a:pt x="810797" y="167295"/>
                  </a:lnTo>
                  <a:lnTo>
                    <a:pt x="837418" y="203145"/>
                  </a:lnTo>
                  <a:lnTo>
                    <a:pt x="860351" y="241458"/>
                  </a:lnTo>
                  <a:lnTo>
                    <a:pt x="879596" y="282236"/>
                  </a:lnTo>
                  <a:lnTo>
                    <a:pt x="894823" y="324679"/>
                  </a:lnTo>
                  <a:lnTo>
                    <a:pt x="905698" y="367987"/>
                  </a:lnTo>
                  <a:lnTo>
                    <a:pt x="912224" y="412161"/>
                  </a:lnTo>
                  <a:lnTo>
                    <a:pt x="914400" y="457200"/>
                  </a:lnTo>
                  <a:lnTo>
                    <a:pt x="912224" y="502238"/>
                  </a:lnTo>
                  <a:lnTo>
                    <a:pt x="905698" y="546411"/>
                  </a:lnTo>
                  <a:lnTo>
                    <a:pt x="894823" y="589719"/>
                  </a:lnTo>
                  <a:lnTo>
                    <a:pt x="879596" y="632162"/>
                  </a:lnTo>
                  <a:lnTo>
                    <a:pt x="860351" y="672940"/>
                  </a:lnTo>
                  <a:lnTo>
                    <a:pt x="837418" y="711254"/>
                  </a:lnTo>
                  <a:lnTo>
                    <a:pt x="810797" y="747103"/>
                  </a:lnTo>
                  <a:lnTo>
                    <a:pt x="780488" y="780489"/>
                  </a:lnTo>
                  <a:lnTo>
                    <a:pt x="747103" y="810798"/>
                  </a:lnTo>
                  <a:lnTo>
                    <a:pt x="711253" y="837419"/>
                  </a:lnTo>
                  <a:lnTo>
                    <a:pt x="672940" y="860352"/>
                  </a:lnTo>
                  <a:lnTo>
                    <a:pt x="632162" y="879597"/>
                  </a:lnTo>
                  <a:lnTo>
                    <a:pt x="589719" y="894823"/>
                  </a:lnTo>
                  <a:lnTo>
                    <a:pt x="546411" y="905699"/>
                  </a:lnTo>
                  <a:lnTo>
                    <a:pt x="502238" y="912224"/>
                  </a:lnTo>
                  <a:lnTo>
                    <a:pt x="457200" y="914400"/>
                  </a:lnTo>
                  <a:lnTo>
                    <a:pt x="412160" y="912224"/>
                  </a:lnTo>
                  <a:lnTo>
                    <a:pt x="367986" y="905699"/>
                  </a:lnTo>
                  <a:lnTo>
                    <a:pt x="324678" y="894823"/>
                  </a:lnTo>
                  <a:lnTo>
                    <a:pt x="282235" y="879597"/>
                  </a:lnTo>
                  <a:lnTo>
                    <a:pt x="241458" y="860352"/>
                  </a:lnTo>
                  <a:lnTo>
                    <a:pt x="203144" y="837419"/>
                  </a:lnTo>
                  <a:lnTo>
                    <a:pt x="167295" y="810798"/>
                  </a:lnTo>
                  <a:lnTo>
                    <a:pt x="133910" y="780489"/>
                  </a:lnTo>
                  <a:lnTo>
                    <a:pt x="103601" y="747103"/>
                  </a:lnTo>
                  <a:lnTo>
                    <a:pt x="76979" y="711254"/>
                  </a:lnTo>
                  <a:lnTo>
                    <a:pt x="54046" y="672940"/>
                  </a:lnTo>
                  <a:lnTo>
                    <a:pt x="34801" y="632162"/>
                  </a:lnTo>
                  <a:lnTo>
                    <a:pt x="19575" y="589719"/>
                  </a:lnTo>
                  <a:lnTo>
                    <a:pt x="8700" y="546411"/>
                  </a:lnTo>
                  <a:lnTo>
                    <a:pt x="2174" y="502238"/>
                  </a:lnTo>
                  <a:lnTo>
                    <a:pt x="0" y="457200"/>
                  </a:lnTo>
                  <a:close/>
                </a:path>
              </a:pathLst>
            </a:custGeom>
            <a:ln w="9525">
              <a:solidFill>
                <a:srgbClr val="B8933F"/>
              </a:solidFill>
            </a:ln>
          </p:spPr>
          <p:txBody>
            <a:bodyPr wrap="square" lIns="0" tIns="0" rIns="0" bIns="0" rtlCol="0"/>
            <a:lstStyle/>
            <a:p/>
          </p:txBody>
        </p:sp>
      </p:grpSp>
      <p:sp>
        <p:nvSpPr>
          <p:cNvPr id="22" name="object 22"/>
          <p:cNvSpPr txBox="1"/>
          <p:nvPr/>
        </p:nvSpPr>
        <p:spPr>
          <a:xfrm>
            <a:off x="6240145" y="3413893"/>
            <a:ext cx="2331720" cy="521334"/>
          </a:xfrm>
          <a:prstGeom prst="rect">
            <a:avLst/>
          </a:prstGeom>
        </p:spPr>
        <p:txBody>
          <a:bodyPr wrap="square" lIns="0" tIns="12700" rIns="0" bIns="0" rtlCol="0" vert="horz">
            <a:spAutoFit/>
          </a:bodyPr>
          <a:lstStyle/>
          <a:p>
            <a:pPr algn="ctr">
              <a:lnSpc>
                <a:spcPct val="100000"/>
              </a:lnSpc>
              <a:spcBef>
                <a:spcPts val="100"/>
              </a:spcBef>
            </a:pPr>
            <a:r>
              <a:rPr dirty="0" sz="1300" b="1">
                <a:solidFill>
                  <a:srgbClr val="FFFFFF"/>
                </a:solidFill>
                <a:latin typeface="Roboto"/>
                <a:cs typeface="Roboto"/>
              </a:rPr>
              <a:t>[ Name ]</a:t>
            </a:r>
            <a:endParaRPr sz="1300">
              <a:latin typeface="Roboto"/>
              <a:cs typeface="Roboto"/>
            </a:endParaRPr>
          </a:p>
          <a:p>
            <a:pPr algn="ctr" marL="3810">
              <a:lnSpc>
                <a:spcPct val="100000"/>
              </a:lnSpc>
              <a:spcBef>
                <a:spcPts val="1080"/>
              </a:spcBef>
            </a:pPr>
            <a:r>
              <a:rPr dirty="0" sz="1050" spc="-20">
                <a:solidFill>
                  <a:srgbClr val="9AA4B2"/>
                </a:solidFill>
                <a:latin typeface="Roboto"/>
                <a:cs typeface="Roboto"/>
              </a:rPr>
              <a:t>[ Role ]</a:t>
            </a:r>
            <a:endParaRPr sz="1050">
              <a:latin typeface="Roboto"/>
              <a:cs typeface="Roboto"/>
            </a:endParaRPr>
          </a:p>
        </p:txBody>
      </p:sp>
      <p:grpSp>
        <p:nvGrpSpPr>
          <p:cNvPr id="23" name="object 23"/>
          <p:cNvGrpSpPr/>
          <p:nvPr/>
        </p:nvGrpSpPr>
        <p:grpSpPr>
          <a:xfrm>
            <a:off x="8872537" y="1957387"/>
            <a:ext cx="2381250" cy="2295525"/>
            <a:chOff x="8872537" y="1957387"/>
            <a:chExt cx="2381250" cy="2295525"/>
          </a:xfrm>
        </p:grpSpPr>
        <p:sp>
          <p:nvSpPr>
            <p:cNvPr id="24" name="object 24"/>
            <p:cNvSpPr/>
            <p:nvPr/>
          </p:nvSpPr>
          <p:spPr>
            <a:xfrm>
              <a:off x="8877300" y="1962150"/>
              <a:ext cx="2371725" cy="2286000"/>
            </a:xfrm>
            <a:custGeom>
              <a:avLst/>
              <a:gdLst/>
              <a:ahLst/>
              <a:cxnLst/>
              <a:rect l="l" t="t" r="r" b="b"/>
              <a:pathLst>
                <a:path w="2371725" h="2286000">
                  <a:moveTo>
                    <a:pt x="2298573" y="2286000"/>
                  </a:moveTo>
                  <a:lnTo>
                    <a:pt x="73151" y="2286000"/>
                  </a:lnTo>
                  <a:lnTo>
                    <a:pt x="58556" y="2284660"/>
                  </a:lnTo>
                  <a:lnTo>
                    <a:pt x="21424" y="2264574"/>
                  </a:lnTo>
                  <a:lnTo>
                    <a:pt x="1338" y="2227443"/>
                  </a:lnTo>
                  <a:lnTo>
                    <a:pt x="0" y="2212848"/>
                  </a:lnTo>
                  <a:lnTo>
                    <a:pt x="0" y="73151"/>
                  </a:lnTo>
                  <a:lnTo>
                    <a:pt x="12051" y="32693"/>
                  </a:lnTo>
                  <a:lnTo>
                    <a:pt x="45069" y="5356"/>
                  </a:lnTo>
                  <a:lnTo>
                    <a:pt x="73151" y="0"/>
                  </a:lnTo>
                  <a:lnTo>
                    <a:pt x="2298573" y="0"/>
                  </a:lnTo>
                  <a:lnTo>
                    <a:pt x="2339031" y="12052"/>
                  </a:lnTo>
                  <a:lnTo>
                    <a:pt x="2366367" y="45070"/>
                  </a:lnTo>
                  <a:lnTo>
                    <a:pt x="2371725" y="73151"/>
                  </a:lnTo>
                  <a:lnTo>
                    <a:pt x="2371725" y="2212848"/>
                  </a:lnTo>
                  <a:lnTo>
                    <a:pt x="2359671" y="2253306"/>
                  </a:lnTo>
                  <a:lnTo>
                    <a:pt x="2326654" y="2280643"/>
                  </a:lnTo>
                  <a:lnTo>
                    <a:pt x="2298573" y="2286000"/>
                  </a:lnTo>
                  <a:close/>
                </a:path>
              </a:pathLst>
            </a:custGeom>
            <a:solidFill>
              <a:srgbClr val="162039"/>
            </a:solidFill>
          </p:spPr>
          <p:txBody>
            <a:bodyPr wrap="square" lIns="0" tIns="0" rIns="0" bIns="0" rtlCol="0"/>
            <a:lstStyle/>
            <a:p/>
          </p:txBody>
        </p:sp>
        <p:sp>
          <p:nvSpPr>
            <p:cNvPr id="25" name="object 25"/>
            <p:cNvSpPr/>
            <p:nvPr/>
          </p:nvSpPr>
          <p:spPr>
            <a:xfrm>
              <a:off x="8877300" y="1962150"/>
              <a:ext cx="2371725" cy="2286000"/>
            </a:xfrm>
            <a:custGeom>
              <a:avLst/>
              <a:gdLst/>
              <a:ahLst/>
              <a:cxnLst/>
              <a:rect l="l" t="t" r="r" b="b"/>
              <a:pathLst>
                <a:path w="2371725" h="2286000">
                  <a:moveTo>
                    <a:pt x="0" y="73151"/>
                  </a:moveTo>
                  <a:lnTo>
                    <a:pt x="12051" y="32693"/>
                  </a:lnTo>
                  <a:lnTo>
                    <a:pt x="45069" y="5356"/>
                  </a:lnTo>
                  <a:lnTo>
                    <a:pt x="73151" y="0"/>
                  </a:lnTo>
                  <a:lnTo>
                    <a:pt x="2298573" y="0"/>
                  </a:lnTo>
                  <a:lnTo>
                    <a:pt x="2339031" y="12052"/>
                  </a:lnTo>
                  <a:lnTo>
                    <a:pt x="2366367" y="45070"/>
                  </a:lnTo>
                  <a:lnTo>
                    <a:pt x="2371725" y="73151"/>
                  </a:lnTo>
                  <a:lnTo>
                    <a:pt x="2371725" y="2212848"/>
                  </a:lnTo>
                  <a:lnTo>
                    <a:pt x="2359671" y="2253306"/>
                  </a:lnTo>
                  <a:lnTo>
                    <a:pt x="2326654" y="2280643"/>
                  </a:lnTo>
                  <a:lnTo>
                    <a:pt x="2298573" y="2286000"/>
                  </a:lnTo>
                  <a:lnTo>
                    <a:pt x="73151" y="2286000"/>
                  </a:lnTo>
                  <a:lnTo>
                    <a:pt x="32692" y="2273947"/>
                  </a:lnTo>
                  <a:lnTo>
                    <a:pt x="5355" y="2240929"/>
                  </a:lnTo>
                  <a:lnTo>
                    <a:pt x="0" y="2212848"/>
                  </a:lnTo>
                  <a:lnTo>
                    <a:pt x="0" y="73151"/>
                  </a:lnTo>
                  <a:close/>
                </a:path>
                <a:path w="2371725" h="2286000">
                  <a:moveTo>
                    <a:pt x="0" y="73151"/>
                  </a:moveTo>
                  <a:lnTo>
                    <a:pt x="12051" y="32693"/>
                  </a:lnTo>
                  <a:lnTo>
                    <a:pt x="45069" y="5356"/>
                  </a:lnTo>
                  <a:lnTo>
                    <a:pt x="73151" y="0"/>
                  </a:lnTo>
                  <a:lnTo>
                    <a:pt x="2298573" y="0"/>
                  </a:lnTo>
                  <a:lnTo>
                    <a:pt x="2339031" y="12052"/>
                  </a:lnTo>
                  <a:lnTo>
                    <a:pt x="2366367" y="45070"/>
                  </a:lnTo>
                  <a:lnTo>
                    <a:pt x="2371725" y="73151"/>
                  </a:lnTo>
                  <a:lnTo>
                    <a:pt x="2371725" y="2212848"/>
                  </a:lnTo>
                  <a:lnTo>
                    <a:pt x="2359671" y="2253306"/>
                  </a:lnTo>
                  <a:lnTo>
                    <a:pt x="2326654" y="2280643"/>
                  </a:lnTo>
                  <a:lnTo>
                    <a:pt x="2298573" y="2286000"/>
                  </a:lnTo>
                  <a:lnTo>
                    <a:pt x="73151" y="2286000"/>
                  </a:lnTo>
                  <a:lnTo>
                    <a:pt x="32692" y="2273947"/>
                  </a:lnTo>
                  <a:lnTo>
                    <a:pt x="5355" y="2240929"/>
                  </a:lnTo>
                  <a:lnTo>
                    <a:pt x="0" y="2212848"/>
                  </a:lnTo>
                  <a:lnTo>
                    <a:pt x="0" y="73151"/>
                  </a:lnTo>
                  <a:close/>
                </a:path>
              </a:pathLst>
            </a:custGeom>
            <a:ln w="9525">
              <a:solidFill>
                <a:srgbClr val="394560"/>
              </a:solidFill>
            </a:ln>
          </p:spPr>
          <p:txBody>
            <a:bodyPr wrap="square" lIns="0" tIns="0" rIns="0" bIns="0" rtlCol="0"/>
            <a:lstStyle/>
            <a:p/>
          </p:txBody>
        </p:sp>
        <p:sp>
          <p:nvSpPr>
            <p:cNvPr id="26" name="object 26"/>
            <p:cNvSpPr/>
            <p:nvPr/>
          </p:nvSpPr>
          <p:spPr>
            <a:xfrm>
              <a:off x="9610725" y="2286000"/>
              <a:ext cx="914400" cy="914400"/>
            </a:xfrm>
            <a:custGeom>
              <a:avLst/>
              <a:gdLst/>
              <a:ahLst/>
              <a:cxnLst/>
              <a:rect l="l" t="t" r="r" b="b"/>
              <a:pathLst>
                <a:path w="914400" h="914400">
                  <a:moveTo>
                    <a:pt x="457200" y="914400"/>
                  </a:moveTo>
                  <a:lnTo>
                    <a:pt x="412161" y="912224"/>
                  </a:lnTo>
                  <a:lnTo>
                    <a:pt x="367987" y="905699"/>
                  </a:lnTo>
                  <a:lnTo>
                    <a:pt x="324679" y="894823"/>
                  </a:lnTo>
                  <a:lnTo>
                    <a:pt x="282235" y="879597"/>
                  </a:lnTo>
                  <a:lnTo>
                    <a:pt x="241458" y="860352"/>
                  </a:lnTo>
                  <a:lnTo>
                    <a:pt x="203144" y="837419"/>
                  </a:lnTo>
                  <a:lnTo>
                    <a:pt x="167295" y="810798"/>
                  </a:lnTo>
                  <a:lnTo>
                    <a:pt x="133909" y="780489"/>
                  </a:lnTo>
                  <a:lnTo>
                    <a:pt x="103600" y="747103"/>
                  </a:lnTo>
                  <a:lnTo>
                    <a:pt x="76979" y="711254"/>
                  </a:lnTo>
                  <a:lnTo>
                    <a:pt x="54046" y="672940"/>
                  </a:lnTo>
                  <a:lnTo>
                    <a:pt x="34801" y="632162"/>
                  </a:lnTo>
                  <a:lnTo>
                    <a:pt x="19575" y="589719"/>
                  </a:lnTo>
                  <a:lnTo>
                    <a:pt x="8699" y="546411"/>
                  </a:lnTo>
                  <a:lnTo>
                    <a:pt x="2174" y="502238"/>
                  </a:lnTo>
                  <a:lnTo>
                    <a:pt x="0" y="457200"/>
                  </a:lnTo>
                  <a:lnTo>
                    <a:pt x="2174" y="412161"/>
                  </a:lnTo>
                  <a:lnTo>
                    <a:pt x="8699" y="367987"/>
                  </a:lnTo>
                  <a:lnTo>
                    <a:pt x="19575" y="324679"/>
                  </a:lnTo>
                  <a:lnTo>
                    <a:pt x="34801" y="282236"/>
                  </a:lnTo>
                  <a:lnTo>
                    <a:pt x="54046" y="241458"/>
                  </a:lnTo>
                  <a:lnTo>
                    <a:pt x="76979" y="203145"/>
                  </a:lnTo>
                  <a:lnTo>
                    <a:pt x="103600" y="167295"/>
                  </a:lnTo>
                  <a:lnTo>
                    <a:pt x="133909" y="133910"/>
                  </a:lnTo>
                  <a:lnTo>
                    <a:pt x="167295" y="103601"/>
                  </a:lnTo>
                  <a:lnTo>
                    <a:pt x="203144" y="76980"/>
                  </a:lnTo>
                  <a:lnTo>
                    <a:pt x="241458" y="54047"/>
                  </a:lnTo>
                  <a:lnTo>
                    <a:pt x="282235" y="34802"/>
                  </a:lnTo>
                  <a:lnTo>
                    <a:pt x="324678" y="19576"/>
                  </a:lnTo>
                  <a:lnTo>
                    <a:pt x="367987" y="8700"/>
                  </a:lnTo>
                  <a:lnTo>
                    <a:pt x="412161" y="2175"/>
                  </a:lnTo>
                  <a:lnTo>
                    <a:pt x="457200" y="0"/>
                  </a:lnTo>
                  <a:lnTo>
                    <a:pt x="502238" y="2175"/>
                  </a:lnTo>
                  <a:lnTo>
                    <a:pt x="546411" y="8700"/>
                  </a:lnTo>
                  <a:lnTo>
                    <a:pt x="589719" y="19576"/>
                  </a:lnTo>
                  <a:lnTo>
                    <a:pt x="632161" y="34801"/>
                  </a:lnTo>
                  <a:lnTo>
                    <a:pt x="672939" y="54047"/>
                  </a:lnTo>
                  <a:lnTo>
                    <a:pt x="711253" y="76980"/>
                  </a:lnTo>
                  <a:lnTo>
                    <a:pt x="747103" y="103601"/>
                  </a:lnTo>
                  <a:lnTo>
                    <a:pt x="780488" y="133910"/>
                  </a:lnTo>
                  <a:lnTo>
                    <a:pt x="810797" y="167295"/>
                  </a:lnTo>
                  <a:lnTo>
                    <a:pt x="837417" y="203145"/>
                  </a:lnTo>
                  <a:lnTo>
                    <a:pt x="860350" y="241458"/>
                  </a:lnTo>
                  <a:lnTo>
                    <a:pt x="879595" y="282236"/>
                  </a:lnTo>
                  <a:lnTo>
                    <a:pt x="894822" y="324679"/>
                  </a:lnTo>
                  <a:lnTo>
                    <a:pt x="905698" y="367987"/>
                  </a:lnTo>
                  <a:lnTo>
                    <a:pt x="912224" y="412161"/>
                  </a:lnTo>
                  <a:lnTo>
                    <a:pt x="914400" y="457200"/>
                  </a:lnTo>
                  <a:lnTo>
                    <a:pt x="912224" y="502238"/>
                  </a:lnTo>
                  <a:lnTo>
                    <a:pt x="905698" y="546411"/>
                  </a:lnTo>
                  <a:lnTo>
                    <a:pt x="894822" y="589719"/>
                  </a:lnTo>
                  <a:lnTo>
                    <a:pt x="879595" y="632162"/>
                  </a:lnTo>
                  <a:lnTo>
                    <a:pt x="860350" y="672940"/>
                  </a:lnTo>
                  <a:lnTo>
                    <a:pt x="837417" y="711254"/>
                  </a:lnTo>
                  <a:lnTo>
                    <a:pt x="810797" y="747103"/>
                  </a:lnTo>
                  <a:lnTo>
                    <a:pt x="780488" y="780489"/>
                  </a:lnTo>
                  <a:lnTo>
                    <a:pt x="747103" y="810798"/>
                  </a:lnTo>
                  <a:lnTo>
                    <a:pt x="711253" y="837419"/>
                  </a:lnTo>
                  <a:lnTo>
                    <a:pt x="672939" y="860352"/>
                  </a:lnTo>
                  <a:lnTo>
                    <a:pt x="632161" y="879597"/>
                  </a:lnTo>
                  <a:lnTo>
                    <a:pt x="589719" y="894823"/>
                  </a:lnTo>
                  <a:lnTo>
                    <a:pt x="546411" y="905699"/>
                  </a:lnTo>
                  <a:lnTo>
                    <a:pt x="502238" y="912224"/>
                  </a:lnTo>
                  <a:lnTo>
                    <a:pt x="457200" y="914400"/>
                  </a:lnTo>
                  <a:close/>
                </a:path>
              </a:pathLst>
            </a:custGeom>
            <a:solidFill>
              <a:srgbClr val="2B3855"/>
            </a:solidFill>
          </p:spPr>
          <p:txBody>
            <a:bodyPr wrap="square" lIns="0" tIns="0" rIns="0" bIns="0" rtlCol="0"/>
            <a:lstStyle/>
            <a:p/>
          </p:txBody>
        </p:sp>
        <p:sp>
          <p:nvSpPr>
            <p:cNvPr id="27" name="object 27"/>
            <p:cNvSpPr/>
            <p:nvPr/>
          </p:nvSpPr>
          <p:spPr>
            <a:xfrm>
              <a:off x="9610725" y="2286000"/>
              <a:ext cx="914400" cy="914400"/>
            </a:xfrm>
            <a:custGeom>
              <a:avLst/>
              <a:gdLst/>
              <a:ahLst/>
              <a:cxnLst/>
              <a:rect l="l" t="t" r="r" b="b"/>
              <a:pathLst>
                <a:path w="914400" h="914400">
                  <a:moveTo>
                    <a:pt x="0" y="457200"/>
                  </a:moveTo>
                  <a:lnTo>
                    <a:pt x="2174" y="412161"/>
                  </a:lnTo>
                  <a:lnTo>
                    <a:pt x="8699" y="367987"/>
                  </a:lnTo>
                  <a:lnTo>
                    <a:pt x="19575" y="324679"/>
                  </a:lnTo>
                  <a:lnTo>
                    <a:pt x="34801" y="282236"/>
                  </a:lnTo>
                  <a:lnTo>
                    <a:pt x="54046" y="241458"/>
                  </a:lnTo>
                  <a:lnTo>
                    <a:pt x="76979" y="203145"/>
                  </a:lnTo>
                  <a:lnTo>
                    <a:pt x="103600" y="167295"/>
                  </a:lnTo>
                  <a:lnTo>
                    <a:pt x="133909" y="133910"/>
                  </a:lnTo>
                  <a:lnTo>
                    <a:pt x="167295" y="103601"/>
                  </a:lnTo>
                  <a:lnTo>
                    <a:pt x="203144" y="76980"/>
                  </a:lnTo>
                  <a:lnTo>
                    <a:pt x="241458" y="54047"/>
                  </a:lnTo>
                  <a:lnTo>
                    <a:pt x="282235" y="34802"/>
                  </a:lnTo>
                  <a:lnTo>
                    <a:pt x="324678" y="19576"/>
                  </a:lnTo>
                  <a:lnTo>
                    <a:pt x="367987" y="8700"/>
                  </a:lnTo>
                  <a:lnTo>
                    <a:pt x="412161" y="2175"/>
                  </a:lnTo>
                  <a:lnTo>
                    <a:pt x="457200" y="0"/>
                  </a:lnTo>
                  <a:lnTo>
                    <a:pt x="502238" y="2175"/>
                  </a:lnTo>
                  <a:lnTo>
                    <a:pt x="546411" y="8700"/>
                  </a:lnTo>
                  <a:lnTo>
                    <a:pt x="589719" y="19576"/>
                  </a:lnTo>
                  <a:lnTo>
                    <a:pt x="632161" y="34801"/>
                  </a:lnTo>
                  <a:lnTo>
                    <a:pt x="672939" y="54047"/>
                  </a:lnTo>
                  <a:lnTo>
                    <a:pt x="711253" y="76980"/>
                  </a:lnTo>
                  <a:lnTo>
                    <a:pt x="747103" y="103601"/>
                  </a:lnTo>
                  <a:lnTo>
                    <a:pt x="780488" y="133910"/>
                  </a:lnTo>
                  <a:lnTo>
                    <a:pt x="810797" y="167295"/>
                  </a:lnTo>
                  <a:lnTo>
                    <a:pt x="837417" y="203145"/>
                  </a:lnTo>
                  <a:lnTo>
                    <a:pt x="860350" y="241458"/>
                  </a:lnTo>
                  <a:lnTo>
                    <a:pt x="879595" y="282236"/>
                  </a:lnTo>
                  <a:lnTo>
                    <a:pt x="894822" y="324679"/>
                  </a:lnTo>
                  <a:lnTo>
                    <a:pt x="905698" y="367987"/>
                  </a:lnTo>
                  <a:lnTo>
                    <a:pt x="912224" y="412161"/>
                  </a:lnTo>
                  <a:lnTo>
                    <a:pt x="914400" y="457200"/>
                  </a:lnTo>
                  <a:lnTo>
                    <a:pt x="912224" y="502238"/>
                  </a:lnTo>
                  <a:lnTo>
                    <a:pt x="905698" y="546411"/>
                  </a:lnTo>
                  <a:lnTo>
                    <a:pt x="894822" y="589719"/>
                  </a:lnTo>
                  <a:lnTo>
                    <a:pt x="879595" y="632162"/>
                  </a:lnTo>
                  <a:lnTo>
                    <a:pt x="860350" y="672940"/>
                  </a:lnTo>
                  <a:lnTo>
                    <a:pt x="837417" y="711254"/>
                  </a:lnTo>
                  <a:lnTo>
                    <a:pt x="810797" y="747103"/>
                  </a:lnTo>
                  <a:lnTo>
                    <a:pt x="780488" y="780489"/>
                  </a:lnTo>
                  <a:lnTo>
                    <a:pt x="747103" y="810798"/>
                  </a:lnTo>
                  <a:lnTo>
                    <a:pt x="711253" y="837419"/>
                  </a:lnTo>
                  <a:lnTo>
                    <a:pt x="672939" y="860352"/>
                  </a:lnTo>
                  <a:lnTo>
                    <a:pt x="632161" y="879597"/>
                  </a:lnTo>
                  <a:lnTo>
                    <a:pt x="589719" y="894823"/>
                  </a:lnTo>
                  <a:lnTo>
                    <a:pt x="546411" y="905699"/>
                  </a:lnTo>
                  <a:lnTo>
                    <a:pt x="502238" y="912224"/>
                  </a:lnTo>
                  <a:lnTo>
                    <a:pt x="457200" y="914400"/>
                  </a:lnTo>
                  <a:lnTo>
                    <a:pt x="412161" y="912224"/>
                  </a:lnTo>
                  <a:lnTo>
                    <a:pt x="367987" y="905699"/>
                  </a:lnTo>
                  <a:lnTo>
                    <a:pt x="324679" y="894823"/>
                  </a:lnTo>
                  <a:lnTo>
                    <a:pt x="282235" y="879597"/>
                  </a:lnTo>
                  <a:lnTo>
                    <a:pt x="241458" y="860352"/>
                  </a:lnTo>
                  <a:lnTo>
                    <a:pt x="203144" y="837419"/>
                  </a:lnTo>
                  <a:lnTo>
                    <a:pt x="167295" y="810798"/>
                  </a:lnTo>
                  <a:lnTo>
                    <a:pt x="133909" y="780489"/>
                  </a:lnTo>
                  <a:lnTo>
                    <a:pt x="103600" y="747103"/>
                  </a:lnTo>
                  <a:lnTo>
                    <a:pt x="76979" y="711254"/>
                  </a:lnTo>
                  <a:lnTo>
                    <a:pt x="54046" y="672940"/>
                  </a:lnTo>
                  <a:lnTo>
                    <a:pt x="34801" y="632162"/>
                  </a:lnTo>
                  <a:lnTo>
                    <a:pt x="19575" y="589719"/>
                  </a:lnTo>
                  <a:lnTo>
                    <a:pt x="8699" y="546411"/>
                  </a:lnTo>
                  <a:lnTo>
                    <a:pt x="2174" y="502238"/>
                  </a:lnTo>
                  <a:lnTo>
                    <a:pt x="0" y="457200"/>
                  </a:lnTo>
                  <a:close/>
                </a:path>
              </a:pathLst>
            </a:custGeom>
            <a:ln w="9525">
              <a:solidFill>
                <a:srgbClr val="B8933F"/>
              </a:solidFill>
            </a:ln>
          </p:spPr>
          <p:txBody>
            <a:bodyPr wrap="square" lIns="0" tIns="0" rIns="0" bIns="0" rtlCol="0"/>
            <a:lstStyle/>
            <a:p/>
          </p:txBody>
        </p:sp>
      </p:grpSp>
      <p:sp>
        <p:nvSpPr>
          <p:cNvPr id="28" name="object 28"/>
          <p:cNvSpPr txBox="1"/>
          <p:nvPr/>
        </p:nvSpPr>
        <p:spPr>
          <a:xfrm>
            <a:off x="8888095" y="3413893"/>
            <a:ext cx="2331720" cy="521334"/>
          </a:xfrm>
          <a:prstGeom prst="rect">
            <a:avLst/>
          </a:prstGeom>
        </p:spPr>
        <p:txBody>
          <a:bodyPr wrap="square" lIns="0" tIns="12700" rIns="0" bIns="0" rtlCol="0" vert="horz">
            <a:spAutoFit/>
          </a:bodyPr>
          <a:lstStyle/>
          <a:p>
            <a:pPr algn="ctr">
              <a:lnSpc>
                <a:spcPct val="100000"/>
              </a:lnSpc>
              <a:spcBef>
                <a:spcPts val="100"/>
              </a:spcBef>
            </a:pPr>
            <a:r>
              <a:rPr dirty="0" sz="1300" b="1">
                <a:solidFill>
                  <a:srgbClr val="FFFFFF"/>
                </a:solidFill>
                <a:latin typeface="Roboto"/>
                <a:cs typeface="Roboto"/>
              </a:rPr>
              <a:t>[ Name ]</a:t>
            </a:r>
            <a:endParaRPr sz="1300">
              <a:latin typeface="Roboto"/>
              <a:cs typeface="Roboto"/>
            </a:endParaRPr>
          </a:p>
          <a:p>
            <a:pPr algn="ctr" marL="3810">
              <a:lnSpc>
                <a:spcPct val="100000"/>
              </a:lnSpc>
              <a:spcBef>
                <a:spcPts val="1080"/>
              </a:spcBef>
            </a:pPr>
            <a:r>
              <a:rPr dirty="0" sz="1050" spc="-20">
                <a:solidFill>
                  <a:srgbClr val="9AA4B2"/>
                </a:solidFill>
                <a:latin typeface="Roboto"/>
                <a:cs typeface="Roboto"/>
              </a:rPr>
              <a:t>[ Role ]</a:t>
            </a:r>
            <a:endParaRPr sz="1050">
              <a:latin typeface="Roboto"/>
              <a:cs typeface="Roboto"/>
            </a:endParaRPr>
          </a:p>
        </p:txBody>
      </p:sp>
      <p:grpSp>
        <p:nvGrpSpPr>
          <p:cNvPr id="29" name="object 29"/>
          <p:cNvGrpSpPr/>
          <p:nvPr/>
        </p:nvGrpSpPr>
        <p:grpSpPr>
          <a:xfrm>
            <a:off x="4714875" y="4605337"/>
            <a:ext cx="2743200" cy="9525"/>
            <a:chOff x="4714875" y="4605337"/>
            <a:chExt cx="2743200" cy="9525"/>
          </a:xfrm>
        </p:grpSpPr>
        <p:sp>
          <p:nvSpPr>
            <p:cNvPr id="30" name="object 30"/>
            <p:cNvSpPr/>
            <p:nvPr/>
          </p:nvSpPr>
          <p:spPr>
            <a:xfrm>
              <a:off x="4714875" y="4610100"/>
              <a:ext cx="2743200" cy="0"/>
            </a:xfrm>
            <a:custGeom>
              <a:avLst/>
              <a:gdLst/>
              <a:ahLst/>
              <a:cxnLst/>
              <a:rect l="l" t="t" r="r" b="b"/>
              <a:pathLst>
                <a:path w="2743200" h="0">
                  <a:moveTo>
                    <a:pt x="2743200" y="0"/>
                  </a:moveTo>
                  <a:lnTo>
                    <a:pt x="0" y="0"/>
                  </a:lnTo>
                </a:path>
              </a:pathLst>
            </a:custGeom>
            <a:solidFill>
              <a:srgbClr val="394560"/>
            </a:solidFill>
          </p:spPr>
          <p:txBody>
            <a:bodyPr wrap="square" lIns="0" tIns="0" rIns="0" bIns="0" rtlCol="0"/>
            <a:lstStyle/>
            <a:p/>
          </p:txBody>
        </p:sp>
        <p:sp>
          <p:nvSpPr>
            <p:cNvPr id="31" name="object 31"/>
            <p:cNvSpPr/>
            <p:nvPr/>
          </p:nvSpPr>
          <p:spPr>
            <a:xfrm>
              <a:off x="4714875" y="4610100"/>
              <a:ext cx="2743200" cy="0"/>
            </a:xfrm>
            <a:custGeom>
              <a:avLst/>
              <a:gdLst/>
              <a:ahLst/>
              <a:cxnLst/>
              <a:rect l="l" t="t" r="r" b="b"/>
              <a:pathLst>
                <a:path w="2743200" h="0">
                  <a:moveTo>
                    <a:pt x="0" y="0"/>
                  </a:moveTo>
                  <a:lnTo>
                    <a:pt x="2743200" y="0"/>
                  </a:lnTo>
                </a:path>
              </a:pathLst>
            </a:custGeom>
            <a:ln w="9525">
              <a:solidFill>
                <a:srgbClr val="394560"/>
              </a:solidFill>
            </a:ln>
          </p:spPr>
          <p:txBody>
            <a:bodyPr wrap="square" lIns="0" tIns="0" rIns="0" bIns="0" rtlCol="0"/>
            <a:lstStyle/>
            <a:p/>
          </p:txBody>
        </p:sp>
      </p:grpSp>
      <p:sp>
        <p:nvSpPr>
          <p:cNvPr id="32" name="object 32"/>
          <p:cNvSpPr txBox="1"/>
          <p:nvPr/>
        </p:nvSpPr>
        <p:spPr>
          <a:xfrm>
            <a:off x="3530917" y="4764037"/>
            <a:ext cx="5120640" cy="745490"/>
          </a:xfrm>
          <a:prstGeom prst="rect">
            <a:avLst/>
          </a:prstGeom>
        </p:spPr>
        <p:txBody>
          <a:bodyPr wrap="square" lIns="0" tIns="12700" rIns="0" bIns="0" rtlCol="0" vert="horz">
            <a:spAutoFit/>
          </a:bodyPr>
          <a:lstStyle/>
          <a:p>
            <a:pPr algn="ctr" marR="10795">
              <a:lnSpc>
                <a:spcPct val="100000"/>
              </a:lnSpc>
              <a:spcBef>
                <a:spcPts val="100"/>
              </a:spcBef>
            </a:pPr>
            <a:r>
              <a:rPr dirty="0" sz="2600" b="1">
                <a:solidFill>
                  <a:srgbClr val="1E2A4A"/>
                </a:solidFill>
                <a:latin typeface="Roboto"/>
                <a:cs typeface="Roboto"/>
              </a:rPr>
              <a:t>Thank You</a:t>
            </a:r>
            <a:endParaRPr sz="2600">
              <a:latin typeface="Roboto"/>
              <a:cs typeface="Roboto"/>
            </a:endParaRPr>
          </a:p>
          <a:p>
            <a:pPr algn="ctr">
              <a:lnSpc>
                <a:spcPct val="100000"/>
              </a:lnSpc>
              <a:spcBef>
                <a:spcPts val="1105"/>
              </a:spcBef>
            </a:pPr>
            <a:r>
              <a:rPr dirty="0" sz="1200">
                <a:solidFill>
                  <a:srgbClr val="9AA4B2"/>
                </a:solidFill>
                <a:latin typeface="Roboto"/>
                <a:cs typeface="Roboto"/>
              </a:rPr>
              <a:t>github.com/swetank18/firebreak  ·  dynamicsanvil@gmail.com</a:t>
            </a:r>
            <a:endParaRPr sz="1200">
              <a:latin typeface="Roboto"/>
              <a:cs typeface="Roboto"/>
            </a:endParaRPr>
          </a:p>
        </p:txBody>
      </p:sp>
      <p:grpSp>
        <p:nvGrpSpPr>
          <p:cNvPr id="33" name="object 33"/>
          <p:cNvGrpSpPr/>
          <p:nvPr/>
        </p:nvGrpSpPr>
        <p:grpSpPr>
          <a:xfrm>
            <a:off x="0" y="6381750"/>
            <a:ext cx="12182475" cy="466725"/>
            <a:chOff x="0" y="6381750"/>
            <a:chExt cx="12182475" cy="466725"/>
          </a:xfrm>
        </p:grpSpPr>
        <p:sp>
          <p:nvSpPr>
            <p:cNvPr id="34" name="object 34"/>
            <p:cNvSpPr/>
            <p:nvPr/>
          </p:nvSpPr>
          <p:spPr>
            <a:xfrm>
              <a:off x="0" y="6381750"/>
              <a:ext cx="12182475" cy="466725"/>
            </a:xfrm>
            <a:custGeom>
              <a:avLst/>
              <a:gdLst/>
              <a:ahLst/>
              <a:cxnLst/>
              <a:rect l="l" t="t" r="r" b="b"/>
              <a:pathLst>
                <a:path w="12182475" h="466725">
                  <a:moveTo>
                    <a:pt x="12182475" y="466725"/>
                  </a:moveTo>
                  <a:lnTo>
                    <a:pt x="0" y="466725"/>
                  </a:lnTo>
                  <a:lnTo>
                    <a:pt x="0" y="0"/>
                  </a:lnTo>
                  <a:lnTo>
                    <a:pt x="12182475" y="0"/>
                  </a:lnTo>
                  <a:lnTo>
                    <a:pt x="12182475" y="466725"/>
                  </a:lnTo>
                  <a:close/>
                </a:path>
              </a:pathLst>
            </a:custGeom>
            <a:solidFill>
              <a:srgbClr val="162039"/>
            </a:solidFill>
          </p:spPr>
          <p:txBody>
            <a:bodyPr wrap="square" lIns="0" tIns="0" rIns="0" bIns="0" rtlCol="0"/>
            <a:lstStyle/>
            <a:p/>
          </p:txBody>
        </p:sp>
        <p:sp>
          <p:nvSpPr>
            <p:cNvPr id="35" name="object 35"/>
            <p:cNvSpPr/>
            <p:nvPr/>
          </p:nvSpPr>
          <p:spPr>
            <a:xfrm>
              <a:off x="361950" y="6448425"/>
              <a:ext cx="3562350" cy="323850"/>
            </a:xfrm>
            <a:custGeom>
              <a:avLst/>
              <a:gdLst/>
              <a:ahLst/>
              <a:cxnLst/>
              <a:rect l="l" t="t" r="r" b="b"/>
              <a:pathLst>
                <a:path w="3562350" h="323850">
                  <a:moveTo>
                    <a:pt x="3517370" y="323850"/>
                  </a:moveTo>
                  <a:lnTo>
                    <a:pt x="44979" y="323850"/>
                  </a:lnTo>
                  <a:lnTo>
                    <a:pt x="36004" y="323026"/>
                  </a:lnTo>
                  <a:lnTo>
                    <a:pt x="3293" y="296137"/>
                  </a:lnTo>
                  <a:lnTo>
                    <a:pt x="0" y="278870"/>
                  </a:lnTo>
                  <a:lnTo>
                    <a:pt x="0" y="44979"/>
                  </a:lnTo>
                  <a:lnTo>
                    <a:pt x="20102" y="7410"/>
                  </a:lnTo>
                  <a:lnTo>
                    <a:pt x="44979" y="0"/>
                  </a:lnTo>
                  <a:lnTo>
                    <a:pt x="3517370" y="0"/>
                  </a:lnTo>
                  <a:lnTo>
                    <a:pt x="3554939" y="20102"/>
                  </a:lnTo>
                  <a:lnTo>
                    <a:pt x="3562350" y="44979"/>
                  </a:lnTo>
                  <a:lnTo>
                    <a:pt x="3562350" y="278870"/>
                  </a:lnTo>
                  <a:lnTo>
                    <a:pt x="3542247" y="316439"/>
                  </a:lnTo>
                  <a:lnTo>
                    <a:pt x="3517370" y="323850"/>
                  </a:lnTo>
                  <a:close/>
                </a:path>
              </a:pathLst>
            </a:custGeom>
            <a:solidFill>
              <a:srgbClr val="FFFFFF"/>
            </a:solidFill>
          </p:spPr>
          <p:txBody>
            <a:bodyPr wrap="square" lIns="0" tIns="0" rIns="0" bIns="0" rtlCol="0"/>
            <a:lstStyle/>
            <a:p/>
          </p:txBody>
        </p:sp>
        <p:pic>
          <p:nvPicPr>
            <p:cNvPr id="36" name="object 36"/>
            <p:cNvPicPr/>
            <p:nvPr/>
          </p:nvPicPr>
          <p:blipFill>
            <a:blip r:embed="rId2" cstate="print"/>
            <a:stretch>
              <a:fillRect/>
            </a:stretch>
          </p:blipFill>
          <p:spPr>
            <a:xfrm>
              <a:off x="495300" y="6477000"/>
              <a:ext cx="3286125" cy="266700"/>
            </a:xfrm>
            <a:prstGeom prst="rect">
              <a:avLst/>
            </a:prstGeom>
          </p:spPr>
        </p:pic>
      </p:grpSp>
      <p:sp>
        <p:nvSpPr>
          <p:cNvPr id="37" name="object 37"/>
          <p:cNvSpPr txBox="1">
            <a:spLocks noGrp="1"/>
          </p:cNvSpPr>
          <p:nvPr>
            <p:ph type="ftr" idx="5" sz="quarter"/>
          </p:nvPr>
        </p:nvSpPr>
        <p:spPr>
          <a:xfrm>
            <a:off x="8531352" y="6528816"/>
            <a:ext cx="3200400" cy="173736"/>
          </a:xfrm>
          <a:prstGeom prst="rect"/>
        </p:spPr>
        <p:txBody>
          <a:bodyPr wrap="square" lIns="0" tIns="3175" rIns="0" bIns="0" rtlCol="0" vert="horz">
            <a:spAutoFit/>
          </a:bodyPr>
          <a:lstStyle/>
          <a:p>
            <a:pPr marL="12700">
              <a:lnSpc>
                <a:spcPct val="100000"/>
              </a:lnSpc>
              <a:spcBef>
                <a:spcPts val="25"/>
              </a:spcBef>
            </a:pPr>
            <a:r>
              <a:rPr dirty="0"/>
              <a:t>Code</a:t>
            </a:r>
            <a:r>
              <a:rPr dirty="0" spc="-15"/>
              <a:t> </a:t>
            </a:r>
            <a:r>
              <a:rPr dirty="0"/>
              <a:t>Merge</a:t>
            </a:r>
            <a:r>
              <a:rPr dirty="0" spc="-15"/>
              <a:t> </a:t>
            </a:r>
            <a:r>
              <a:rPr dirty="0" spc="-10"/>
              <a:t>Hackathon</a:t>
            </a:r>
            <a:r>
              <a:rPr dirty="0" spc="-15"/>
              <a:t> </a:t>
            </a:r>
            <a:r>
              <a:rPr dirty="0"/>
              <a:t>V2.0</a:t>
            </a:r>
            <a:r>
              <a:rPr dirty="0" spc="229"/>
              <a:t> </a:t>
            </a:r>
            <a:r>
              <a:rPr dirty="0"/>
              <a:t>·</a:t>
            </a:r>
            <a:r>
              <a:rPr dirty="0" spc="229"/>
              <a:t> </a:t>
            </a:r>
            <a:r>
              <a:rPr dirty="0"/>
              <a:t>AI</a:t>
            </a:r>
            <a:r>
              <a:rPr dirty="0" spc="-15"/>
              <a:t> </a:t>
            </a:r>
            <a:r>
              <a:rPr dirty="0"/>
              <a:t>for</a:t>
            </a:r>
            <a:r>
              <a:rPr dirty="0" spc="-15"/>
              <a:t> </a:t>
            </a:r>
            <a:r>
              <a:rPr dirty="0" spc="-10"/>
              <a:t>Impact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2026-09-09T07:56:12Z</dcterms:created>
  <dcterms:modified xsi:type="dcterms:W3CDTF">2026-09-09T07:56:12Z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2026-09-09T00:00:00Z</vt:filetime>
  </property>
  <property fmtid="{D5CDD505-2E9C-101B-9397-08002B2CF9AE}" pid="4" name="LastSaved">
    <vt:filetime>2026-09-09T00:00:00Z</vt:filetime>
  </property>
</Properties>
</file>